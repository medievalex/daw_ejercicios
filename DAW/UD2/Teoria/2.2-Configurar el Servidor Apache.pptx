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6585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6911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3733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7200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827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248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3644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3942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6869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7965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2077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8023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0846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1880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929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695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2588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httpd.apache.org/docs/2.4/es/stopping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httpd.apache.org/docs/2.4/mod/core.html#keepalive" TargetMode="External"/><Relationship Id="rId2" Type="http://schemas.openxmlformats.org/officeDocument/2006/relationships/hyperlink" Target="http://httpd.apache.org/docs/2.4/mod/core.html#timeou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httpd.apache.org/docs/2.4/mod/core.html#keepalivetimeout" TargetMode="External"/><Relationship Id="rId2" Type="http://schemas.openxmlformats.org/officeDocument/2006/relationships/hyperlink" Target="http://httpd.apache.org/docs/2.4/mod/core.html#maxkeepaliverequest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httpd.apache.org/docs/2.4/mod/mpm_common.html#group" TargetMode="External"/><Relationship Id="rId2" Type="http://schemas.openxmlformats.org/officeDocument/2006/relationships/hyperlink" Target="http://httpd.apache.org/docs/2.4/mod/mpm_common.html#us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httpd.apache.org/docs/2.4/mod/mod_log_config.html#logformat" TargetMode="External"/><Relationship Id="rId4" Type="http://schemas.openxmlformats.org/officeDocument/2006/relationships/hyperlink" Target="http://httpd.apache.org/docs/2.4/mod/core.html#logleve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httpd.apache.org/docs/2.4/mod/core.html#directorymatch" TargetMode="External"/><Relationship Id="rId2" Type="http://schemas.openxmlformats.org/officeDocument/2006/relationships/hyperlink" Target="http://httpd.apache.org/docs/2.4/mod/core.html#director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httpd.apache.org/docs/2.4/mod/core.html#filesmatch" TargetMode="External"/><Relationship Id="rId4" Type="http://schemas.openxmlformats.org/officeDocument/2006/relationships/hyperlink" Target="http://httpd.apache.org/docs/2.4/mod/core.html#file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-34413" y="1270"/>
            <a:ext cx="12192000" cy="6856730"/>
          </a:xfrm>
          <a:custGeom>
            <a:avLst/>
            <a:gdLst/>
            <a:ahLst/>
            <a:cxnLst/>
            <a:rect l="l" t="t" r="r" b="b"/>
            <a:pathLst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12192000" y="470154"/>
                </a:lnTo>
                <a:lnTo>
                  <a:pt x="11709273" y="470154"/>
                </a:lnTo>
                <a:lnTo>
                  <a:pt x="11709273" y="6380480"/>
                </a:lnTo>
                <a:lnTo>
                  <a:pt x="476377" y="6380480"/>
                </a:lnTo>
                <a:lnTo>
                  <a:pt x="476377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es-ES" noProof="0" dirty="0"/>
          </a:p>
        </p:txBody>
      </p:sp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xfrm>
            <a:off x="1507067" y="3114682"/>
            <a:ext cx="7766936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41959">
              <a:lnSpc>
                <a:spcPct val="100000"/>
              </a:lnSpc>
              <a:spcBef>
                <a:spcPts val="100"/>
              </a:spcBef>
            </a:pPr>
            <a:r>
              <a:rPr lang="es-ES" sz="6000" spc="-305" dirty="0">
                <a:solidFill>
                  <a:srgbClr val="AA9ECA"/>
                </a:solidFill>
              </a:rPr>
              <a:t>SERVIDOR</a:t>
            </a:r>
            <a:r>
              <a:rPr lang="es-ES" sz="6000" spc="-5" dirty="0">
                <a:solidFill>
                  <a:srgbClr val="AA9ECA"/>
                </a:solidFill>
              </a:rPr>
              <a:t> </a:t>
            </a:r>
            <a:r>
              <a:rPr lang="es-ES" sz="6000" spc="-55" dirty="0">
                <a:solidFill>
                  <a:srgbClr val="AA9ECA"/>
                </a:solidFill>
              </a:rPr>
              <a:t>APACHE</a:t>
            </a:r>
            <a:endParaRPr lang="es-ES" sz="6000" noProof="0" dirty="0">
              <a:solidFill>
                <a:srgbClr val="7030A0"/>
              </a:solidFill>
            </a:endParaRPr>
          </a:p>
        </p:txBody>
      </p:sp>
      <p:sp>
        <p:nvSpPr>
          <p:cNvPr id="9" name="Subtítulo 8">
            <a:extLst>
              <a:ext uri="{FF2B5EF4-FFF2-40B4-BE49-F238E27FC236}">
                <a16:creationId xmlns:a16="http://schemas.microsoft.com/office/drawing/2014/main" id="{093D5A16-4526-71B7-67CC-46E86C7EC2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09300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225166"/>
            <a:ext cx="10826115" cy="3732529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25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Servidor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web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HTTP</a:t>
            </a:r>
            <a:r>
              <a:rPr sz="2400" spc="-1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código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abierto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3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Plataformas</a:t>
            </a:r>
            <a:r>
              <a:rPr sz="2400" spc="-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Linux,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Windows,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Mac</a:t>
            </a:r>
            <a:r>
              <a:rPr sz="2400" spc="-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y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otras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Implementa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-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protocolo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HTTP/1.1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14999"/>
              </a:lnSpc>
              <a:spcBef>
                <a:spcPts val="100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</a:t>
            </a:r>
            <a:r>
              <a:rPr sz="2400" spc="-9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desarrolla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dentro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del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proyecto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HTTP</a:t>
            </a:r>
            <a:r>
              <a:rPr sz="2400" spc="-1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Server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(httpd)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la</a:t>
            </a:r>
            <a:r>
              <a:rPr sz="2400" spc="-1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Apache</a:t>
            </a:r>
            <a:r>
              <a:rPr sz="2400" spc="-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Software Fundation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25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Apache</a:t>
            </a:r>
            <a:r>
              <a:rPr sz="240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</a:t>
            </a:r>
            <a:r>
              <a:rPr sz="2400" spc="-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servidor</a:t>
            </a:r>
            <a:r>
              <a:rPr sz="240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HTTP</a:t>
            </a:r>
            <a:r>
              <a:rPr sz="2400" spc="-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más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usado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Extremadamente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estable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826" rIns="0" bIns="0" rtlCol="0">
            <a:spAutoFit/>
          </a:bodyPr>
          <a:lstStyle/>
          <a:p>
            <a:pPr marL="1746885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CONCEPTOS</a:t>
            </a:r>
            <a:r>
              <a:rPr spc="-20" dirty="0"/>
              <a:t> </a:t>
            </a:r>
            <a:r>
              <a:rPr spc="-10" dirty="0"/>
              <a:t>BáSICOS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225166"/>
            <a:ext cx="5673725" cy="2762885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25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Modular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3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Código</a:t>
            </a:r>
            <a:r>
              <a:rPr sz="2400" spc="-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abierto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spc="-20" dirty="0">
                <a:solidFill>
                  <a:srgbClr val="181818"/>
                </a:solidFill>
                <a:latin typeface="Arial MT"/>
                <a:cs typeface="Arial MT"/>
              </a:rPr>
              <a:t>Multi-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plataforma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3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Extensible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3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Popular</a:t>
            </a:r>
            <a:r>
              <a:rPr sz="2400" spc="-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(fácil</a:t>
            </a:r>
            <a:r>
              <a:rPr sz="2400" spc="-114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conseguir</a:t>
            </a:r>
            <a:r>
              <a:rPr sz="2400" spc="-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ayuda/soporte)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310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VENTAJAS</a:t>
            </a:r>
            <a:r>
              <a:rPr spc="-204" dirty="0"/>
              <a:t> </a:t>
            </a:r>
            <a:r>
              <a:rPr spc="-195" dirty="0"/>
              <a:t>DE</a:t>
            </a:r>
            <a:r>
              <a:rPr spc="-80" dirty="0"/>
              <a:t> </a:t>
            </a:r>
            <a:r>
              <a:rPr spc="-125" dirty="0"/>
              <a:t>USAR</a:t>
            </a:r>
            <a:r>
              <a:rPr spc="-145" dirty="0"/>
              <a:t> </a:t>
            </a:r>
            <a:r>
              <a:rPr spc="-10" dirty="0"/>
              <a:t>APACHE2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31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INSTALACIÓN</a:t>
            </a:r>
            <a:r>
              <a:rPr spc="-10" dirty="0"/>
              <a:t> </a:t>
            </a:r>
            <a:r>
              <a:rPr spc="-265" dirty="0"/>
              <a:t>EN</a:t>
            </a:r>
            <a:r>
              <a:rPr spc="5" dirty="0"/>
              <a:t> </a:t>
            </a:r>
            <a:r>
              <a:rPr spc="-160" dirty="0"/>
              <a:t>DEBIAN/UBUNTU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39192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/>
              <a:t>Para</a:t>
            </a:r>
            <a:r>
              <a:rPr spc="-105" dirty="0"/>
              <a:t> </a:t>
            </a:r>
            <a:r>
              <a:rPr dirty="0"/>
              <a:t>instalar</a:t>
            </a:r>
            <a:r>
              <a:rPr spc="-65" dirty="0"/>
              <a:t> </a:t>
            </a:r>
            <a:r>
              <a:rPr dirty="0"/>
              <a:t>el</a:t>
            </a:r>
            <a:r>
              <a:rPr spc="-70" dirty="0"/>
              <a:t> </a:t>
            </a:r>
            <a:r>
              <a:rPr dirty="0"/>
              <a:t>servidor</a:t>
            </a:r>
            <a:r>
              <a:rPr spc="-70" dirty="0"/>
              <a:t> </a:t>
            </a:r>
            <a:r>
              <a:rPr spc="-10" dirty="0"/>
              <a:t>web</a:t>
            </a:r>
            <a:r>
              <a:rPr spc="-155" dirty="0"/>
              <a:t> </a:t>
            </a:r>
            <a:r>
              <a:rPr dirty="0"/>
              <a:t>Apache</a:t>
            </a:r>
            <a:r>
              <a:rPr spc="-60" dirty="0"/>
              <a:t> </a:t>
            </a:r>
            <a:r>
              <a:rPr dirty="0"/>
              <a:t>en</a:t>
            </a:r>
            <a:r>
              <a:rPr spc="-75" dirty="0"/>
              <a:t> </a:t>
            </a:r>
            <a:r>
              <a:rPr dirty="0"/>
              <a:t>sistemas</a:t>
            </a:r>
            <a:r>
              <a:rPr spc="-75" dirty="0"/>
              <a:t> </a:t>
            </a:r>
            <a:r>
              <a:rPr dirty="0"/>
              <a:t>GNU/Linux</a:t>
            </a:r>
            <a:r>
              <a:rPr spc="-70" dirty="0"/>
              <a:t> </a:t>
            </a:r>
            <a:r>
              <a:rPr spc="-10" dirty="0"/>
              <a:t>Debian/Ubuntu</a:t>
            </a:r>
            <a:r>
              <a:rPr spc="-30" dirty="0"/>
              <a:t> </a:t>
            </a:r>
            <a:r>
              <a:rPr spc="-50" dirty="0"/>
              <a:t>y </a:t>
            </a:r>
            <a:r>
              <a:rPr dirty="0"/>
              <a:t>derivados,</a:t>
            </a:r>
            <a:r>
              <a:rPr spc="-95" dirty="0"/>
              <a:t> </a:t>
            </a:r>
            <a:r>
              <a:rPr dirty="0"/>
              <a:t>ejecutamos</a:t>
            </a:r>
            <a:r>
              <a:rPr spc="-105" dirty="0"/>
              <a:t> </a:t>
            </a:r>
            <a:r>
              <a:rPr dirty="0"/>
              <a:t>como</a:t>
            </a:r>
            <a:r>
              <a:rPr spc="-105" dirty="0"/>
              <a:t> </a:t>
            </a:r>
            <a:r>
              <a:rPr spc="-10" dirty="0"/>
              <a:t>administrador:</a:t>
            </a:r>
          </a:p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dirty="0">
                <a:solidFill>
                  <a:srgbClr val="4078F0"/>
                </a:solidFill>
              </a:rPr>
              <a:t>#</a:t>
            </a:r>
            <a:r>
              <a:rPr spc="-30" dirty="0">
                <a:solidFill>
                  <a:srgbClr val="4078F0"/>
                </a:solidFill>
              </a:rPr>
              <a:t> </a:t>
            </a:r>
            <a:r>
              <a:rPr spc="-10" dirty="0">
                <a:solidFill>
                  <a:srgbClr val="4078F0"/>
                </a:solidFill>
              </a:rPr>
              <a:t>apt-</a:t>
            </a:r>
            <a:r>
              <a:rPr dirty="0">
                <a:solidFill>
                  <a:srgbClr val="4078F0"/>
                </a:solidFill>
              </a:rPr>
              <a:t>get</a:t>
            </a:r>
            <a:r>
              <a:rPr spc="-35" dirty="0">
                <a:solidFill>
                  <a:srgbClr val="4078F0"/>
                </a:solidFill>
              </a:rPr>
              <a:t> </a:t>
            </a:r>
            <a:r>
              <a:rPr dirty="0">
                <a:solidFill>
                  <a:srgbClr val="4078F0"/>
                </a:solidFill>
              </a:rPr>
              <a:t>install</a:t>
            </a:r>
            <a:r>
              <a:rPr spc="-10" dirty="0">
                <a:solidFill>
                  <a:srgbClr val="4078F0"/>
                </a:solidFill>
              </a:rPr>
              <a:t> apache2</a:t>
            </a: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/>
              <a:t>Para</a:t>
            </a:r>
            <a:r>
              <a:rPr spc="-80" dirty="0"/>
              <a:t> </a:t>
            </a:r>
            <a:r>
              <a:rPr dirty="0"/>
              <a:t>controlar</a:t>
            </a:r>
            <a:r>
              <a:rPr spc="-60" dirty="0"/>
              <a:t> </a:t>
            </a:r>
            <a:r>
              <a:rPr dirty="0"/>
              <a:t>el</a:t>
            </a:r>
            <a:r>
              <a:rPr spc="-85" dirty="0"/>
              <a:t> </a:t>
            </a:r>
            <a:r>
              <a:rPr dirty="0"/>
              <a:t>servicio</a:t>
            </a:r>
            <a:r>
              <a:rPr spc="-70" dirty="0"/>
              <a:t> </a:t>
            </a:r>
            <a:r>
              <a:rPr dirty="0"/>
              <a:t>apache2</a:t>
            </a:r>
            <a:r>
              <a:rPr spc="-60" dirty="0"/>
              <a:t> </a:t>
            </a:r>
            <a:r>
              <a:rPr dirty="0"/>
              <a:t>podemos</a:t>
            </a:r>
            <a:r>
              <a:rPr spc="-70" dirty="0"/>
              <a:t> </a:t>
            </a:r>
            <a:r>
              <a:rPr dirty="0"/>
              <a:t>usar</a:t>
            </a:r>
            <a:r>
              <a:rPr spc="-75" dirty="0"/>
              <a:t> </a:t>
            </a:r>
            <a:r>
              <a:rPr dirty="0"/>
              <a:t>(para</a:t>
            </a:r>
            <a:r>
              <a:rPr spc="-75" dirty="0"/>
              <a:t> </a:t>
            </a:r>
            <a:r>
              <a:rPr dirty="0"/>
              <a:t>más</a:t>
            </a:r>
            <a:r>
              <a:rPr spc="-55" dirty="0"/>
              <a:t> </a:t>
            </a:r>
            <a:r>
              <a:rPr u="sng" spc="-10" dirty="0">
                <a:solidFill>
                  <a:srgbClr val="8F8F8F"/>
                </a:solidFill>
                <a:uFill>
                  <a:solidFill>
                    <a:srgbClr val="000000"/>
                  </a:solidFill>
                </a:uFill>
                <a:hlinkClick r:id="rId2"/>
              </a:rPr>
              <a:t>información</a:t>
            </a:r>
            <a:r>
              <a:rPr spc="-10" dirty="0"/>
              <a:t>):</a:t>
            </a: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>
                <a:solidFill>
                  <a:srgbClr val="4078F0"/>
                </a:solidFill>
              </a:rPr>
              <a:t>#</a:t>
            </a:r>
            <a:r>
              <a:rPr spc="-30" dirty="0">
                <a:solidFill>
                  <a:srgbClr val="4078F0"/>
                </a:solidFill>
              </a:rPr>
              <a:t> </a:t>
            </a:r>
            <a:r>
              <a:rPr dirty="0">
                <a:solidFill>
                  <a:srgbClr val="4078F0"/>
                </a:solidFill>
              </a:rPr>
              <a:t>apache2ctl</a:t>
            </a:r>
            <a:r>
              <a:rPr spc="-15" dirty="0">
                <a:solidFill>
                  <a:srgbClr val="4078F0"/>
                </a:solidFill>
              </a:rPr>
              <a:t> </a:t>
            </a:r>
            <a:r>
              <a:rPr dirty="0">
                <a:solidFill>
                  <a:srgbClr val="4078F0"/>
                </a:solidFill>
              </a:rPr>
              <a:t>[-k</a:t>
            </a:r>
            <a:r>
              <a:rPr spc="-45" dirty="0">
                <a:solidFill>
                  <a:srgbClr val="4078F0"/>
                </a:solidFill>
              </a:rPr>
              <a:t> </a:t>
            </a:r>
            <a:r>
              <a:rPr dirty="0">
                <a:solidFill>
                  <a:srgbClr val="4078F0"/>
                </a:solidFill>
              </a:rPr>
              <a:t>start</a:t>
            </a:r>
            <a:r>
              <a:rPr spc="-55" dirty="0">
                <a:solidFill>
                  <a:srgbClr val="4078F0"/>
                </a:solidFill>
              </a:rPr>
              <a:t> </a:t>
            </a:r>
            <a:r>
              <a:rPr dirty="0">
                <a:solidFill>
                  <a:srgbClr val="4078F0"/>
                </a:solidFill>
              </a:rPr>
              <a:t>|</a:t>
            </a:r>
            <a:r>
              <a:rPr spc="-25" dirty="0">
                <a:solidFill>
                  <a:srgbClr val="4078F0"/>
                </a:solidFill>
              </a:rPr>
              <a:t> </a:t>
            </a:r>
            <a:r>
              <a:rPr dirty="0">
                <a:solidFill>
                  <a:srgbClr val="4078F0"/>
                </a:solidFill>
              </a:rPr>
              <a:t>restart</a:t>
            </a:r>
            <a:r>
              <a:rPr spc="-45" dirty="0">
                <a:solidFill>
                  <a:srgbClr val="4078F0"/>
                </a:solidFill>
              </a:rPr>
              <a:t> </a:t>
            </a:r>
            <a:r>
              <a:rPr dirty="0">
                <a:solidFill>
                  <a:srgbClr val="4078F0"/>
                </a:solidFill>
              </a:rPr>
              <a:t>|</a:t>
            </a:r>
            <a:r>
              <a:rPr spc="-40" dirty="0">
                <a:solidFill>
                  <a:srgbClr val="4078F0"/>
                </a:solidFill>
              </a:rPr>
              <a:t> </a:t>
            </a:r>
            <a:r>
              <a:rPr dirty="0">
                <a:solidFill>
                  <a:srgbClr val="4078F0"/>
                </a:solidFill>
              </a:rPr>
              <a:t>graceful</a:t>
            </a:r>
            <a:r>
              <a:rPr spc="-25" dirty="0">
                <a:solidFill>
                  <a:srgbClr val="4078F0"/>
                </a:solidFill>
              </a:rPr>
              <a:t> </a:t>
            </a:r>
            <a:r>
              <a:rPr dirty="0">
                <a:solidFill>
                  <a:srgbClr val="4078F0"/>
                </a:solidFill>
              </a:rPr>
              <a:t>|</a:t>
            </a:r>
            <a:r>
              <a:rPr spc="-40" dirty="0">
                <a:solidFill>
                  <a:srgbClr val="4078F0"/>
                </a:solidFill>
              </a:rPr>
              <a:t> </a:t>
            </a:r>
            <a:r>
              <a:rPr spc="-20" dirty="0">
                <a:solidFill>
                  <a:srgbClr val="4078F0"/>
                </a:solidFill>
              </a:rPr>
              <a:t>graceful-</a:t>
            </a:r>
            <a:r>
              <a:rPr dirty="0">
                <a:solidFill>
                  <a:srgbClr val="4078F0"/>
                </a:solidFill>
              </a:rPr>
              <a:t>stop</a:t>
            </a:r>
            <a:r>
              <a:rPr spc="-25" dirty="0">
                <a:solidFill>
                  <a:srgbClr val="4078F0"/>
                </a:solidFill>
              </a:rPr>
              <a:t> </a:t>
            </a:r>
            <a:r>
              <a:rPr dirty="0">
                <a:solidFill>
                  <a:srgbClr val="4078F0"/>
                </a:solidFill>
              </a:rPr>
              <a:t>|</a:t>
            </a:r>
            <a:r>
              <a:rPr spc="-25" dirty="0">
                <a:solidFill>
                  <a:srgbClr val="4078F0"/>
                </a:solidFill>
              </a:rPr>
              <a:t> </a:t>
            </a:r>
            <a:r>
              <a:rPr spc="-10" dirty="0">
                <a:solidFill>
                  <a:srgbClr val="4078F0"/>
                </a:solidFill>
              </a:rPr>
              <a:t>stop</a:t>
            </a:r>
            <a:r>
              <a:rPr spc="-10" dirty="0">
                <a:solidFill>
                  <a:srgbClr val="EE52A4"/>
                </a:solidFill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51658"/>
            <a:ext cx="10842625" cy="3694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La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opción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83D8B"/>
                </a:solidFill>
                <a:latin typeface="Arial MT"/>
                <a:cs typeface="Arial MT"/>
              </a:rPr>
              <a:t>graceful</a:t>
            </a:r>
            <a:r>
              <a:rPr sz="2400" spc="-60" dirty="0">
                <a:solidFill>
                  <a:srgbClr val="E83D8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un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reinicio</a:t>
            </a:r>
            <a:r>
              <a:rPr sz="2400" spc="-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suave,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terminan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servir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las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peticiones</a:t>
            </a:r>
            <a:r>
              <a:rPr sz="2400" spc="-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que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están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establecidas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y</a:t>
            </a:r>
            <a:r>
              <a:rPr sz="2400" spc="-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cuando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finaliza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hace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una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reinicio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del</a:t>
            </a:r>
            <a:r>
              <a:rPr sz="2400" spc="-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servidor.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Con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esta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herramienta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podemos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obtener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también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más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información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del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servidor: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14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400" spc="-6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apache2ctl</a:t>
            </a:r>
            <a:r>
              <a:rPr sz="2400" spc="-3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078F0"/>
                </a:solidFill>
                <a:latin typeface="Arial MT"/>
                <a:cs typeface="Arial MT"/>
              </a:rPr>
              <a:t>-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t</a:t>
            </a:r>
            <a:r>
              <a:rPr sz="2400" spc="-7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: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Comprueba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la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sintaxis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del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fichero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configuración.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3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400" spc="-5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apache2ctl</a:t>
            </a:r>
            <a:r>
              <a:rPr sz="24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078F0"/>
                </a:solidFill>
                <a:latin typeface="Arial MT"/>
                <a:cs typeface="Arial MT"/>
              </a:rPr>
              <a:t>-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M</a:t>
            </a:r>
            <a:r>
              <a:rPr sz="2400" spc="-6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: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Lista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los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módulos</a:t>
            </a:r>
            <a:r>
              <a:rPr sz="2400" spc="-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cargados.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400" spc="-5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apache2ctl</a:t>
            </a:r>
            <a:r>
              <a:rPr sz="2400" spc="-2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078F0"/>
                </a:solidFill>
                <a:latin typeface="Arial MT"/>
                <a:cs typeface="Arial MT"/>
              </a:rPr>
              <a:t>-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S</a:t>
            </a:r>
            <a:r>
              <a:rPr sz="2400" spc="-6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: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Lista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los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sitios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virtuales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y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las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opciones</a:t>
            </a:r>
            <a:r>
              <a:rPr sz="2400" spc="-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configuración.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3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400" spc="-5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apache2ctl</a:t>
            </a:r>
            <a:r>
              <a:rPr sz="2400" spc="-2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078F0"/>
                </a:solidFill>
                <a:latin typeface="Arial MT"/>
                <a:cs typeface="Arial MT"/>
              </a:rPr>
              <a:t>-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V</a:t>
            </a:r>
            <a:r>
              <a:rPr sz="2400" spc="-6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: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Lista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las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opciones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compilación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31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INSTALACIÓN</a:t>
            </a:r>
            <a:r>
              <a:rPr spc="-10" dirty="0"/>
              <a:t> </a:t>
            </a:r>
            <a:r>
              <a:rPr spc="-265" dirty="0"/>
              <a:t>EN</a:t>
            </a:r>
            <a:r>
              <a:rPr spc="5" dirty="0"/>
              <a:t> </a:t>
            </a:r>
            <a:r>
              <a:rPr spc="-160" dirty="0"/>
              <a:t>DEBIAN/UBUNTU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51658"/>
            <a:ext cx="10974705" cy="2383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Evidentemente</a:t>
            </a:r>
            <a:r>
              <a:rPr sz="2400" spc="4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4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servidor</a:t>
            </a:r>
            <a:r>
              <a:rPr sz="2400" spc="4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está</a:t>
            </a:r>
            <a:r>
              <a:rPr sz="2400" spc="4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gestionado</a:t>
            </a:r>
            <a:r>
              <a:rPr sz="2400" spc="5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por</a:t>
            </a:r>
            <a:r>
              <a:rPr sz="2400" spc="5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E83D8B"/>
                </a:solidFill>
                <a:latin typeface="Arial MT"/>
                <a:cs typeface="Arial MT"/>
              </a:rPr>
              <a:t>systemd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,</a:t>
            </a:r>
            <a:r>
              <a:rPr sz="2400" spc="5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por</a:t>
            </a:r>
            <a:r>
              <a:rPr sz="2400" spc="3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</a:t>
            </a:r>
            <a:r>
              <a:rPr sz="2400" spc="4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tanto</a:t>
            </a:r>
            <a:r>
              <a:rPr sz="2400" spc="5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spc="-20" dirty="0">
                <a:solidFill>
                  <a:srgbClr val="181818"/>
                </a:solidFill>
                <a:latin typeface="Arial MT"/>
                <a:cs typeface="Arial MT"/>
              </a:rPr>
              <a:t>para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controlar</a:t>
            </a:r>
            <a:r>
              <a:rPr sz="2400" spc="5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5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arranque,</a:t>
            </a:r>
            <a:r>
              <a:rPr sz="2400" spc="5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reinicio</a:t>
            </a:r>
            <a:r>
              <a:rPr sz="2400" spc="5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y</a:t>
            </a:r>
            <a:r>
              <a:rPr sz="2400" spc="5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parada</a:t>
            </a:r>
            <a:r>
              <a:rPr sz="2400" spc="5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del</a:t>
            </a:r>
            <a:r>
              <a:rPr sz="2400" spc="5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servicio</a:t>
            </a:r>
            <a:r>
              <a:rPr sz="2400" spc="5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utilizaremos</a:t>
            </a:r>
            <a:r>
              <a:rPr sz="2400" spc="5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la</a:t>
            </a:r>
            <a:r>
              <a:rPr sz="2400" spc="5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siguiente instrucción:</a:t>
            </a:r>
            <a:endParaRPr sz="2400">
              <a:latin typeface="Arial MT"/>
              <a:cs typeface="Arial MT"/>
            </a:endParaRPr>
          </a:p>
          <a:p>
            <a:pPr marL="12700" marR="2188845" algn="just">
              <a:lnSpc>
                <a:spcPts val="4320"/>
              </a:lnSpc>
              <a:spcBef>
                <a:spcPts val="170"/>
              </a:spcBef>
            </a:pP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400" spc="-2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systemctl</a:t>
            </a:r>
            <a:r>
              <a:rPr sz="24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[start</a:t>
            </a:r>
            <a:r>
              <a:rPr sz="2400" spc="-4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|</a:t>
            </a:r>
            <a:r>
              <a:rPr sz="2400" spc="-2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stop</a:t>
            </a:r>
            <a:r>
              <a:rPr sz="2400" spc="-1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|</a:t>
            </a:r>
            <a:r>
              <a:rPr sz="2400" spc="-2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restart</a:t>
            </a:r>
            <a:r>
              <a:rPr sz="2400" spc="-3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|</a:t>
            </a:r>
            <a:r>
              <a:rPr sz="2400" spc="-2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reload</a:t>
            </a:r>
            <a:r>
              <a:rPr sz="2400" spc="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|</a:t>
            </a:r>
            <a:r>
              <a:rPr sz="2400" spc="-2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status]</a:t>
            </a:r>
            <a:r>
              <a:rPr sz="2400" spc="-4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078F0"/>
                </a:solidFill>
                <a:latin typeface="Arial MT"/>
                <a:cs typeface="Arial MT"/>
              </a:rPr>
              <a:t>apache2.service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400" spc="-1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systemctl</a:t>
            </a:r>
            <a:r>
              <a:rPr sz="24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[start</a:t>
            </a:r>
            <a:r>
              <a:rPr sz="2400" spc="-4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|</a:t>
            </a:r>
            <a:r>
              <a:rPr sz="24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stop</a:t>
            </a:r>
            <a:r>
              <a:rPr sz="2400" spc="-1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|</a:t>
            </a:r>
            <a:r>
              <a:rPr sz="2400" spc="-2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restart</a:t>
            </a:r>
            <a:r>
              <a:rPr sz="24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|</a:t>
            </a:r>
            <a:r>
              <a:rPr sz="24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reload |</a:t>
            </a:r>
            <a:r>
              <a:rPr sz="24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status]</a:t>
            </a:r>
            <a:r>
              <a:rPr sz="2400" spc="-2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078F0"/>
                </a:solidFill>
                <a:latin typeface="Arial MT"/>
                <a:cs typeface="Arial MT"/>
              </a:rPr>
              <a:t>apache2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31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INSTALACIÓN</a:t>
            </a:r>
            <a:r>
              <a:rPr spc="-10" dirty="0"/>
              <a:t> </a:t>
            </a:r>
            <a:r>
              <a:rPr spc="-265" dirty="0"/>
              <a:t>EN</a:t>
            </a:r>
            <a:r>
              <a:rPr spc="5" dirty="0"/>
              <a:t> </a:t>
            </a:r>
            <a:r>
              <a:rPr spc="-160" dirty="0"/>
              <a:t>DEBIAN/UBUNTU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56485" marR="5080" indent="-234442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ESTRUCTURA</a:t>
            </a:r>
            <a:r>
              <a:rPr spc="-50" dirty="0"/>
              <a:t> </a:t>
            </a:r>
            <a:r>
              <a:rPr spc="-195" dirty="0"/>
              <a:t>DE</a:t>
            </a:r>
            <a:r>
              <a:rPr spc="-35" dirty="0"/>
              <a:t> </a:t>
            </a:r>
            <a:r>
              <a:rPr spc="-245" dirty="0"/>
              <a:t>LOS</a:t>
            </a:r>
            <a:r>
              <a:rPr spc="-30" dirty="0"/>
              <a:t> </a:t>
            </a:r>
            <a:r>
              <a:rPr spc="-190" dirty="0"/>
              <a:t>FICHEROS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315" dirty="0"/>
              <a:t>CONFIGURACIÓN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06375">
              <a:lnSpc>
                <a:spcPct val="149800"/>
              </a:lnSpc>
              <a:spcBef>
                <a:spcPts val="90"/>
              </a:spcBef>
            </a:pPr>
            <a:r>
              <a:rPr dirty="0"/>
              <a:t>El</a:t>
            </a:r>
            <a:r>
              <a:rPr spc="-95" dirty="0"/>
              <a:t> </a:t>
            </a:r>
            <a:r>
              <a:rPr dirty="0"/>
              <a:t>fichero</a:t>
            </a:r>
            <a:r>
              <a:rPr spc="-60" dirty="0"/>
              <a:t> </a:t>
            </a:r>
            <a:r>
              <a:rPr dirty="0"/>
              <a:t>principal</a:t>
            </a:r>
            <a:r>
              <a:rPr spc="-4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configuración</a:t>
            </a:r>
            <a:r>
              <a:rPr spc="-40" dirty="0"/>
              <a:t> </a:t>
            </a:r>
            <a:r>
              <a:rPr dirty="0"/>
              <a:t>de</a:t>
            </a:r>
            <a:r>
              <a:rPr spc="-165" dirty="0"/>
              <a:t> </a:t>
            </a:r>
            <a:r>
              <a:rPr dirty="0"/>
              <a:t>Apache2</a:t>
            </a:r>
            <a:r>
              <a:rPr spc="-50" dirty="0"/>
              <a:t> </a:t>
            </a:r>
            <a:r>
              <a:rPr dirty="0"/>
              <a:t>es</a:t>
            </a:r>
            <a:r>
              <a:rPr spc="-80" dirty="0"/>
              <a:t> </a:t>
            </a:r>
            <a:r>
              <a:rPr spc="-10" dirty="0">
                <a:solidFill>
                  <a:srgbClr val="E83D8B"/>
                </a:solidFill>
              </a:rPr>
              <a:t>/etc/apache2/apache2.conf</a:t>
            </a:r>
            <a:r>
              <a:rPr spc="-10" dirty="0"/>
              <a:t>. </a:t>
            </a:r>
            <a:r>
              <a:rPr dirty="0"/>
              <a:t>Algunas</a:t>
            </a:r>
            <a:r>
              <a:rPr spc="-50" dirty="0"/>
              <a:t> </a:t>
            </a:r>
            <a:r>
              <a:rPr dirty="0"/>
              <a:t>directivas</a:t>
            </a:r>
            <a:r>
              <a:rPr spc="-60" dirty="0"/>
              <a:t> </a:t>
            </a:r>
            <a:r>
              <a:rPr dirty="0"/>
              <a:t>que</a:t>
            </a:r>
            <a:r>
              <a:rPr spc="-60" dirty="0"/>
              <a:t> </a:t>
            </a:r>
            <a:r>
              <a:rPr dirty="0"/>
              <a:t>podemos</a:t>
            </a:r>
            <a:r>
              <a:rPr spc="-60" dirty="0"/>
              <a:t> </a:t>
            </a:r>
            <a:r>
              <a:rPr dirty="0"/>
              <a:t>encontrar</a:t>
            </a:r>
            <a:r>
              <a:rPr spc="-60" dirty="0"/>
              <a:t> </a:t>
            </a:r>
            <a:r>
              <a:rPr dirty="0"/>
              <a:t>en</a:t>
            </a:r>
            <a:r>
              <a:rPr spc="-75" dirty="0"/>
              <a:t> </a:t>
            </a:r>
            <a:r>
              <a:rPr dirty="0"/>
              <a:t>el</a:t>
            </a:r>
            <a:r>
              <a:rPr spc="-60" dirty="0"/>
              <a:t> </a:t>
            </a:r>
            <a:r>
              <a:rPr dirty="0"/>
              <a:t>fichero</a:t>
            </a:r>
            <a:r>
              <a:rPr spc="-7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configuración: </a:t>
            </a:r>
            <a:r>
              <a:rPr b="1" dirty="0">
                <a:solidFill>
                  <a:srgbClr val="2E5395"/>
                </a:solidFill>
                <a:latin typeface="Arial"/>
                <a:cs typeface="Arial"/>
              </a:rPr>
              <a:t>Directivas</a:t>
            </a:r>
            <a:r>
              <a:rPr b="1" spc="-30" dirty="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2E5395"/>
                </a:solidFill>
                <a:latin typeface="Arial"/>
                <a:cs typeface="Arial"/>
              </a:rPr>
              <a:t>de</a:t>
            </a:r>
            <a:r>
              <a:rPr b="1" spc="-30" dirty="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2E5395"/>
                </a:solidFill>
                <a:latin typeface="Arial"/>
                <a:cs typeface="Arial"/>
              </a:rPr>
              <a:t>control</a:t>
            </a:r>
            <a:r>
              <a:rPr b="1" spc="-55" dirty="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2E5395"/>
                </a:solidFill>
                <a:latin typeface="Arial"/>
                <a:cs typeface="Arial"/>
              </a:rPr>
              <a:t>de</a:t>
            </a:r>
            <a:r>
              <a:rPr b="1" spc="-30" dirty="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2E5395"/>
                </a:solidFill>
                <a:latin typeface="Arial"/>
                <a:cs typeface="Arial"/>
              </a:rPr>
              <a:t>la</a:t>
            </a:r>
            <a:r>
              <a:rPr b="1" spc="-50" dirty="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2E5395"/>
                </a:solidFill>
                <a:latin typeface="Arial"/>
                <a:cs typeface="Arial"/>
              </a:rPr>
              <a:t>conexión</a:t>
            </a:r>
          </a:p>
          <a:p>
            <a:pPr marL="355600" marR="5080" indent="-342900" algn="just">
              <a:lnSpc>
                <a:spcPct val="114999"/>
              </a:lnSpc>
              <a:spcBef>
                <a:spcPts val="100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5600" algn="l"/>
              </a:tabLst>
            </a:pPr>
            <a:r>
              <a:rPr u="sng" dirty="0">
                <a:solidFill>
                  <a:srgbClr val="EE52A4"/>
                </a:solidFill>
                <a:uFill>
                  <a:solidFill>
                    <a:srgbClr val="000000"/>
                  </a:solidFill>
                </a:uFill>
                <a:hlinkClick r:id="rId2"/>
              </a:rPr>
              <a:t>Timeout</a:t>
            </a:r>
            <a:r>
              <a:rPr dirty="0">
                <a:solidFill>
                  <a:srgbClr val="EE52A4"/>
                </a:solidFill>
              </a:rPr>
              <a:t>:</a:t>
            </a:r>
            <a:r>
              <a:rPr spc="20" dirty="0">
                <a:solidFill>
                  <a:srgbClr val="EE52A4"/>
                </a:solidFill>
              </a:rPr>
              <a:t> </a:t>
            </a:r>
            <a:r>
              <a:rPr dirty="0"/>
              <a:t>define,</a:t>
            </a:r>
            <a:r>
              <a:rPr spc="20" dirty="0"/>
              <a:t> </a:t>
            </a:r>
            <a:r>
              <a:rPr dirty="0"/>
              <a:t>en</a:t>
            </a:r>
            <a:r>
              <a:rPr spc="20" dirty="0"/>
              <a:t> </a:t>
            </a:r>
            <a:r>
              <a:rPr dirty="0"/>
              <a:t>segundos,</a:t>
            </a:r>
            <a:r>
              <a:rPr spc="20" dirty="0"/>
              <a:t> </a:t>
            </a:r>
            <a:r>
              <a:rPr dirty="0"/>
              <a:t>el</a:t>
            </a:r>
            <a:r>
              <a:rPr spc="20" dirty="0"/>
              <a:t> </a:t>
            </a:r>
            <a:r>
              <a:rPr dirty="0"/>
              <a:t>tiempo</a:t>
            </a:r>
            <a:r>
              <a:rPr spc="20" dirty="0"/>
              <a:t> </a:t>
            </a:r>
            <a:r>
              <a:rPr dirty="0"/>
              <a:t>que</a:t>
            </a:r>
            <a:r>
              <a:rPr spc="15" dirty="0"/>
              <a:t> </a:t>
            </a:r>
            <a:r>
              <a:rPr dirty="0"/>
              <a:t>el</a:t>
            </a:r>
            <a:r>
              <a:rPr spc="15" dirty="0"/>
              <a:t> </a:t>
            </a:r>
            <a:r>
              <a:rPr dirty="0"/>
              <a:t>servidor</a:t>
            </a:r>
            <a:r>
              <a:rPr spc="25" dirty="0"/>
              <a:t> </a:t>
            </a:r>
            <a:r>
              <a:rPr dirty="0"/>
              <a:t>esperará</a:t>
            </a:r>
            <a:r>
              <a:rPr spc="15" dirty="0"/>
              <a:t> </a:t>
            </a:r>
            <a:r>
              <a:rPr dirty="0"/>
              <a:t>por</a:t>
            </a:r>
            <a:r>
              <a:rPr spc="10" dirty="0"/>
              <a:t> </a:t>
            </a:r>
            <a:r>
              <a:rPr dirty="0"/>
              <a:t>recibir</a:t>
            </a:r>
            <a:r>
              <a:rPr spc="30" dirty="0"/>
              <a:t> </a:t>
            </a:r>
            <a:r>
              <a:rPr spc="-50" dirty="0"/>
              <a:t>y </a:t>
            </a:r>
            <a:r>
              <a:rPr dirty="0"/>
              <a:t>transmitir</a:t>
            </a:r>
            <a:r>
              <a:rPr spc="315" dirty="0"/>
              <a:t> </a:t>
            </a:r>
            <a:r>
              <a:rPr dirty="0"/>
              <a:t>durante</a:t>
            </a:r>
            <a:r>
              <a:rPr spc="320" dirty="0"/>
              <a:t> </a:t>
            </a:r>
            <a:r>
              <a:rPr dirty="0"/>
              <a:t>la</a:t>
            </a:r>
            <a:r>
              <a:rPr spc="330" dirty="0"/>
              <a:t> </a:t>
            </a:r>
            <a:r>
              <a:rPr dirty="0"/>
              <a:t>comunicación.</a:t>
            </a:r>
            <a:r>
              <a:rPr spc="330" dirty="0"/>
              <a:t> </a:t>
            </a:r>
            <a:r>
              <a:rPr dirty="0">
                <a:solidFill>
                  <a:srgbClr val="00AFEF"/>
                </a:solidFill>
              </a:rPr>
              <a:t>Timeout</a:t>
            </a:r>
            <a:r>
              <a:rPr spc="315" dirty="0">
                <a:solidFill>
                  <a:srgbClr val="00AFEF"/>
                </a:solidFill>
              </a:rPr>
              <a:t> </a:t>
            </a:r>
            <a:r>
              <a:rPr dirty="0"/>
              <a:t>está</a:t>
            </a:r>
            <a:r>
              <a:rPr spc="330" dirty="0"/>
              <a:t> </a:t>
            </a:r>
            <a:r>
              <a:rPr dirty="0"/>
              <a:t>configurado</a:t>
            </a:r>
            <a:r>
              <a:rPr spc="335" dirty="0"/>
              <a:t> </a:t>
            </a:r>
            <a:r>
              <a:rPr dirty="0"/>
              <a:t>por</a:t>
            </a:r>
            <a:r>
              <a:rPr spc="325" dirty="0"/>
              <a:t> </a:t>
            </a:r>
            <a:r>
              <a:rPr dirty="0"/>
              <a:t>defecto</a:t>
            </a:r>
            <a:r>
              <a:rPr spc="325" dirty="0"/>
              <a:t> </a:t>
            </a:r>
            <a:r>
              <a:rPr spc="-50" dirty="0"/>
              <a:t>a </a:t>
            </a:r>
            <a:r>
              <a:rPr dirty="0"/>
              <a:t>300</a:t>
            </a:r>
            <a:r>
              <a:rPr spc="-45" dirty="0"/>
              <a:t> </a:t>
            </a:r>
            <a:r>
              <a:rPr dirty="0"/>
              <a:t>segundos,</a:t>
            </a:r>
            <a:r>
              <a:rPr spc="-40" dirty="0"/>
              <a:t> </a:t>
            </a:r>
            <a:r>
              <a:rPr dirty="0"/>
              <a:t>lo</a:t>
            </a:r>
            <a:r>
              <a:rPr spc="-60" dirty="0"/>
              <a:t> </a:t>
            </a:r>
            <a:r>
              <a:rPr dirty="0"/>
              <a:t>cual</a:t>
            </a:r>
            <a:r>
              <a:rPr spc="-40" dirty="0"/>
              <a:t> </a:t>
            </a:r>
            <a:r>
              <a:rPr dirty="0"/>
              <a:t>es</a:t>
            </a:r>
            <a:r>
              <a:rPr spc="-60" dirty="0"/>
              <a:t> </a:t>
            </a:r>
            <a:r>
              <a:rPr dirty="0"/>
              <a:t>apropiado</a:t>
            </a:r>
            <a:r>
              <a:rPr spc="-25" dirty="0"/>
              <a:t> </a:t>
            </a:r>
            <a:r>
              <a:rPr dirty="0"/>
              <a:t>para</a:t>
            </a:r>
            <a:r>
              <a:rPr spc="-55" dirty="0"/>
              <a:t> </a:t>
            </a:r>
            <a:r>
              <a:rPr dirty="0"/>
              <a:t>la</a:t>
            </a:r>
            <a:r>
              <a:rPr spc="-60" dirty="0"/>
              <a:t> </a:t>
            </a:r>
            <a:r>
              <a:rPr dirty="0"/>
              <a:t>mayoría</a:t>
            </a:r>
            <a:r>
              <a:rPr spc="-5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las</a:t>
            </a:r>
            <a:r>
              <a:rPr spc="-55" dirty="0"/>
              <a:t> </a:t>
            </a:r>
            <a:r>
              <a:rPr spc="-10" dirty="0"/>
              <a:t>situaciones.</a:t>
            </a:r>
          </a:p>
          <a:p>
            <a:pPr marL="355600" marR="5080" indent="-342900" algn="just">
              <a:lnSpc>
                <a:spcPct val="114999"/>
              </a:lnSpc>
              <a:spcBef>
                <a:spcPts val="100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5600" algn="l"/>
              </a:tabLst>
            </a:pPr>
            <a:r>
              <a:rPr u="sng" dirty="0">
                <a:solidFill>
                  <a:srgbClr val="EE52A4"/>
                </a:solidFill>
                <a:uFill>
                  <a:solidFill>
                    <a:srgbClr val="000000"/>
                  </a:solidFill>
                </a:uFill>
                <a:hlinkClick r:id="rId3"/>
              </a:rPr>
              <a:t>KeepAlive</a:t>
            </a:r>
            <a:r>
              <a:rPr dirty="0">
                <a:solidFill>
                  <a:srgbClr val="EE52A4"/>
                </a:solidFill>
              </a:rPr>
              <a:t>:</a:t>
            </a:r>
            <a:r>
              <a:rPr spc="10" dirty="0">
                <a:solidFill>
                  <a:srgbClr val="EE52A4"/>
                </a:solidFill>
              </a:rPr>
              <a:t> </a:t>
            </a:r>
            <a:r>
              <a:rPr dirty="0"/>
              <a:t>Define</a:t>
            </a:r>
            <a:r>
              <a:rPr spc="10" dirty="0"/>
              <a:t> </a:t>
            </a:r>
            <a:r>
              <a:rPr dirty="0"/>
              <a:t>si</a:t>
            </a:r>
            <a:r>
              <a:rPr spc="15" dirty="0"/>
              <a:t> </a:t>
            </a:r>
            <a:r>
              <a:rPr dirty="0"/>
              <a:t>las</a:t>
            </a:r>
            <a:r>
              <a:rPr spc="15" dirty="0"/>
              <a:t> </a:t>
            </a:r>
            <a:r>
              <a:rPr dirty="0"/>
              <a:t>conexiones</a:t>
            </a:r>
            <a:r>
              <a:rPr spc="10" dirty="0"/>
              <a:t> </a:t>
            </a:r>
            <a:r>
              <a:rPr dirty="0"/>
              <a:t>persistentes</a:t>
            </a:r>
            <a:r>
              <a:rPr spc="15" dirty="0"/>
              <a:t> </a:t>
            </a:r>
            <a:r>
              <a:rPr dirty="0"/>
              <a:t>están</a:t>
            </a:r>
            <a:r>
              <a:rPr spc="10" dirty="0"/>
              <a:t> </a:t>
            </a:r>
            <a:r>
              <a:rPr dirty="0"/>
              <a:t>activadas. Por</a:t>
            </a:r>
            <a:r>
              <a:rPr spc="15" dirty="0"/>
              <a:t> </a:t>
            </a:r>
            <a:r>
              <a:rPr spc="-10" dirty="0"/>
              <a:t>defecto </a:t>
            </a:r>
            <a:r>
              <a:rPr dirty="0"/>
              <a:t>están</a:t>
            </a:r>
            <a:r>
              <a:rPr spc="-75" dirty="0"/>
              <a:t> </a:t>
            </a:r>
            <a:r>
              <a:rPr spc="-10" dirty="0"/>
              <a:t>activadas.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51658"/>
            <a:ext cx="10976610" cy="2675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14999"/>
              </a:lnSpc>
              <a:spcBef>
                <a:spcPts val="10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5600" algn="l"/>
              </a:tabLst>
            </a:pPr>
            <a:r>
              <a:rPr sz="2400" u="sng" dirty="0">
                <a:solidFill>
                  <a:srgbClr val="EE52A4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MaxKeepAliveRequests</a:t>
            </a: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:</a:t>
            </a:r>
            <a:r>
              <a:rPr sz="2400" spc="515" dirty="0">
                <a:solidFill>
                  <a:srgbClr val="EE52A4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Establece</a:t>
            </a:r>
            <a:r>
              <a:rPr sz="2400" spc="52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51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número</a:t>
            </a:r>
            <a:r>
              <a:rPr sz="2400" spc="52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máximo</a:t>
            </a:r>
            <a:r>
              <a:rPr sz="2400" spc="51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52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peticiones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permitidas</a:t>
            </a:r>
            <a:r>
              <a:rPr sz="2400" spc="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por</a:t>
            </a:r>
            <a:r>
              <a:rPr sz="2400" spc="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cada</a:t>
            </a:r>
            <a:r>
              <a:rPr sz="2400" spc="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conexión</a:t>
            </a:r>
            <a:r>
              <a:rPr sz="2400" spc="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persistente.</a:t>
            </a:r>
            <a:r>
              <a:rPr sz="2400" spc="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Por</a:t>
            </a:r>
            <a:r>
              <a:rPr sz="2400" spc="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defecto</a:t>
            </a:r>
            <a:r>
              <a:rPr sz="2400" spc="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está</a:t>
            </a:r>
            <a:r>
              <a:rPr sz="2400" spc="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establecido</a:t>
            </a:r>
            <a:r>
              <a:rPr sz="2400" spc="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81818"/>
                </a:solidFill>
                <a:latin typeface="Arial MT"/>
                <a:cs typeface="Arial MT"/>
              </a:rPr>
              <a:t>como 100.</a:t>
            </a:r>
            <a:endParaRPr sz="240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14999"/>
              </a:lnSpc>
              <a:spcBef>
                <a:spcPts val="994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5600" algn="l"/>
              </a:tabLst>
            </a:pPr>
            <a:r>
              <a:rPr sz="2400" u="sng" dirty="0">
                <a:solidFill>
                  <a:srgbClr val="EE52A4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3"/>
              </a:rPr>
              <a:t>KeepAliveTimeout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:</a:t>
            </a:r>
            <a:r>
              <a:rPr sz="2400" spc="24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Establece</a:t>
            </a:r>
            <a:r>
              <a:rPr sz="2400" spc="25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24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número</a:t>
            </a:r>
            <a:r>
              <a:rPr sz="2400" spc="25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24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segundos</a:t>
            </a:r>
            <a:r>
              <a:rPr sz="2400" spc="24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25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24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servidor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esperará</a:t>
            </a:r>
            <a:r>
              <a:rPr sz="2400" spc="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tras</a:t>
            </a:r>
            <a:r>
              <a:rPr sz="2400" spc="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haber</a:t>
            </a:r>
            <a:r>
              <a:rPr sz="2400" spc="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dado</a:t>
            </a:r>
            <a:r>
              <a:rPr sz="2400" spc="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servicio</a:t>
            </a:r>
            <a:r>
              <a:rPr sz="2400" spc="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a</a:t>
            </a:r>
            <a:r>
              <a:rPr sz="2400" spc="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una</a:t>
            </a:r>
            <a:r>
              <a:rPr sz="2400" spc="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petición,</a:t>
            </a:r>
            <a:r>
              <a:rPr sz="2400" spc="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antes</a:t>
            </a:r>
            <a:r>
              <a:rPr sz="2400" spc="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cerrar</a:t>
            </a:r>
            <a:r>
              <a:rPr sz="2400" spc="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la</a:t>
            </a:r>
            <a:r>
              <a:rPr sz="2400" spc="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conexión.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Por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defecto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segundos.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56485" marR="5080" indent="-234442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ESTRUCTURA</a:t>
            </a:r>
            <a:r>
              <a:rPr spc="-50" dirty="0"/>
              <a:t> </a:t>
            </a:r>
            <a:r>
              <a:rPr spc="-195" dirty="0"/>
              <a:t>DE</a:t>
            </a:r>
            <a:r>
              <a:rPr spc="-35" dirty="0"/>
              <a:t> </a:t>
            </a:r>
            <a:r>
              <a:rPr spc="-245" dirty="0"/>
              <a:t>LOS</a:t>
            </a:r>
            <a:r>
              <a:rPr spc="-30" dirty="0"/>
              <a:t> </a:t>
            </a:r>
            <a:r>
              <a:rPr spc="-190" dirty="0"/>
              <a:t>FICHEROS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315" dirty="0"/>
              <a:t>CONFIGURACIÓN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272411"/>
            <a:ext cx="10558780" cy="346138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400" b="1" dirty="0">
                <a:solidFill>
                  <a:srgbClr val="2E5395"/>
                </a:solidFill>
                <a:latin typeface="Arial"/>
                <a:cs typeface="Arial"/>
              </a:rPr>
              <a:t>Otras</a:t>
            </a:r>
            <a:r>
              <a:rPr sz="2400" b="1" spc="-55" dirty="0">
                <a:solidFill>
                  <a:srgbClr val="2E5395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E5395"/>
                </a:solidFill>
                <a:latin typeface="Arial"/>
                <a:cs typeface="Arial"/>
              </a:rPr>
              <a:t>directivas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6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u="sng" dirty="0">
                <a:solidFill>
                  <a:srgbClr val="EE52A4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User</a:t>
            </a: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:</a:t>
            </a:r>
            <a:r>
              <a:rPr sz="2400" spc="-105" dirty="0">
                <a:solidFill>
                  <a:srgbClr val="EE52A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define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usuario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ejecuta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los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procesos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1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Apache2.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3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u="sng" dirty="0">
                <a:solidFill>
                  <a:srgbClr val="EE52A4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3"/>
              </a:rPr>
              <a:t>Group</a:t>
            </a: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:</a:t>
            </a:r>
            <a:r>
              <a:rPr sz="2400" spc="-60" dirty="0">
                <a:solidFill>
                  <a:srgbClr val="EE52A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define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grupo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al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corresponde</a:t>
            </a:r>
            <a:r>
              <a:rPr sz="240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usuario.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14999"/>
              </a:lnSpc>
              <a:spcBef>
                <a:spcPts val="101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5600" algn="l"/>
              </a:tabLst>
            </a:pPr>
            <a:r>
              <a:rPr sz="2400" u="sng" dirty="0">
                <a:solidFill>
                  <a:srgbClr val="EE52A4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LogLevel</a:t>
            </a: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:</a:t>
            </a:r>
            <a:r>
              <a:rPr sz="2400" spc="-45" dirty="0">
                <a:solidFill>
                  <a:srgbClr val="EE52A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Controla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nivel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información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guarda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en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los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ficheros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de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registro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o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logs.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3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u="sng" dirty="0">
                <a:solidFill>
                  <a:srgbClr val="EE52A4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LogFormat</a:t>
            </a: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:</a:t>
            </a:r>
            <a:r>
              <a:rPr sz="2400" spc="-50" dirty="0">
                <a:solidFill>
                  <a:srgbClr val="EE52A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Controla</a:t>
            </a:r>
            <a:r>
              <a:rPr sz="240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formato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información</a:t>
            </a:r>
            <a:r>
              <a:rPr sz="2400" spc="-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va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a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guardar</a:t>
            </a:r>
            <a:r>
              <a:rPr sz="240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en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los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430"/>
              </a:spcBef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ficheros</a:t>
            </a:r>
            <a:r>
              <a:rPr sz="2400" spc="-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logs.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56485" marR="5080" indent="-234442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ESTRUCTURA</a:t>
            </a:r>
            <a:r>
              <a:rPr spc="-50" dirty="0"/>
              <a:t> </a:t>
            </a:r>
            <a:r>
              <a:rPr spc="-195" dirty="0"/>
              <a:t>DE</a:t>
            </a:r>
            <a:r>
              <a:rPr spc="-35" dirty="0"/>
              <a:t> </a:t>
            </a:r>
            <a:r>
              <a:rPr spc="-245" dirty="0"/>
              <a:t>LOS</a:t>
            </a:r>
            <a:r>
              <a:rPr spc="-30" dirty="0"/>
              <a:t> </a:t>
            </a:r>
            <a:r>
              <a:rPr spc="-190" dirty="0"/>
              <a:t>FICHEROS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315" dirty="0"/>
              <a:t>CONFIGURACIÓN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88234"/>
            <a:ext cx="10942955" cy="1249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B31166"/>
              </a:buClr>
              <a:buSzPct val="79166"/>
              <a:buFont typeface="Wingdings"/>
              <a:buChar char=""/>
              <a:tabLst>
                <a:tab pos="355600" algn="l"/>
              </a:tabLst>
            </a:pPr>
            <a:r>
              <a:rPr sz="2400" u="sng" dirty="0">
                <a:solidFill>
                  <a:srgbClr val="EE52A4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Directory</a:t>
            </a:r>
            <a:r>
              <a:rPr sz="2400" spc="-60" dirty="0">
                <a:solidFill>
                  <a:srgbClr val="EE52A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o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u="sng" dirty="0">
                <a:solidFill>
                  <a:srgbClr val="EE52A4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3"/>
              </a:rPr>
              <a:t>DirectoryMatch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: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Declara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un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contexto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para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un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directorio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y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todos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sus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directorios.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79166"/>
              <a:buFont typeface="Wingdings"/>
              <a:buChar char=""/>
              <a:tabLst>
                <a:tab pos="354965" algn="l"/>
              </a:tabLst>
            </a:pPr>
            <a:r>
              <a:rPr sz="2400" u="sng" dirty="0">
                <a:solidFill>
                  <a:srgbClr val="EE52A4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4"/>
              </a:rPr>
              <a:t>Files</a:t>
            </a:r>
            <a:r>
              <a:rPr sz="2400" spc="-45" dirty="0">
                <a:solidFill>
                  <a:srgbClr val="EE52A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o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u="sng" dirty="0">
                <a:solidFill>
                  <a:srgbClr val="EE52A4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5"/>
              </a:rPr>
              <a:t>FilesMatch</a:t>
            </a: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:</a:t>
            </a:r>
            <a:r>
              <a:rPr sz="2400" spc="-45" dirty="0">
                <a:solidFill>
                  <a:srgbClr val="EE52A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Declara</a:t>
            </a:r>
            <a:r>
              <a:rPr sz="240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un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contexto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para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un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conjunto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ficheros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56485" marR="5080" indent="-234442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ESTRUCTURA</a:t>
            </a:r>
            <a:r>
              <a:rPr spc="-50" dirty="0"/>
              <a:t> </a:t>
            </a:r>
            <a:r>
              <a:rPr spc="-195" dirty="0"/>
              <a:t>DE</a:t>
            </a:r>
            <a:r>
              <a:rPr spc="-35" dirty="0"/>
              <a:t> </a:t>
            </a:r>
            <a:r>
              <a:rPr spc="-245" dirty="0"/>
              <a:t>LOS</a:t>
            </a:r>
            <a:r>
              <a:rPr spc="-30" dirty="0"/>
              <a:t> </a:t>
            </a:r>
            <a:r>
              <a:rPr spc="-190" dirty="0"/>
              <a:t>FICHEROS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315" dirty="0"/>
              <a:t>CONFIGURACIÓN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56485" marR="5080" indent="-234442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ESTRUCTURA</a:t>
            </a:r>
            <a:r>
              <a:rPr spc="-50" dirty="0"/>
              <a:t> </a:t>
            </a:r>
            <a:r>
              <a:rPr spc="-195" dirty="0"/>
              <a:t>DE</a:t>
            </a:r>
            <a:r>
              <a:rPr spc="-35" dirty="0"/>
              <a:t> </a:t>
            </a:r>
            <a:r>
              <a:rPr spc="-245" dirty="0"/>
              <a:t>LOS</a:t>
            </a:r>
            <a:r>
              <a:rPr spc="-30" dirty="0"/>
              <a:t> </a:t>
            </a:r>
            <a:r>
              <a:rPr spc="-190" dirty="0"/>
              <a:t>FICHEROS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315" dirty="0"/>
              <a:t>CONFIGURACIÓN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/>
              <a:t>El</a:t>
            </a:r>
            <a:r>
              <a:rPr spc="160" dirty="0"/>
              <a:t> </a:t>
            </a:r>
            <a:r>
              <a:rPr dirty="0"/>
              <a:t>fichero</a:t>
            </a:r>
            <a:r>
              <a:rPr spc="165" dirty="0"/>
              <a:t> </a:t>
            </a:r>
            <a:r>
              <a:rPr dirty="0">
                <a:solidFill>
                  <a:srgbClr val="E83D8B"/>
                </a:solidFill>
              </a:rPr>
              <a:t>/etc/apache2/apache2.conf</a:t>
            </a:r>
            <a:r>
              <a:rPr spc="170" dirty="0">
                <a:solidFill>
                  <a:srgbClr val="E83D8B"/>
                </a:solidFill>
              </a:rPr>
              <a:t> </a:t>
            </a:r>
            <a:r>
              <a:rPr dirty="0"/>
              <a:t>se</a:t>
            </a:r>
            <a:r>
              <a:rPr spc="160" dirty="0"/>
              <a:t> </a:t>
            </a:r>
            <a:r>
              <a:rPr dirty="0"/>
              <a:t>incluyen</a:t>
            </a:r>
            <a:r>
              <a:rPr spc="165" dirty="0"/>
              <a:t> </a:t>
            </a:r>
            <a:r>
              <a:rPr dirty="0"/>
              <a:t>los</a:t>
            </a:r>
            <a:r>
              <a:rPr spc="165" dirty="0"/>
              <a:t> </a:t>
            </a:r>
            <a:r>
              <a:rPr dirty="0"/>
              <a:t>ficheros</a:t>
            </a:r>
            <a:r>
              <a:rPr spc="165" dirty="0"/>
              <a:t> </a:t>
            </a:r>
            <a:r>
              <a:rPr dirty="0"/>
              <a:t>que</a:t>
            </a:r>
            <a:r>
              <a:rPr spc="165" dirty="0"/>
              <a:t> </a:t>
            </a:r>
            <a:r>
              <a:rPr dirty="0"/>
              <a:t>forman</a:t>
            </a:r>
            <a:r>
              <a:rPr spc="170" dirty="0"/>
              <a:t> </a:t>
            </a:r>
            <a:r>
              <a:rPr spc="-10" dirty="0"/>
              <a:t>parte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la</a:t>
            </a:r>
            <a:r>
              <a:rPr spc="-30" dirty="0"/>
              <a:t> </a:t>
            </a:r>
            <a:r>
              <a:rPr spc="-10" dirty="0"/>
              <a:t>configuración</a:t>
            </a:r>
            <a:r>
              <a:rPr spc="-25" dirty="0"/>
              <a:t> </a:t>
            </a:r>
            <a:r>
              <a:rPr dirty="0"/>
              <a:t>de</a:t>
            </a:r>
            <a:r>
              <a:rPr spc="-155" dirty="0"/>
              <a:t> </a:t>
            </a:r>
            <a:r>
              <a:rPr spc="-10" dirty="0"/>
              <a:t>Apache2:</a:t>
            </a: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2000" spc="-25" dirty="0">
                <a:solidFill>
                  <a:srgbClr val="50A04F"/>
                </a:solidFill>
              </a:rPr>
              <a:t>...</a:t>
            </a:r>
            <a:endParaRPr sz="2000"/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000" dirty="0">
                <a:solidFill>
                  <a:srgbClr val="383942"/>
                </a:solidFill>
              </a:rPr>
              <a:t>IncludeOptional</a:t>
            </a:r>
            <a:r>
              <a:rPr sz="2000" spc="-90" dirty="0">
                <a:solidFill>
                  <a:srgbClr val="383942"/>
                </a:solidFill>
              </a:rPr>
              <a:t> </a:t>
            </a:r>
            <a:r>
              <a:rPr sz="2000" dirty="0">
                <a:solidFill>
                  <a:srgbClr val="383942"/>
                </a:solidFill>
              </a:rPr>
              <a:t>mods-</a:t>
            </a:r>
            <a:r>
              <a:rPr sz="2000" spc="-10" dirty="0">
                <a:solidFill>
                  <a:srgbClr val="383942"/>
                </a:solidFill>
              </a:rPr>
              <a:t>enabled/*</a:t>
            </a:r>
            <a:r>
              <a:rPr sz="2000" spc="-10" dirty="0">
                <a:solidFill>
                  <a:srgbClr val="50A04F"/>
                </a:solidFill>
              </a:rPr>
              <a:t>.load</a:t>
            </a:r>
            <a:endParaRPr sz="2000"/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383942"/>
                </a:solidFill>
              </a:rPr>
              <a:t>IncludeOptional</a:t>
            </a:r>
            <a:r>
              <a:rPr sz="2000" spc="-100" dirty="0">
                <a:solidFill>
                  <a:srgbClr val="383942"/>
                </a:solidFill>
              </a:rPr>
              <a:t> </a:t>
            </a:r>
            <a:r>
              <a:rPr sz="2000" dirty="0">
                <a:solidFill>
                  <a:srgbClr val="383942"/>
                </a:solidFill>
              </a:rPr>
              <a:t>mods-</a:t>
            </a:r>
            <a:r>
              <a:rPr sz="2000" spc="-10" dirty="0">
                <a:solidFill>
                  <a:srgbClr val="383942"/>
                </a:solidFill>
              </a:rPr>
              <a:t>enabled/*</a:t>
            </a:r>
            <a:r>
              <a:rPr sz="2000" spc="-10" dirty="0">
                <a:solidFill>
                  <a:srgbClr val="50A04F"/>
                </a:solidFill>
              </a:rPr>
              <a:t>.conf</a:t>
            </a:r>
            <a:endParaRPr sz="2000"/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000" spc="-25" dirty="0">
                <a:solidFill>
                  <a:srgbClr val="50A04F"/>
                </a:solidFill>
              </a:rPr>
              <a:t>...</a:t>
            </a:r>
            <a:endParaRPr sz="2000"/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000" dirty="0">
                <a:solidFill>
                  <a:srgbClr val="383942"/>
                </a:solidFill>
              </a:rPr>
              <a:t>Include</a:t>
            </a:r>
            <a:r>
              <a:rPr sz="2000" spc="-50" dirty="0">
                <a:solidFill>
                  <a:srgbClr val="383942"/>
                </a:solidFill>
              </a:rPr>
              <a:t> </a:t>
            </a:r>
            <a:r>
              <a:rPr sz="2000" spc="-10" dirty="0">
                <a:solidFill>
                  <a:srgbClr val="383942"/>
                </a:solidFill>
              </a:rPr>
              <a:t>ports.conf</a:t>
            </a:r>
            <a:endParaRPr sz="2000"/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000" spc="-25" dirty="0">
                <a:solidFill>
                  <a:srgbClr val="50A04F"/>
                </a:solidFill>
              </a:rPr>
              <a:t>...</a:t>
            </a:r>
            <a:endParaRPr sz="2000"/>
          </a:p>
          <a:p>
            <a:pPr marL="12700" marR="6883400">
              <a:lnSpc>
                <a:spcPts val="3410"/>
              </a:lnSpc>
              <a:spcBef>
                <a:spcPts val="85"/>
              </a:spcBef>
            </a:pPr>
            <a:r>
              <a:rPr sz="2000" dirty="0">
                <a:solidFill>
                  <a:srgbClr val="383942"/>
                </a:solidFill>
              </a:rPr>
              <a:t>IncludeOptional</a:t>
            </a:r>
            <a:r>
              <a:rPr sz="2000" spc="-60" dirty="0">
                <a:solidFill>
                  <a:srgbClr val="383942"/>
                </a:solidFill>
              </a:rPr>
              <a:t> </a:t>
            </a:r>
            <a:r>
              <a:rPr sz="2000" spc="-10" dirty="0">
                <a:solidFill>
                  <a:srgbClr val="383942"/>
                </a:solidFill>
              </a:rPr>
              <a:t>conf-enabled/*</a:t>
            </a:r>
            <a:r>
              <a:rPr sz="2000" spc="-10" dirty="0">
                <a:solidFill>
                  <a:srgbClr val="50A04F"/>
                </a:solidFill>
              </a:rPr>
              <a:t>.conf </a:t>
            </a:r>
            <a:r>
              <a:rPr sz="2000" dirty="0">
                <a:solidFill>
                  <a:srgbClr val="383942"/>
                </a:solidFill>
              </a:rPr>
              <a:t>IncludeOptional</a:t>
            </a:r>
            <a:r>
              <a:rPr sz="2000" spc="-100" dirty="0">
                <a:solidFill>
                  <a:srgbClr val="383942"/>
                </a:solidFill>
              </a:rPr>
              <a:t> </a:t>
            </a:r>
            <a:r>
              <a:rPr sz="2000" dirty="0">
                <a:solidFill>
                  <a:srgbClr val="383942"/>
                </a:solidFill>
              </a:rPr>
              <a:t>sites-</a:t>
            </a:r>
            <a:r>
              <a:rPr sz="2000" spc="-10" dirty="0">
                <a:solidFill>
                  <a:srgbClr val="383942"/>
                </a:solidFill>
              </a:rPr>
              <a:t>enabled/*</a:t>
            </a:r>
            <a:r>
              <a:rPr sz="2000" spc="-10" dirty="0">
                <a:solidFill>
                  <a:srgbClr val="50A04F"/>
                </a:solidFill>
              </a:rPr>
              <a:t>.conf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73282" y="2495550"/>
            <a:ext cx="807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765" algn="l"/>
              </a:tabLst>
            </a:pP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a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los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653" y="2440686"/>
            <a:ext cx="9968230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14999"/>
              </a:lnSpc>
              <a:spcBef>
                <a:spcPts val="10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5600" algn="l"/>
                <a:tab pos="1069975" algn="l"/>
                <a:tab pos="2360930" algn="l"/>
                <a:tab pos="3822700" algn="l"/>
                <a:tab pos="4452620" algn="l"/>
                <a:tab pos="5930900" algn="l"/>
                <a:tab pos="8090534" algn="l"/>
              </a:tabLst>
            </a:pP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Los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ficheros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añadidos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del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directorio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20" dirty="0">
                <a:solidFill>
                  <a:srgbClr val="E83D8B"/>
                </a:solidFill>
                <a:latin typeface="Arial MT"/>
                <a:cs typeface="Arial MT"/>
              </a:rPr>
              <a:t>mods-</a:t>
            </a:r>
            <a:r>
              <a:rPr sz="2400" spc="-10" dirty="0">
                <a:solidFill>
                  <a:srgbClr val="E83D8B"/>
                </a:solidFill>
                <a:latin typeface="Arial MT"/>
                <a:cs typeface="Arial MT"/>
              </a:rPr>
              <a:t>enabled</a:t>
            </a:r>
            <a:r>
              <a:rPr sz="2400" dirty="0">
                <a:solidFill>
                  <a:srgbClr val="E83D8B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corresponden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módulos</a:t>
            </a:r>
            <a:r>
              <a:rPr sz="2400" spc="-1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activos.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653" y="3463290"/>
            <a:ext cx="10974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  <a:tab pos="1103630" algn="l"/>
                <a:tab pos="2429510" algn="l"/>
                <a:tab pos="3926840" algn="l"/>
                <a:tab pos="4589780" algn="l"/>
                <a:tab pos="6102985" algn="l"/>
                <a:tab pos="8176259" algn="l"/>
                <a:tab pos="10297795" algn="l"/>
                <a:tab pos="10724515" algn="l"/>
              </a:tabLst>
            </a:pP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Los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ficheros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añadidos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del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directorio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E83D8B"/>
                </a:solidFill>
                <a:latin typeface="Arial MT"/>
                <a:cs typeface="Arial MT"/>
              </a:rPr>
              <a:t>sites-enabled</a:t>
            </a:r>
            <a:r>
              <a:rPr sz="2400" dirty="0">
                <a:solidFill>
                  <a:srgbClr val="E83D8B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corresponden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a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la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6653" y="3700353"/>
            <a:ext cx="10974705" cy="2091689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545"/>
              </a:spcBef>
            </a:pP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configuración</a:t>
            </a:r>
            <a:r>
              <a:rPr sz="2400" spc="-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los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sitios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virtuales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activos.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Del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directorio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E83D8B"/>
                </a:solidFill>
                <a:latin typeface="Arial MT"/>
                <a:cs typeface="Arial MT"/>
              </a:rPr>
              <a:t>conf-</a:t>
            </a:r>
            <a:r>
              <a:rPr sz="2400" dirty="0">
                <a:solidFill>
                  <a:srgbClr val="E83D8B"/>
                </a:solidFill>
                <a:latin typeface="Arial MT"/>
                <a:cs typeface="Arial MT"/>
              </a:rPr>
              <a:t>enabled</a:t>
            </a:r>
            <a:r>
              <a:rPr sz="2400" spc="-60" dirty="0">
                <a:solidFill>
                  <a:srgbClr val="E83D8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añadimos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ficheros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configuración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adicionales.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14999"/>
              </a:lnSpc>
              <a:spcBef>
                <a:spcPts val="994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5600" algn="l"/>
                <a:tab pos="955675" algn="l"/>
                <a:tab pos="3768090" algn="l"/>
                <a:tab pos="7164070" algn="l"/>
                <a:tab pos="7680325" algn="l"/>
                <a:tab pos="10553700" algn="l"/>
              </a:tabLst>
            </a:pP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Por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último</a:t>
            </a:r>
            <a:r>
              <a:rPr sz="2400" spc="2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en</a:t>
            </a:r>
            <a:r>
              <a:rPr sz="2400" spc="2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2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fichero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E83D8B"/>
                </a:solidFill>
                <a:latin typeface="Arial MT"/>
                <a:cs typeface="Arial MT"/>
              </a:rPr>
              <a:t>ports.conf</a:t>
            </a:r>
            <a:r>
              <a:rPr sz="2400" spc="265" dirty="0">
                <a:solidFill>
                  <a:srgbClr val="E83D8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</a:t>
            </a:r>
            <a:r>
              <a:rPr sz="2400" spc="2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especifica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los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puertos</a:t>
            </a:r>
            <a:r>
              <a:rPr sz="2400" spc="2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2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escucha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del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servidor.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56485" marR="5080" indent="-234442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ESTRUCTURA</a:t>
            </a:r>
            <a:r>
              <a:rPr spc="-50" dirty="0"/>
              <a:t> </a:t>
            </a:r>
            <a:r>
              <a:rPr spc="-195" dirty="0"/>
              <a:t>DE</a:t>
            </a:r>
            <a:r>
              <a:rPr spc="-35" dirty="0"/>
              <a:t> </a:t>
            </a:r>
            <a:r>
              <a:rPr spc="-245" dirty="0"/>
              <a:t>LOS</a:t>
            </a:r>
            <a:r>
              <a:rPr spc="-30" dirty="0"/>
              <a:t> </a:t>
            </a:r>
            <a:r>
              <a:rPr spc="-190" dirty="0"/>
              <a:t>FICHEROS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315" dirty="0"/>
              <a:t>CONFIGURACIÓN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540634"/>
            <a:ext cx="1097597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Por</a:t>
            </a:r>
            <a:r>
              <a:rPr sz="2400" spc="2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defecto</a:t>
            </a:r>
            <a:r>
              <a:rPr sz="2400" spc="229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</a:t>
            </a:r>
            <a:r>
              <a:rPr sz="2400" spc="2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indican</a:t>
            </a:r>
            <a:r>
              <a:rPr sz="2400" spc="2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las</a:t>
            </a:r>
            <a:r>
              <a:rPr sz="2400" spc="2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opciones</a:t>
            </a:r>
            <a:r>
              <a:rPr sz="2400" spc="2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2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configuración</a:t>
            </a:r>
            <a:r>
              <a:rPr sz="2400" spc="2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del</a:t>
            </a:r>
            <a:r>
              <a:rPr sz="2400" spc="2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directorio</a:t>
            </a:r>
            <a:r>
              <a:rPr sz="2400" spc="2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83D8B"/>
                </a:solidFill>
                <a:latin typeface="Arial MT"/>
                <a:cs typeface="Arial MT"/>
              </a:rPr>
              <a:t>/var/www</a:t>
            </a:r>
            <a:r>
              <a:rPr sz="2400" spc="225" dirty="0">
                <a:solidFill>
                  <a:srgbClr val="E83D8B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y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2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todos</a:t>
            </a:r>
            <a:r>
              <a:rPr sz="2400" spc="2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sus</a:t>
            </a:r>
            <a:r>
              <a:rPr sz="2400" spc="2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subdirectorios,</a:t>
            </a:r>
            <a:r>
              <a:rPr sz="2400" spc="2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por</a:t>
            </a:r>
            <a:r>
              <a:rPr sz="2400" spc="2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</a:t>
            </a:r>
            <a:r>
              <a:rPr sz="2400" spc="2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tanto</a:t>
            </a:r>
            <a:r>
              <a:rPr sz="2400" spc="2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los</a:t>
            </a:r>
            <a:r>
              <a:rPr sz="2400" spc="2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83D8B"/>
                </a:solidFill>
                <a:latin typeface="Arial MT"/>
                <a:cs typeface="Arial MT"/>
              </a:rPr>
              <a:t>DocumentRoot</a:t>
            </a:r>
            <a:r>
              <a:rPr sz="2400" spc="270" dirty="0">
                <a:solidFill>
                  <a:srgbClr val="E83D8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2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los</a:t>
            </a:r>
            <a:r>
              <a:rPr sz="2400" spc="2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virtual</a:t>
            </a:r>
            <a:r>
              <a:rPr sz="2400" spc="2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81818"/>
                </a:solidFill>
                <a:latin typeface="Arial MT"/>
                <a:cs typeface="Arial MT"/>
              </a:rPr>
              <a:t>host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20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</a:t>
            </a:r>
            <a:r>
              <a:rPr sz="2400" spc="20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crean</a:t>
            </a:r>
            <a:r>
              <a:rPr sz="2400" spc="19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deben</a:t>
            </a:r>
            <a:r>
              <a:rPr sz="2400" spc="204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ser</a:t>
            </a:r>
            <a:r>
              <a:rPr sz="2400" spc="20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subdirectorios</a:t>
            </a:r>
            <a:r>
              <a:rPr sz="2400" spc="19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del</a:t>
            </a:r>
            <a:r>
              <a:rPr sz="2400" spc="20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este</a:t>
            </a:r>
            <a:r>
              <a:rPr sz="2400" spc="20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directorio,</a:t>
            </a:r>
            <a:r>
              <a:rPr sz="2400" spc="190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por</a:t>
            </a:r>
            <a:r>
              <a:rPr sz="2400" spc="204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</a:t>
            </a:r>
            <a:r>
              <a:rPr sz="2400" spc="195" dirty="0">
                <a:solidFill>
                  <a:srgbClr val="181818"/>
                </a:solidFill>
                <a:latin typeface="Arial MT"/>
                <a:cs typeface="Arial MT"/>
              </a:rPr>
              <a:t> 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tanto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encontramos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en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fichero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E83D8B"/>
                </a:solidFill>
                <a:latin typeface="Arial MT"/>
                <a:cs typeface="Arial MT"/>
              </a:rPr>
              <a:t>/etc/apache2/apache2.conf</a:t>
            </a:r>
            <a:r>
              <a:rPr sz="2400" spc="-45" dirty="0">
                <a:solidFill>
                  <a:srgbClr val="E83D8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siguiente</a:t>
            </a:r>
            <a:r>
              <a:rPr sz="1800" spc="-10" dirty="0">
                <a:solidFill>
                  <a:srgbClr val="181818"/>
                </a:solidFill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7867" y="775843"/>
            <a:ext cx="1046035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8989" marR="5080" indent="-206692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OPCIONES</a:t>
            </a:r>
            <a:r>
              <a:rPr spc="-55" dirty="0"/>
              <a:t> </a:t>
            </a:r>
            <a:r>
              <a:rPr spc="-195" dirty="0"/>
              <a:t>DE</a:t>
            </a:r>
            <a:r>
              <a:rPr spc="-25" dirty="0"/>
              <a:t> </a:t>
            </a:r>
            <a:r>
              <a:rPr spc="-285" dirty="0"/>
              <a:t>CONFIGURACIÓN</a:t>
            </a:r>
            <a:r>
              <a:rPr dirty="0"/>
              <a:t> </a:t>
            </a:r>
            <a:r>
              <a:rPr spc="55" dirty="0"/>
              <a:t>PARA</a:t>
            </a:r>
            <a:r>
              <a:rPr spc="-50" dirty="0"/>
              <a:t> </a:t>
            </a:r>
            <a:r>
              <a:rPr spc="-150" dirty="0"/>
              <a:t>LOS </a:t>
            </a:r>
            <a:r>
              <a:rPr spc="-190" dirty="0"/>
              <a:t>SERVIDORES</a:t>
            </a:r>
            <a:r>
              <a:rPr spc="-40" dirty="0"/>
              <a:t> </a:t>
            </a:r>
            <a:r>
              <a:rPr spc="-35" dirty="0"/>
              <a:t>VIRTUALES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5710" y="4559274"/>
            <a:ext cx="5637529" cy="18162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504058"/>
            <a:ext cx="10975975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Si</a:t>
            </a:r>
            <a:r>
              <a:rPr sz="2400" spc="1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queremos</a:t>
            </a:r>
            <a:r>
              <a:rPr sz="2400" spc="1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indicar</a:t>
            </a:r>
            <a:r>
              <a:rPr sz="2400" spc="1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como</a:t>
            </a:r>
            <a:r>
              <a:rPr sz="2400" spc="1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directorio</a:t>
            </a:r>
            <a:r>
              <a:rPr sz="2400" spc="1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raíz</a:t>
            </a:r>
            <a:r>
              <a:rPr sz="2400" spc="1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1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nuestros</a:t>
            </a:r>
            <a:r>
              <a:rPr sz="2400" spc="1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virtual</a:t>
            </a:r>
            <a:r>
              <a:rPr sz="2400" spc="1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host</a:t>
            </a:r>
            <a:r>
              <a:rPr sz="2400" spc="1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otro</a:t>
            </a:r>
            <a:r>
              <a:rPr sz="2400" spc="1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directorio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(tenemos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descomentar):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8989" marR="5080" indent="-206692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OPCIONES</a:t>
            </a:r>
            <a:r>
              <a:rPr spc="-55" dirty="0"/>
              <a:t> </a:t>
            </a:r>
            <a:r>
              <a:rPr spc="-195" dirty="0"/>
              <a:t>DE</a:t>
            </a:r>
            <a:r>
              <a:rPr spc="-25" dirty="0"/>
              <a:t> </a:t>
            </a:r>
            <a:r>
              <a:rPr spc="-285" dirty="0"/>
              <a:t>CONFIGURACIÓN</a:t>
            </a:r>
            <a:r>
              <a:rPr dirty="0"/>
              <a:t> </a:t>
            </a:r>
            <a:r>
              <a:rPr spc="55" dirty="0"/>
              <a:t>PARA</a:t>
            </a:r>
            <a:r>
              <a:rPr spc="-50" dirty="0"/>
              <a:t> </a:t>
            </a:r>
            <a:r>
              <a:rPr spc="-150" dirty="0"/>
              <a:t>LOS </a:t>
            </a:r>
            <a:r>
              <a:rPr spc="-190" dirty="0"/>
              <a:t>SERVIDORES</a:t>
            </a:r>
            <a:r>
              <a:rPr spc="-40" dirty="0"/>
              <a:t> </a:t>
            </a:r>
            <a:r>
              <a:rPr spc="-35" dirty="0"/>
              <a:t>VIRTUALES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5029" y="3961129"/>
            <a:ext cx="6898640" cy="18554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540634"/>
            <a:ext cx="10976610" cy="3333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Si</a:t>
            </a:r>
            <a:r>
              <a:rPr sz="2400" spc="1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tenemos</a:t>
            </a:r>
            <a:r>
              <a:rPr sz="24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configuración</a:t>
            </a:r>
            <a:r>
              <a:rPr sz="24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adicional</a:t>
            </a:r>
            <a:r>
              <a:rPr sz="2400" spc="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para</a:t>
            </a:r>
            <a:r>
              <a:rPr sz="24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nuestro</a:t>
            </a:r>
            <a:r>
              <a:rPr sz="24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servidor</a:t>
            </a:r>
            <a:r>
              <a:rPr sz="2400" spc="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podemos</a:t>
            </a:r>
            <a:r>
              <a:rPr sz="24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guardarla</a:t>
            </a:r>
            <a:r>
              <a:rPr sz="24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71717"/>
                </a:solidFill>
                <a:latin typeface="Arial MT"/>
                <a:cs typeface="Arial MT"/>
              </a:rPr>
              <a:t>en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un</a:t>
            </a:r>
            <a:r>
              <a:rPr sz="2400" spc="56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fichero</a:t>
            </a:r>
            <a:r>
              <a:rPr sz="2400" spc="57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(por</a:t>
            </a:r>
            <a:r>
              <a:rPr sz="2400" spc="56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ejemplo</a:t>
            </a:r>
            <a:r>
              <a:rPr sz="2400" spc="58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83C8A"/>
                </a:solidFill>
                <a:latin typeface="Arial MT"/>
                <a:cs typeface="Arial MT"/>
              </a:rPr>
              <a:t>prueba.conf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)</a:t>
            </a:r>
            <a:r>
              <a:rPr sz="2400" spc="57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dentro</a:t>
            </a:r>
            <a:r>
              <a:rPr sz="2400" spc="57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del</a:t>
            </a:r>
            <a:r>
              <a:rPr sz="2400" spc="57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directorio</a:t>
            </a:r>
            <a:r>
              <a:rPr sz="2400" spc="57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E83C8A"/>
                </a:solidFill>
                <a:latin typeface="Arial MT"/>
                <a:cs typeface="Arial MT"/>
              </a:rPr>
              <a:t>/etc/apache2/conf- </a:t>
            </a:r>
            <a:r>
              <a:rPr sz="2400" dirty="0">
                <a:solidFill>
                  <a:srgbClr val="E83C8A"/>
                </a:solidFill>
                <a:latin typeface="Arial MT"/>
                <a:cs typeface="Arial MT"/>
              </a:rPr>
              <a:t>available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.</a:t>
            </a:r>
            <a:r>
              <a:rPr sz="2400" spc="13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Para</a:t>
            </a:r>
            <a:r>
              <a:rPr sz="2400" spc="1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añadir</a:t>
            </a:r>
            <a:r>
              <a:rPr sz="2400" spc="15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dicho</a:t>
            </a:r>
            <a:r>
              <a:rPr sz="2400" spc="14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fichero</a:t>
            </a:r>
            <a:r>
              <a:rPr sz="2400" spc="1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de</a:t>
            </a:r>
            <a:r>
              <a:rPr sz="2400" spc="14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configuración</a:t>
            </a:r>
            <a:r>
              <a:rPr sz="2400" spc="1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a</a:t>
            </a:r>
            <a:r>
              <a:rPr sz="2400" spc="14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la</a:t>
            </a:r>
            <a:r>
              <a:rPr sz="2400" spc="14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configuración</a:t>
            </a:r>
            <a:r>
              <a:rPr sz="2400" spc="14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71717"/>
                </a:solidFill>
                <a:latin typeface="Arial MT"/>
                <a:cs typeface="Arial MT"/>
              </a:rPr>
              <a:t>general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del</a:t>
            </a:r>
            <a:r>
              <a:rPr sz="2400" spc="-5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servidor</a:t>
            </a:r>
            <a:r>
              <a:rPr sz="2400" spc="-5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usamos</a:t>
            </a:r>
            <a:r>
              <a:rPr sz="2400" spc="-6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la</a:t>
            </a:r>
            <a:r>
              <a:rPr sz="2400" spc="-5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71717"/>
                </a:solidFill>
                <a:latin typeface="Arial MT"/>
                <a:cs typeface="Arial MT"/>
              </a:rPr>
              <a:t>instrucción:</a:t>
            </a:r>
            <a:endParaRPr sz="24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400" spc="-6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a2enconf</a:t>
            </a:r>
            <a:r>
              <a:rPr sz="2400" spc="-4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078F0"/>
                </a:solidFill>
                <a:latin typeface="Arial MT"/>
                <a:cs typeface="Arial MT"/>
              </a:rPr>
              <a:t>prueba</a:t>
            </a:r>
            <a:endParaRPr sz="2400">
              <a:latin typeface="Arial MT"/>
              <a:cs typeface="Arial MT"/>
            </a:endParaRPr>
          </a:p>
          <a:p>
            <a:pPr marL="12700" marR="6350" algn="just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Esta</a:t>
            </a:r>
            <a:r>
              <a:rPr sz="2400" spc="509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instrucción</a:t>
            </a:r>
            <a:r>
              <a:rPr sz="2400" spc="51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crea</a:t>
            </a:r>
            <a:r>
              <a:rPr sz="2400" spc="5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un</a:t>
            </a:r>
            <a:r>
              <a:rPr sz="2400" spc="509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enlace</a:t>
            </a:r>
            <a:r>
              <a:rPr sz="2400" spc="5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simbólico</a:t>
            </a:r>
            <a:r>
              <a:rPr sz="2400" spc="5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en</a:t>
            </a:r>
            <a:r>
              <a:rPr sz="2400" spc="509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el</a:t>
            </a:r>
            <a:r>
              <a:rPr sz="2400" spc="509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directorio</a:t>
            </a:r>
            <a:r>
              <a:rPr sz="2400" spc="509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E83C8A"/>
                </a:solidFill>
                <a:latin typeface="Arial MT"/>
                <a:cs typeface="Arial MT"/>
              </a:rPr>
              <a:t>/etc/apache2/conf- </a:t>
            </a:r>
            <a:r>
              <a:rPr sz="2400" dirty="0">
                <a:solidFill>
                  <a:srgbClr val="E83C8A"/>
                </a:solidFill>
                <a:latin typeface="Arial MT"/>
                <a:cs typeface="Arial MT"/>
              </a:rPr>
              <a:t>enabled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.</a:t>
            </a:r>
            <a:r>
              <a:rPr sz="2400" spc="-5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Para</a:t>
            </a:r>
            <a:r>
              <a:rPr sz="2400" spc="-8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desactivar</a:t>
            </a:r>
            <a:r>
              <a:rPr sz="2400" spc="-7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una</a:t>
            </a:r>
            <a:r>
              <a:rPr sz="2400" spc="-8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71717"/>
                </a:solidFill>
                <a:latin typeface="Arial MT"/>
                <a:cs typeface="Arial MT"/>
              </a:rPr>
              <a:t>configuración</a:t>
            </a:r>
            <a:r>
              <a:rPr sz="2400" spc="-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71717"/>
                </a:solidFill>
                <a:latin typeface="Arial MT"/>
                <a:cs typeface="Arial MT"/>
              </a:rPr>
              <a:t>usamos:</a:t>
            </a:r>
            <a:endParaRPr sz="24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400" spc="-7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78F0"/>
                </a:solidFill>
                <a:latin typeface="Arial MT"/>
                <a:cs typeface="Arial MT"/>
              </a:rPr>
              <a:t>a2disconf</a:t>
            </a:r>
            <a:r>
              <a:rPr sz="2400" spc="-5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078F0"/>
                </a:solidFill>
                <a:latin typeface="Arial MT"/>
                <a:cs typeface="Arial MT"/>
              </a:rPr>
              <a:t>prueba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31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5"/>
              </a:spcBef>
            </a:pPr>
            <a:r>
              <a:rPr dirty="0"/>
              <a:t>AñADIR</a:t>
            </a:r>
            <a:r>
              <a:rPr spc="-204" dirty="0"/>
              <a:t> </a:t>
            </a:r>
            <a:r>
              <a:rPr spc="-270" dirty="0"/>
              <a:t>NUEVA</a:t>
            </a:r>
            <a:r>
              <a:rPr spc="-5" dirty="0"/>
              <a:t> </a:t>
            </a:r>
            <a:r>
              <a:rPr spc="-305" dirty="0"/>
              <a:t>CONFIGURACIÓN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540634"/>
            <a:ext cx="1097661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El</a:t>
            </a:r>
            <a:r>
              <a:rPr sz="2400" spc="26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servidor</a:t>
            </a:r>
            <a:r>
              <a:rPr sz="2400" spc="26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HTTP</a:t>
            </a:r>
            <a:r>
              <a:rPr sz="2400" spc="24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Apache</a:t>
            </a:r>
            <a:r>
              <a:rPr sz="2400" spc="26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HTTP</a:t>
            </a:r>
            <a:r>
              <a:rPr sz="2400" spc="24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ofrece</a:t>
            </a:r>
            <a:r>
              <a:rPr sz="2400" spc="254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un</a:t>
            </a:r>
            <a:r>
              <a:rPr sz="2400" spc="265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mecanismo</a:t>
            </a:r>
            <a:r>
              <a:rPr sz="2400" spc="265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para</a:t>
            </a:r>
            <a:r>
              <a:rPr sz="2400" spc="265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spc="-10" dirty="0">
                <a:solidFill>
                  <a:srgbClr val="171717"/>
                </a:solidFill>
                <a:latin typeface="Arial MT"/>
                <a:cs typeface="Arial MT"/>
              </a:rPr>
              <a:t>almacenar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información</a:t>
            </a:r>
            <a:r>
              <a:rPr sz="2400" spc="31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en</a:t>
            </a:r>
            <a:r>
              <a:rPr sz="2400" spc="30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variables</a:t>
            </a:r>
            <a:r>
              <a:rPr sz="2400" spc="3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especiales</a:t>
            </a:r>
            <a:r>
              <a:rPr sz="2400" spc="31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que</a:t>
            </a:r>
            <a:r>
              <a:rPr sz="2400" spc="30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se</a:t>
            </a:r>
            <a:r>
              <a:rPr sz="2400" spc="31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llaman</a:t>
            </a:r>
            <a:r>
              <a:rPr sz="2400" spc="30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variables</a:t>
            </a:r>
            <a:r>
              <a:rPr sz="2400" spc="3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de</a:t>
            </a:r>
            <a:r>
              <a:rPr sz="2400" spc="31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entorno.</a:t>
            </a:r>
            <a:r>
              <a:rPr sz="2400" spc="30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71717"/>
                </a:solidFill>
                <a:latin typeface="Arial MT"/>
                <a:cs typeface="Arial MT"/>
              </a:rPr>
              <a:t>Esta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información</a:t>
            </a:r>
            <a:r>
              <a:rPr sz="2400" spc="56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puede</a:t>
            </a:r>
            <a:r>
              <a:rPr sz="2400" spc="55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ser</a:t>
            </a:r>
            <a:r>
              <a:rPr sz="2400" spc="56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usada</a:t>
            </a:r>
            <a:r>
              <a:rPr sz="2400" spc="55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para</a:t>
            </a:r>
            <a:r>
              <a:rPr sz="2400" spc="55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controlar</a:t>
            </a:r>
            <a:r>
              <a:rPr sz="2400" spc="56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diversas</a:t>
            </a:r>
            <a:r>
              <a:rPr sz="2400" spc="54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operaciones</a:t>
            </a:r>
            <a:r>
              <a:rPr sz="2400" spc="55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como</a:t>
            </a:r>
            <a:r>
              <a:rPr sz="2400" spc="55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71717"/>
                </a:solidFill>
                <a:latin typeface="Arial MT"/>
                <a:cs typeface="Arial MT"/>
              </a:rPr>
              <a:t>por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ejemplo,</a:t>
            </a:r>
            <a:r>
              <a:rPr sz="24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almacenar</a:t>
            </a:r>
            <a:r>
              <a:rPr sz="24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datos</a:t>
            </a:r>
            <a:r>
              <a:rPr sz="24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en</a:t>
            </a:r>
            <a:r>
              <a:rPr sz="2400" spc="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ficheros</a:t>
            </a:r>
            <a:r>
              <a:rPr sz="2400" spc="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de</a:t>
            </a:r>
            <a:r>
              <a:rPr sz="2400" spc="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registro</a:t>
            </a:r>
            <a:r>
              <a:rPr sz="24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(</a:t>
            </a:r>
            <a:r>
              <a:rPr sz="2400" dirty="0">
                <a:solidFill>
                  <a:srgbClr val="E83C8A"/>
                </a:solidFill>
                <a:latin typeface="Arial MT"/>
                <a:cs typeface="Arial MT"/>
              </a:rPr>
              <a:t>log</a:t>
            </a:r>
            <a:r>
              <a:rPr sz="2400" spc="30" dirty="0">
                <a:solidFill>
                  <a:srgbClr val="E83C8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83C8A"/>
                </a:solidFill>
                <a:latin typeface="Arial MT"/>
                <a:cs typeface="Arial MT"/>
              </a:rPr>
              <a:t>files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)</a:t>
            </a:r>
            <a:r>
              <a:rPr sz="24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o</a:t>
            </a:r>
            <a:r>
              <a:rPr sz="2400" spc="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controlar</a:t>
            </a:r>
            <a:r>
              <a:rPr sz="2400" spc="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el</a:t>
            </a:r>
            <a:r>
              <a:rPr sz="2400" spc="1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71717"/>
                </a:solidFill>
                <a:latin typeface="Arial MT"/>
                <a:cs typeface="Arial MT"/>
              </a:rPr>
              <a:t>acceso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al</a:t>
            </a:r>
            <a:r>
              <a:rPr sz="2400" spc="295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servidor.</a:t>
            </a:r>
            <a:r>
              <a:rPr sz="2400" spc="30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Podemos</a:t>
            </a:r>
            <a:r>
              <a:rPr sz="2400" spc="30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encontrar</a:t>
            </a:r>
            <a:r>
              <a:rPr sz="2400" spc="30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estas</a:t>
            </a:r>
            <a:r>
              <a:rPr sz="2400" spc="295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variables</a:t>
            </a:r>
            <a:r>
              <a:rPr sz="2400" spc="31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definidas</a:t>
            </a:r>
            <a:r>
              <a:rPr sz="2400" spc="305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en</a:t>
            </a:r>
            <a:r>
              <a:rPr sz="2400" spc="30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171717"/>
                </a:solidFill>
                <a:latin typeface="Arial MT"/>
                <a:cs typeface="Arial MT"/>
              </a:rPr>
              <a:t>el</a:t>
            </a:r>
            <a:r>
              <a:rPr sz="2400" spc="300" dirty="0">
                <a:solidFill>
                  <a:srgbClr val="171717"/>
                </a:solidFill>
                <a:latin typeface="Arial MT"/>
                <a:cs typeface="Arial MT"/>
              </a:rPr>
              <a:t>  </a:t>
            </a:r>
            <a:r>
              <a:rPr sz="2400" spc="-10" dirty="0">
                <a:solidFill>
                  <a:srgbClr val="171717"/>
                </a:solidFill>
                <a:latin typeface="Arial MT"/>
                <a:cs typeface="Arial MT"/>
              </a:rPr>
              <a:t>fichero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E83C8A"/>
                </a:solidFill>
                <a:latin typeface="Arial MT"/>
                <a:cs typeface="Arial MT"/>
              </a:rPr>
              <a:t>/etc/apache2/envvars</a:t>
            </a:r>
            <a:r>
              <a:rPr sz="2400" spc="-10" dirty="0">
                <a:solidFill>
                  <a:srgbClr val="171717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6161" y="1110818"/>
            <a:ext cx="96075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VARIABLES</a:t>
            </a:r>
            <a:r>
              <a:rPr spc="-190" dirty="0"/>
              <a:t> </a:t>
            </a:r>
            <a:r>
              <a:rPr spc="-195" dirty="0"/>
              <a:t>DE</a:t>
            </a:r>
            <a:r>
              <a:rPr spc="-80" dirty="0"/>
              <a:t> </a:t>
            </a:r>
            <a:r>
              <a:rPr spc="-320" dirty="0"/>
              <a:t>ENTORNO</a:t>
            </a:r>
            <a:r>
              <a:rPr dirty="0"/>
              <a:t> </a:t>
            </a:r>
            <a:r>
              <a:rPr spc="-195" dirty="0"/>
              <a:t>DE</a:t>
            </a:r>
            <a:r>
              <a:rPr spc="-80" dirty="0"/>
              <a:t> </a:t>
            </a:r>
            <a:r>
              <a:rPr spc="-10" dirty="0"/>
              <a:t>APACHE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789</Words>
  <Application>Microsoft Office PowerPoint</Application>
  <PresentationFormat>Panorámica</PresentationFormat>
  <Paragraphs>74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Arial MT</vt:lpstr>
      <vt:lpstr>Trebuchet MS</vt:lpstr>
      <vt:lpstr>Wingdings</vt:lpstr>
      <vt:lpstr>Wingdings 3</vt:lpstr>
      <vt:lpstr>Faceta</vt:lpstr>
      <vt:lpstr>SERVIDOR APACHE</vt:lpstr>
      <vt:lpstr>CONCEPTOS BáSICOS</vt:lpstr>
      <vt:lpstr>VENTAJAS DE USAR APACHE2</vt:lpstr>
      <vt:lpstr>INSTALACIÓN EN DEBIAN/UBUNTU</vt:lpstr>
      <vt:lpstr>INSTALACIÓN EN DEBIAN/UBUNTU</vt:lpstr>
      <vt:lpstr>INSTALACIÓN EN DEBIAN/UBUNTU</vt:lpstr>
      <vt:lpstr>ESTRUCTURA DE LOS FICHEROS DE CONFIGURACIÓN</vt:lpstr>
      <vt:lpstr>ESTRUCTURA DE LOS FICHEROS DE CONFIGURACIÓN</vt:lpstr>
      <vt:lpstr>ESTRUCTURA DE LOS FICHEROS DE CONFIGURACIÓN</vt:lpstr>
      <vt:lpstr>ESTRUCTURA DE LOS FICHEROS DE CONFIGURACIÓN</vt:lpstr>
      <vt:lpstr>ESTRUCTURA DE LOS FICHEROS DE CONFIGURACIÓN</vt:lpstr>
      <vt:lpstr>ESTRUCTURA DE LOS FICHEROS DE CONFIGURACIÓN</vt:lpstr>
      <vt:lpstr>OPCIONES DE CONFIGURACIÓN PARA LOS SERVIDORES VIRTUALES</vt:lpstr>
      <vt:lpstr>OPCIONES DE CONFIGURACIÓN PARA LOS SERVIDORES VIRTUALES</vt:lpstr>
      <vt:lpstr>AñADIR NUEVA CONFIGURACIÓN</vt:lpstr>
      <vt:lpstr>VARIABLES DE ENTORNO DE APACHE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SERVIDOR APACHE</dc:title>
  <dc:creator>lorea mendieta lastra</dc:creator>
  <cp:lastModifiedBy>Jon Loroño Arnaiz</cp:lastModifiedBy>
  <cp:revision>1</cp:revision>
  <dcterms:created xsi:type="dcterms:W3CDTF">2025-09-15T15:04:43Z</dcterms:created>
  <dcterms:modified xsi:type="dcterms:W3CDTF">2025-09-15T15:09:21Z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2025-09-15T00:00:00Z</vt:filetime>
  </property>
  <property fmtid="{D5CDD505-2E9C-101B-9397-08002B2CF9AE}" pid="5" name="Producer">
    <vt:lpwstr>Microsoft® PowerPoint® 2019</vt:lpwstr>
  </property>
</Properties>
</file>