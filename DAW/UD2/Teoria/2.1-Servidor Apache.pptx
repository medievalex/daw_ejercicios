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566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880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034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483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4035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83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502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4601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480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74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033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5970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82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17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909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98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404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4413" y="1270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6380480"/>
                </a:lnTo>
                <a:lnTo>
                  <a:pt x="476377" y="6380480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s-ES" noProof="0" dirty="0"/>
          </a:p>
        </p:txBody>
      </p: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xfrm>
            <a:off x="1507067" y="3114682"/>
            <a:ext cx="776693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1959">
              <a:lnSpc>
                <a:spcPct val="100000"/>
              </a:lnSpc>
              <a:spcBef>
                <a:spcPts val="100"/>
              </a:spcBef>
            </a:pPr>
            <a:r>
              <a:rPr lang="es-ES" sz="6000" spc="-305" dirty="0">
                <a:solidFill>
                  <a:srgbClr val="AA9ECA"/>
                </a:solidFill>
              </a:rPr>
              <a:t>SERVIDOR</a:t>
            </a:r>
            <a:r>
              <a:rPr lang="es-ES" sz="6000" spc="-5" dirty="0">
                <a:solidFill>
                  <a:srgbClr val="AA9ECA"/>
                </a:solidFill>
              </a:rPr>
              <a:t> </a:t>
            </a:r>
            <a:r>
              <a:rPr lang="es-ES" sz="6000" spc="-55" dirty="0">
                <a:solidFill>
                  <a:srgbClr val="AA9ECA"/>
                </a:solidFill>
              </a:rPr>
              <a:t>APACHE</a:t>
            </a:r>
            <a:endParaRPr lang="es-ES" sz="6000" noProof="0" dirty="0">
              <a:solidFill>
                <a:srgbClr val="7030A0"/>
              </a:solidFill>
            </a:endParaRP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093D5A16-4526-71B7-67CC-46E86C7EC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37252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789682"/>
            <a:ext cx="1097915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Es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un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software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servidor</a:t>
            </a:r>
            <a:r>
              <a:rPr sz="2400" b="1" spc="5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web</a:t>
            </a:r>
            <a:r>
              <a:rPr sz="2400" b="1" spc="5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5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código</a:t>
            </a:r>
            <a:r>
              <a:rPr sz="2400" b="1" spc="5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abierto,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multiplataforma</a:t>
            </a:r>
            <a:r>
              <a:rPr sz="2400" b="1" spc="7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spc="-50" dirty="0">
                <a:solidFill>
                  <a:srgbClr val="EE52A4"/>
                </a:solidFill>
                <a:latin typeface="Arial"/>
                <a:cs typeface="Arial"/>
              </a:rPr>
              <a:t>y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gratuito.</a:t>
            </a:r>
            <a:r>
              <a:rPr sz="2400" b="1" spc="9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todo</a:t>
            </a:r>
            <a:r>
              <a:rPr sz="2400" spc="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1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responsable</a:t>
            </a:r>
            <a:r>
              <a:rPr sz="2400" spc="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atender</a:t>
            </a:r>
            <a:r>
              <a:rPr sz="2400" spc="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solicitudes</a:t>
            </a:r>
            <a:r>
              <a:rPr sz="2400" spc="1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clientes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cuando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quieren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consultar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una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URL.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está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atento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las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solicitudes,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llegan</a:t>
            </a:r>
            <a:r>
              <a:rPr sz="2400" spc="2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mediante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protocolo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HTTP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2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encarga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enviar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las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respuestas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clientes.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2883" y="902334"/>
            <a:ext cx="8200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¿QUÉ</a:t>
            </a:r>
            <a:r>
              <a:rPr spc="-70" dirty="0"/>
              <a:t> </a:t>
            </a:r>
            <a:r>
              <a:rPr dirty="0"/>
              <a:t>ES</a:t>
            </a:r>
            <a:r>
              <a:rPr spc="-140" dirty="0"/>
              <a:t> </a:t>
            </a:r>
            <a:r>
              <a:rPr spc="-20" dirty="0"/>
              <a:t>EL</a:t>
            </a:r>
            <a:r>
              <a:rPr spc="-90" dirty="0"/>
              <a:t> </a:t>
            </a:r>
            <a:r>
              <a:rPr spc="-220" dirty="0"/>
              <a:t>SERVIDOR</a:t>
            </a:r>
            <a:r>
              <a:rPr spc="-55" dirty="0"/>
              <a:t> </a:t>
            </a:r>
            <a:r>
              <a:rPr spc="-10" dirty="0"/>
              <a:t>APACHE?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22981"/>
            <a:ext cx="1097724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trasiego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información</a:t>
            </a:r>
            <a:r>
              <a:rPr sz="2400" spc="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generalmente</a:t>
            </a:r>
            <a:r>
              <a:rPr sz="2400" spc="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transfieren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páginas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web,</a:t>
            </a:r>
            <a:r>
              <a:rPr sz="2400" spc="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pero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Apache</a:t>
            </a:r>
            <a:r>
              <a:rPr sz="2400" b="1" spc="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está</a:t>
            </a:r>
            <a:r>
              <a:rPr sz="2400" b="1" spc="1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preparado</a:t>
            </a:r>
            <a:r>
              <a:rPr sz="2400" b="1" spc="1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para</a:t>
            </a:r>
            <a:r>
              <a:rPr sz="2400" b="1" spc="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enviar</a:t>
            </a:r>
            <a:r>
              <a:rPr sz="2400" b="1" spc="1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todo</a:t>
            </a:r>
            <a:r>
              <a:rPr sz="2400" b="1" spc="1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tipo</a:t>
            </a:r>
            <a:r>
              <a:rPr sz="2400" b="1" spc="1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archivos</a:t>
            </a:r>
            <a:r>
              <a:rPr sz="2400" b="1" spc="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como</a:t>
            </a:r>
            <a:r>
              <a:rPr sz="2400" b="1" spc="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EE52A4"/>
                </a:solidFill>
                <a:latin typeface="Arial"/>
                <a:cs typeface="Arial"/>
              </a:rPr>
              <a:t>imágenes,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PDF</a:t>
            </a:r>
            <a:r>
              <a:rPr sz="2400" b="1" spc="1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o</a:t>
            </a:r>
            <a:r>
              <a:rPr sz="2400" b="1" spc="1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cualquier</a:t>
            </a:r>
            <a:r>
              <a:rPr sz="2400" b="1" spc="1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otro</a:t>
            </a:r>
            <a:r>
              <a:rPr sz="2400" b="1" spc="9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archivo</a:t>
            </a:r>
            <a:r>
              <a:rPr sz="2400" b="1" spc="1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descargable</a:t>
            </a:r>
            <a:r>
              <a:rPr sz="2400" b="1" spc="1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mediante</a:t>
            </a:r>
            <a:r>
              <a:rPr sz="2400" b="1" spc="10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el</a:t>
            </a:r>
            <a:r>
              <a:rPr sz="2400" b="1" spc="1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navegador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Además,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capaz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ejecutar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código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ciertos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lenguajes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programación,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siempre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que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tenga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instalado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complemento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adecuado,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permitir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desarrolladores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la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creación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páginas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programación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lado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2883" y="902334"/>
            <a:ext cx="8200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¿QUÉ</a:t>
            </a:r>
            <a:r>
              <a:rPr spc="-70" dirty="0"/>
              <a:t> </a:t>
            </a:r>
            <a:r>
              <a:rPr dirty="0"/>
              <a:t>ES</a:t>
            </a:r>
            <a:r>
              <a:rPr spc="-140" dirty="0"/>
              <a:t> </a:t>
            </a:r>
            <a:r>
              <a:rPr spc="-20" dirty="0"/>
              <a:t>EL</a:t>
            </a:r>
            <a:r>
              <a:rPr spc="-90" dirty="0"/>
              <a:t> </a:t>
            </a:r>
            <a:r>
              <a:rPr spc="-220" dirty="0"/>
              <a:t>SERVIDOR</a:t>
            </a:r>
            <a:r>
              <a:rPr spc="-55" dirty="0"/>
              <a:t> </a:t>
            </a:r>
            <a:r>
              <a:rPr spc="-10" dirty="0"/>
              <a:t>APACHE?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70226"/>
            <a:ext cx="109772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ofrece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conjunto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funcionalidades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amplio,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</a:t>
            </a:r>
            <a:r>
              <a:rPr sz="2400" spc="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le</a:t>
            </a:r>
            <a:r>
              <a:rPr sz="2400" spc="1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pueden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instalar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diversos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complementos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obtener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soporte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todavía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más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características.</a:t>
            </a:r>
            <a:r>
              <a:rPr sz="2400" spc="-1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Algunas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populares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son: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3800094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1.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3853" y="3793693"/>
            <a:ext cx="105181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Manejo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6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solicitudes</a:t>
            </a:r>
            <a:r>
              <a:rPr sz="2400" b="1" spc="7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HTTP:</a:t>
            </a:r>
            <a:r>
              <a:rPr sz="2400" b="1" spc="7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primer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objetivo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1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manejo</a:t>
            </a:r>
            <a:r>
              <a:rPr sz="2400" spc="1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solicitudes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HTTP.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supuesto,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capaz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manejar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este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protocolo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todos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relacionados,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HTTPS,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HTTP2.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653" y="5534355"/>
            <a:ext cx="10975340" cy="9302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algn="just">
              <a:lnSpc>
                <a:spcPct val="98300"/>
              </a:lnSpc>
              <a:spcBef>
                <a:spcPts val="140"/>
              </a:spcBef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HTTP2:</a:t>
            </a:r>
            <a:r>
              <a:rPr sz="1800" spc="4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HTTP/2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es</a:t>
            </a:r>
            <a:r>
              <a:rPr sz="1800" spc="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la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segunda</a:t>
            </a:r>
            <a:r>
              <a:rPr sz="1800" spc="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versión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del</a:t>
            </a:r>
            <a:r>
              <a:rPr sz="1800" spc="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Protocolo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Transferencia</a:t>
            </a:r>
            <a:r>
              <a:rPr sz="1800" spc="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Hipertexto</a:t>
            </a:r>
            <a:r>
              <a:rPr sz="1800" spc="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(HTTP),</a:t>
            </a:r>
            <a:r>
              <a:rPr sz="1800" spc="4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creado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inicialmente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para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la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comunicación</a:t>
            </a:r>
            <a:r>
              <a:rPr sz="1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en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la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World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Wide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Web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pero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que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actualmente</a:t>
            </a:r>
            <a:r>
              <a:rPr sz="1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usa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como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base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para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las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transferencias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datos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multitud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programas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y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aplicaciones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en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red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2825" marR="5080" indent="-354076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PRINCIPALES</a:t>
            </a:r>
            <a:r>
              <a:rPr spc="-125" dirty="0"/>
              <a:t> </a:t>
            </a:r>
            <a:r>
              <a:rPr spc="-100" dirty="0"/>
              <a:t>CARACTERÍSTICAS</a:t>
            </a:r>
            <a:r>
              <a:rPr spc="-125" dirty="0"/>
              <a:t> </a:t>
            </a:r>
            <a:r>
              <a:rPr spc="-90" dirty="0"/>
              <a:t>DE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76322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2570226"/>
            <a:ext cx="10518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Soporte  para</a:t>
            </a:r>
            <a:r>
              <a:rPr sz="2400" b="1" spc="1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diferentes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sistemas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operativos: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Aunque</a:t>
            </a:r>
            <a:r>
              <a:rPr sz="2400" spc="1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inicialmente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desarrolló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sistemas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basados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Unix,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ofrece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soporte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todos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sistemas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operativos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populares,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incluyendo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Windows,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MacOS,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3667505"/>
            <a:ext cx="10977245" cy="261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supuesto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Linux.</a:t>
            </a:r>
            <a:r>
              <a:rPr sz="2400" spc="2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ambientes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producción</a:t>
            </a:r>
            <a:r>
              <a:rPr sz="2400" spc="2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normal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ejecute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sobre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Linux,</a:t>
            </a:r>
            <a:r>
              <a:rPr sz="2400" spc="2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pero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hecho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soportar</a:t>
            </a:r>
            <a:r>
              <a:rPr sz="2400" spc="229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Windows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MacOS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profesionales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puedan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usar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local,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probar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desarrollar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páginas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ordenadores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personales</a:t>
            </a:r>
            <a:r>
              <a:rPr sz="3600" spc="-15" baseline="-2314" dirty="0">
                <a:solidFill>
                  <a:srgbClr val="1E1E1E"/>
                </a:solidFill>
                <a:latin typeface="Calibri"/>
                <a:cs typeface="Calibri"/>
              </a:rPr>
              <a:t>.</a:t>
            </a:r>
            <a:endParaRPr sz="3600" baseline="-2314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2825" marR="5080" indent="-354076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PRINCIPALES</a:t>
            </a:r>
            <a:r>
              <a:rPr spc="-125" dirty="0"/>
              <a:t> </a:t>
            </a:r>
            <a:r>
              <a:rPr spc="-100" dirty="0"/>
              <a:t>CARACTERÍSTICAS</a:t>
            </a:r>
            <a:r>
              <a:rPr spc="-125" dirty="0"/>
              <a:t> </a:t>
            </a:r>
            <a:r>
              <a:rPr spc="-90" dirty="0"/>
              <a:t>DE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76322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2570226"/>
            <a:ext cx="10518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Soporte  para</a:t>
            </a:r>
            <a:r>
              <a:rPr sz="2400" b="1" spc="1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diferentes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sistemas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operativos:</a:t>
            </a:r>
            <a:r>
              <a:rPr sz="2400" b="1" spc="2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Aunque</a:t>
            </a:r>
            <a:r>
              <a:rPr sz="2400" spc="1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inicialmente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desarrolló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sistemas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basados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Unix,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ofrece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soporte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todos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sistemas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operativos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populares,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incluyendo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Windows,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MacOS,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3667505"/>
            <a:ext cx="10977245" cy="211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supuesto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Linux.</a:t>
            </a:r>
            <a:r>
              <a:rPr sz="2400" spc="2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ambientes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producción</a:t>
            </a:r>
            <a:r>
              <a:rPr sz="2400" spc="2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normal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ejecute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sobre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Linux,</a:t>
            </a:r>
            <a:r>
              <a:rPr sz="2400" spc="2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pero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hecho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soportar</a:t>
            </a:r>
            <a:r>
              <a:rPr sz="2400" spc="229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Windows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MacOS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profesionales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puedan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usar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local,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probar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desarrollar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páginas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ordenadores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personales</a:t>
            </a:r>
            <a:r>
              <a:rPr sz="3600" spc="-15" baseline="-2314" dirty="0">
                <a:solidFill>
                  <a:srgbClr val="1E1E1E"/>
                </a:solidFill>
                <a:latin typeface="Calibri"/>
                <a:cs typeface="Calibri"/>
              </a:rPr>
              <a:t>.</a:t>
            </a:r>
            <a:endParaRPr sz="3600" baseline="-2314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2825" marR="5080" indent="-354076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PRINCIPALES</a:t>
            </a:r>
            <a:r>
              <a:rPr spc="-125" dirty="0"/>
              <a:t> </a:t>
            </a:r>
            <a:r>
              <a:rPr spc="-100" dirty="0"/>
              <a:t>CARACTERÍSTICAS</a:t>
            </a:r>
            <a:r>
              <a:rPr spc="-125" dirty="0"/>
              <a:t> </a:t>
            </a:r>
            <a:r>
              <a:rPr spc="-90" dirty="0"/>
              <a:t>DE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76322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3.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2570226"/>
            <a:ext cx="105200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Configuración</a:t>
            </a:r>
            <a:r>
              <a:rPr sz="2400" b="1" spc="8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8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personalización:</a:t>
            </a:r>
            <a:r>
              <a:rPr sz="2400" b="1" spc="10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Uno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puntos</a:t>
            </a:r>
            <a:r>
              <a:rPr sz="2400" spc="1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fuertes</a:t>
            </a:r>
            <a:r>
              <a:rPr sz="2400" spc="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</a:t>
            </a:r>
            <a:r>
              <a:rPr sz="2400" spc="3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flexibilidad</a:t>
            </a:r>
            <a:r>
              <a:rPr sz="2400" spc="3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sus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amplias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capacidades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personalización.</a:t>
            </a:r>
            <a:r>
              <a:rPr sz="2400" spc="3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ello</a:t>
            </a:r>
            <a:r>
              <a:rPr sz="2400" spc="3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utilizan</a:t>
            </a:r>
            <a:r>
              <a:rPr sz="2400" spc="17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configuración,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administradores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sistemas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pueden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indicar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cómo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debe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comportar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web,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permitiendo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esta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configuración</a:t>
            </a:r>
            <a:r>
              <a:rPr sz="2400" spc="1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cambie</a:t>
            </a:r>
            <a:r>
              <a:rPr sz="2400" spc="1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según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necesidades</a:t>
            </a:r>
            <a:r>
              <a:rPr sz="2400" spc="1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cada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alojado.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5520639"/>
            <a:ext cx="1104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2825" marR="5080" indent="-354076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PRINCIPALES</a:t>
            </a:r>
            <a:r>
              <a:rPr spc="-125" dirty="0"/>
              <a:t> </a:t>
            </a:r>
            <a:r>
              <a:rPr spc="-100" dirty="0"/>
              <a:t>CARACTERÍSTICAS</a:t>
            </a:r>
            <a:r>
              <a:rPr spc="-125" dirty="0"/>
              <a:t> </a:t>
            </a:r>
            <a:r>
              <a:rPr spc="-90" dirty="0"/>
              <a:t>DE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19298"/>
            <a:ext cx="10974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56055" algn="l"/>
                <a:tab pos="2204085" algn="l"/>
                <a:tab pos="3393440" algn="l"/>
                <a:tab pos="5534660" algn="l"/>
                <a:tab pos="6301105" algn="l"/>
                <a:tab pos="7203440" algn="l"/>
                <a:tab pos="8427720" algn="l"/>
                <a:tab pos="9227820" algn="l"/>
                <a:tab pos="9992360" algn="l"/>
              </a:tabLst>
            </a:pP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Podemos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usar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principalmente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Arial MT"/>
                <a:cs typeface="Arial MT"/>
              </a:rPr>
              <a:t>alojar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Arial MT"/>
                <a:cs typeface="Arial MT"/>
              </a:rPr>
              <a:t>páginas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404040"/>
                </a:solidFill>
                <a:latin typeface="Arial MT"/>
                <a:cs typeface="Arial MT"/>
              </a:rPr>
              <a:t>web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pero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existen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otros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casos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uso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frecuentes.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3383102"/>
            <a:ext cx="2292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1.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4974412"/>
            <a:ext cx="2292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3853" y="3377006"/>
            <a:ext cx="10520045" cy="271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Hosting</a:t>
            </a:r>
            <a:r>
              <a:rPr sz="2400" b="1" spc="-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-3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alojamiento</a:t>
            </a:r>
            <a:r>
              <a:rPr sz="2400" b="1" spc="-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-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sitios</a:t>
            </a:r>
            <a:r>
              <a:rPr sz="2400" b="1" spc="-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web:</a:t>
            </a:r>
            <a:r>
              <a:rPr sz="2400" b="1" spc="-1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decimos, el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uso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común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servir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sitios web, estando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atento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solicitudes HTTP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 enviando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al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cliente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web,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generalmente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navegador,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todos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aquellos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archivos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forman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parte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página,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desde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HTML,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CSS,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JavaScript,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Desarrollo</a:t>
            </a:r>
            <a:r>
              <a:rPr sz="2400" b="1" spc="3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3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pruebas</a:t>
            </a:r>
            <a:r>
              <a:rPr sz="2400" b="1" spc="4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locales:</a:t>
            </a:r>
            <a:r>
              <a:rPr sz="2400" b="1" spc="4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También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frecuente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instalación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29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31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parte</a:t>
            </a:r>
            <a:r>
              <a:rPr sz="2400" spc="30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30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30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desarrolladores</a:t>
            </a:r>
            <a:r>
              <a:rPr sz="2400" spc="3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30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poder</a:t>
            </a:r>
            <a:r>
              <a:rPr sz="2400" spc="30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crear</a:t>
            </a:r>
            <a:r>
              <a:rPr sz="2400" spc="30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sitios</a:t>
            </a:r>
            <a:r>
              <a:rPr sz="2400" spc="30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y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aplicaciones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poder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probarlos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máquinas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locales.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0236" y="1110818"/>
            <a:ext cx="9432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CASOS</a:t>
            </a:r>
            <a:r>
              <a:rPr spc="-160" dirty="0"/>
              <a:t> </a:t>
            </a:r>
            <a:r>
              <a:rPr spc="-195" dirty="0"/>
              <a:t>DE</a:t>
            </a:r>
            <a:r>
              <a:rPr spc="-80" dirty="0"/>
              <a:t> </a:t>
            </a:r>
            <a:r>
              <a:rPr spc="-330" dirty="0"/>
              <a:t>USO</a:t>
            </a:r>
            <a:r>
              <a:rPr spc="-20" dirty="0"/>
              <a:t> </a:t>
            </a:r>
            <a:r>
              <a:rPr spc="-360" dirty="0"/>
              <a:t>COMUNES</a:t>
            </a:r>
            <a:r>
              <a:rPr spc="-15" dirty="0"/>
              <a:t> </a:t>
            </a:r>
            <a:r>
              <a:rPr spc="-195" dirty="0"/>
              <a:t>DE</a:t>
            </a:r>
            <a:r>
              <a:rPr spc="-65" dirty="0"/>
              <a:t>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25394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3.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80236" y="1110818"/>
            <a:ext cx="9432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CASOS</a:t>
            </a:r>
            <a:r>
              <a:rPr spc="-160" dirty="0"/>
              <a:t> </a:t>
            </a:r>
            <a:r>
              <a:rPr spc="-195" dirty="0"/>
              <a:t>DE</a:t>
            </a:r>
            <a:r>
              <a:rPr spc="-80" dirty="0"/>
              <a:t> </a:t>
            </a:r>
            <a:r>
              <a:rPr spc="-330" dirty="0"/>
              <a:t>USO</a:t>
            </a:r>
            <a:r>
              <a:rPr spc="-20" dirty="0"/>
              <a:t> </a:t>
            </a:r>
            <a:r>
              <a:rPr spc="-360" dirty="0"/>
              <a:t>COMUNES</a:t>
            </a:r>
            <a:r>
              <a:rPr spc="-15" dirty="0"/>
              <a:t> </a:t>
            </a:r>
            <a:r>
              <a:rPr spc="-195" dirty="0"/>
              <a:t>DE</a:t>
            </a:r>
            <a:r>
              <a:rPr spc="-65" dirty="0"/>
              <a:t> </a:t>
            </a:r>
            <a:r>
              <a:rPr spc="-10" dirty="0"/>
              <a:t>APACHE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827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Implementación</a:t>
            </a:r>
            <a:r>
              <a:rPr b="1" spc="36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b="1" spc="37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aplicaciones</a:t>
            </a:r>
            <a:r>
              <a:rPr b="1" spc="37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web:</a:t>
            </a:r>
            <a:r>
              <a:rPr b="1" spc="37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dirty="0"/>
              <a:t>Apache</a:t>
            </a:r>
            <a:r>
              <a:rPr spc="375" dirty="0"/>
              <a:t>  </a:t>
            </a:r>
            <a:r>
              <a:rPr dirty="0"/>
              <a:t>permite</a:t>
            </a:r>
            <a:r>
              <a:rPr spc="375" dirty="0"/>
              <a:t>  </a:t>
            </a:r>
            <a:r>
              <a:rPr dirty="0"/>
              <a:t>también</a:t>
            </a:r>
            <a:r>
              <a:rPr spc="380" dirty="0"/>
              <a:t>  </a:t>
            </a:r>
            <a:r>
              <a:rPr spc="-25" dirty="0"/>
              <a:t>la </a:t>
            </a:r>
            <a:r>
              <a:rPr dirty="0"/>
              <a:t>ejecución</a:t>
            </a:r>
            <a:r>
              <a:rPr spc="95" dirty="0"/>
              <a:t> </a:t>
            </a:r>
            <a:r>
              <a:rPr dirty="0"/>
              <a:t>de</a:t>
            </a:r>
            <a:r>
              <a:rPr spc="105" dirty="0"/>
              <a:t> </a:t>
            </a:r>
            <a:r>
              <a:rPr dirty="0"/>
              <a:t>lenguajes,</a:t>
            </a:r>
            <a:r>
              <a:rPr spc="114" dirty="0"/>
              <a:t> </a:t>
            </a:r>
            <a:r>
              <a:rPr dirty="0"/>
              <a:t>siendo</a:t>
            </a:r>
            <a:r>
              <a:rPr spc="105" dirty="0"/>
              <a:t> </a:t>
            </a:r>
            <a:r>
              <a:rPr dirty="0"/>
              <a:t>el</a:t>
            </a:r>
            <a:r>
              <a:rPr spc="105" dirty="0"/>
              <a:t> </a:t>
            </a:r>
            <a:r>
              <a:rPr dirty="0"/>
              <a:t>más</a:t>
            </a:r>
            <a:r>
              <a:rPr spc="105" dirty="0"/>
              <a:t> </a:t>
            </a:r>
            <a:r>
              <a:rPr dirty="0"/>
              <a:t>popular</a:t>
            </a:r>
            <a:r>
              <a:rPr spc="114" dirty="0"/>
              <a:t> </a:t>
            </a:r>
            <a:r>
              <a:rPr dirty="0"/>
              <a:t>PHP.</a:t>
            </a:r>
            <a:r>
              <a:rPr spc="110" dirty="0"/>
              <a:t> </a:t>
            </a:r>
            <a:r>
              <a:rPr dirty="0"/>
              <a:t>Gracias</a:t>
            </a:r>
            <a:r>
              <a:rPr spc="105" dirty="0"/>
              <a:t> </a:t>
            </a:r>
            <a:r>
              <a:rPr dirty="0"/>
              <a:t>a</a:t>
            </a:r>
            <a:r>
              <a:rPr spc="105" dirty="0"/>
              <a:t> </a:t>
            </a:r>
            <a:r>
              <a:rPr dirty="0"/>
              <a:t>ello,</a:t>
            </a:r>
            <a:r>
              <a:rPr spc="105" dirty="0"/>
              <a:t> </a:t>
            </a:r>
            <a:r>
              <a:rPr spc="-10" dirty="0"/>
              <a:t>además </a:t>
            </a:r>
            <a:r>
              <a:rPr dirty="0"/>
              <a:t>de</a:t>
            </a:r>
            <a:r>
              <a:rPr spc="70" dirty="0"/>
              <a:t>  </a:t>
            </a:r>
            <a:r>
              <a:rPr dirty="0"/>
              <a:t>páginas</a:t>
            </a:r>
            <a:r>
              <a:rPr spc="75" dirty="0"/>
              <a:t>  </a:t>
            </a:r>
            <a:r>
              <a:rPr dirty="0"/>
              <a:t>estáticas,</a:t>
            </a:r>
            <a:r>
              <a:rPr spc="80" dirty="0"/>
              <a:t>  </a:t>
            </a:r>
            <a:r>
              <a:rPr dirty="0"/>
              <a:t>puede</a:t>
            </a:r>
            <a:r>
              <a:rPr spc="70" dirty="0"/>
              <a:t>  </a:t>
            </a:r>
            <a:r>
              <a:rPr dirty="0"/>
              <a:t>servir</a:t>
            </a:r>
            <a:r>
              <a:rPr spc="80" dirty="0"/>
              <a:t>  </a:t>
            </a:r>
            <a:r>
              <a:rPr dirty="0"/>
              <a:t>de</a:t>
            </a:r>
            <a:r>
              <a:rPr spc="70" dirty="0"/>
              <a:t>  </a:t>
            </a:r>
            <a:r>
              <a:rPr dirty="0"/>
              <a:t>plataforma</a:t>
            </a:r>
            <a:r>
              <a:rPr spc="75" dirty="0"/>
              <a:t>  </a:t>
            </a:r>
            <a:r>
              <a:rPr dirty="0"/>
              <a:t>para</a:t>
            </a:r>
            <a:r>
              <a:rPr spc="75" dirty="0"/>
              <a:t>  </a:t>
            </a:r>
            <a:r>
              <a:rPr dirty="0"/>
              <a:t>blogs,</a:t>
            </a:r>
            <a:r>
              <a:rPr spc="75" dirty="0"/>
              <a:t>  </a:t>
            </a:r>
            <a:r>
              <a:rPr dirty="0"/>
              <a:t>sitios</a:t>
            </a:r>
            <a:r>
              <a:rPr spc="65" dirty="0"/>
              <a:t>  </a:t>
            </a:r>
            <a:r>
              <a:rPr spc="-25" dirty="0"/>
              <a:t>de </a:t>
            </a:r>
            <a:r>
              <a:rPr dirty="0"/>
              <a:t>comercio</a:t>
            </a:r>
            <a:r>
              <a:rPr spc="100" dirty="0"/>
              <a:t> </a:t>
            </a:r>
            <a:r>
              <a:rPr dirty="0"/>
              <a:t>electrónico</a:t>
            </a:r>
            <a:r>
              <a:rPr spc="125" dirty="0"/>
              <a:t> </a:t>
            </a:r>
            <a:r>
              <a:rPr dirty="0"/>
              <a:t>y</a:t>
            </a:r>
            <a:r>
              <a:rPr spc="110" dirty="0"/>
              <a:t> </a:t>
            </a:r>
            <a:r>
              <a:rPr dirty="0"/>
              <a:t>todo</a:t>
            </a:r>
            <a:r>
              <a:rPr spc="105" dirty="0"/>
              <a:t> </a:t>
            </a:r>
            <a:r>
              <a:rPr dirty="0"/>
              <a:t>tipo</a:t>
            </a:r>
            <a:r>
              <a:rPr spc="120" dirty="0"/>
              <a:t> </a:t>
            </a:r>
            <a:r>
              <a:rPr dirty="0"/>
              <a:t>de</a:t>
            </a:r>
            <a:r>
              <a:rPr spc="120" dirty="0"/>
              <a:t> </a:t>
            </a:r>
            <a:r>
              <a:rPr dirty="0"/>
              <a:t>aplicaciones</a:t>
            </a:r>
            <a:r>
              <a:rPr spc="114" dirty="0"/>
              <a:t> </a:t>
            </a:r>
            <a:r>
              <a:rPr dirty="0"/>
              <a:t>web.</a:t>
            </a:r>
            <a:r>
              <a:rPr spc="114" dirty="0"/>
              <a:t> </a:t>
            </a:r>
            <a:r>
              <a:rPr dirty="0"/>
              <a:t>Apache</a:t>
            </a:r>
            <a:r>
              <a:rPr spc="120" dirty="0"/>
              <a:t> </a:t>
            </a:r>
            <a:r>
              <a:rPr dirty="0"/>
              <a:t>es</a:t>
            </a:r>
            <a:r>
              <a:rPr spc="114" dirty="0"/>
              <a:t> </a:t>
            </a:r>
            <a:r>
              <a:rPr dirty="0"/>
              <a:t>uno</a:t>
            </a:r>
            <a:r>
              <a:rPr spc="125" dirty="0"/>
              <a:t> </a:t>
            </a:r>
            <a:r>
              <a:rPr dirty="0"/>
              <a:t>de</a:t>
            </a:r>
            <a:r>
              <a:rPr spc="120" dirty="0"/>
              <a:t> </a:t>
            </a:r>
            <a:r>
              <a:rPr spc="-25" dirty="0"/>
              <a:t>los </a:t>
            </a:r>
            <a:r>
              <a:rPr dirty="0"/>
              <a:t>componentes</a:t>
            </a:r>
            <a:r>
              <a:rPr spc="350" dirty="0"/>
              <a:t> </a:t>
            </a:r>
            <a:r>
              <a:rPr dirty="0"/>
              <a:t>principales</a:t>
            </a:r>
            <a:r>
              <a:rPr spc="375" dirty="0"/>
              <a:t> </a:t>
            </a:r>
            <a:r>
              <a:rPr dirty="0"/>
              <a:t>del</a:t>
            </a:r>
            <a:r>
              <a:rPr spc="365" dirty="0"/>
              <a:t> </a:t>
            </a:r>
            <a:r>
              <a:rPr dirty="0"/>
              <a:t>stack</a:t>
            </a:r>
            <a:r>
              <a:rPr spc="375" dirty="0"/>
              <a:t> </a:t>
            </a:r>
            <a:r>
              <a:rPr dirty="0"/>
              <a:t>LAMP</a:t>
            </a:r>
            <a:r>
              <a:rPr spc="325" dirty="0"/>
              <a:t> </a:t>
            </a:r>
            <a:r>
              <a:rPr dirty="0"/>
              <a:t>(Linux,</a:t>
            </a:r>
            <a:r>
              <a:rPr spc="380" dirty="0"/>
              <a:t> </a:t>
            </a:r>
            <a:r>
              <a:rPr dirty="0"/>
              <a:t>Apache,</a:t>
            </a:r>
            <a:r>
              <a:rPr spc="370" dirty="0"/>
              <a:t> </a:t>
            </a:r>
            <a:r>
              <a:rPr dirty="0"/>
              <a:t>MySQL</a:t>
            </a:r>
            <a:r>
              <a:rPr spc="280" dirty="0"/>
              <a:t> </a:t>
            </a:r>
            <a:r>
              <a:rPr dirty="0"/>
              <a:t>y</a:t>
            </a:r>
            <a:r>
              <a:rPr spc="370" dirty="0"/>
              <a:t> </a:t>
            </a:r>
            <a:r>
              <a:rPr spc="-10" dirty="0"/>
              <a:t>PHP), </a:t>
            </a:r>
            <a:r>
              <a:rPr dirty="0"/>
              <a:t>que</a:t>
            </a:r>
            <a:r>
              <a:rPr spc="-70" dirty="0"/>
              <a:t> </a:t>
            </a:r>
            <a:r>
              <a:rPr dirty="0"/>
              <a:t>es</a:t>
            </a:r>
            <a:r>
              <a:rPr spc="-80" dirty="0"/>
              <a:t> </a:t>
            </a:r>
            <a:r>
              <a:rPr dirty="0"/>
              <a:t>la</a:t>
            </a:r>
            <a:r>
              <a:rPr spc="-65" dirty="0"/>
              <a:t> </a:t>
            </a:r>
            <a:r>
              <a:rPr dirty="0"/>
              <a:t>base</a:t>
            </a:r>
            <a:r>
              <a:rPr spc="-80" dirty="0"/>
              <a:t> </a:t>
            </a:r>
            <a:r>
              <a:rPr dirty="0"/>
              <a:t>más</a:t>
            </a:r>
            <a:r>
              <a:rPr spc="-65" dirty="0"/>
              <a:t> </a:t>
            </a:r>
            <a:r>
              <a:rPr dirty="0"/>
              <a:t>popular</a:t>
            </a:r>
            <a:r>
              <a:rPr spc="-50" dirty="0"/>
              <a:t> </a:t>
            </a:r>
            <a:r>
              <a:rPr dirty="0"/>
              <a:t>para</a:t>
            </a:r>
            <a:r>
              <a:rPr spc="-75" dirty="0"/>
              <a:t> </a:t>
            </a:r>
            <a:r>
              <a:rPr dirty="0"/>
              <a:t>la</a:t>
            </a:r>
            <a:r>
              <a:rPr spc="-75" dirty="0"/>
              <a:t> </a:t>
            </a:r>
            <a:r>
              <a:rPr dirty="0"/>
              <a:t>implementación</a:t>
            </a:r>
            <a:r>
              <a:rPr spc="-5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aplicaciones</a:t>
            </a:r>
            <a:r>
              <a:rPr spc="-35" dirty="0"/>
              <a:t> </a:t>
            </a:r>
            <a:r>
              <a:rPr spc="-20" dirty="0"/>
              <a:t>web.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653" y="5962599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3749420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1.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3743325"/>
            <a:ext cx="1052004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Archivo</a:t>
            </a:r>
            <a:r>
              <a:rPr sz="2400" b="1" spc="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httpd.conf</a:t>
            </a:r>
            <a:r>
              <a:rPr sz="2400" b="1" spc="7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3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sus</a:t>
            </a:r>
            <a:r>
              <a:rPr sz="2400" b="1" spc="4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parámetros</a:t>
            </a:r>
            <a:r>
              <a:rPr sz="2400" b="1" spc="5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principales</a:t>
            </a:r>
            <a:r>
              <a:rPr sz="2400" b="1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2400" b="1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EF"/>
                </a:solidFill>
                <a:latin typeface="Arial MT"/>
                <a:cs typeface="Arial MT"/>
              </a:rPr>
              <a:t>httpd.conf</a:t>
            </a:r>
            <a:r>
              <a:rPr sz="2400" spc="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lugar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principal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configuración</a:t>
            </a:r>
            <a:r>
              <a:rPr sz="2400" spc="1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Apache.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Este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</a:t>
            </a:r>
            <a:r>
              <a:rPr sz="2400" spc="15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tiene</a:t>
            </a:r>
            <a:r>
              <a:rPr sz="2400" spc="16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las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globales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web,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afectan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funcionamiento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manera</a:t>
            </a:r>
            <a:r>
              <a:rPr sz="2400" spc="1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general.</a:t>
            </a:r>
            <a:r>
              <a:rPr sz="2400" spc="1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Dentro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este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archivo,</a:t>
            </a:r>
            <a:r>
              <a:rPr sz="2400" spc="1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puedes</a:t>
            </a:r>
            <a:r>
              <a:rPr sz="2400" spc="1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definir</a:t>
            </a:r>
            <a:r>
              <a:rPr sz="2400" spc="1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parámetros</a:t>
            </a:r>
            <a:r>
              <a:rPr sz="2400" spc="1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1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el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puerto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escucha,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directorio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raíz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documento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muchas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cosas.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Sin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embargo,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mayoría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personalizaciones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pueden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realizar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también,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o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sobreescribir,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nivel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dominio.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79039" y="775843"/>
            <a:ext cx="7233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DIRECTIVAS</a:t>
            </a:r>
            <a:r>
              <a:rPr spc="-45" dirty="0"/>
              <a:t> </a:t>
            </a:r>
            <a:r>
              <a:rPr spc="-385" dirty="0"/>
              <a:t>Y</a:t>
            </a:r>
            <a:r>
              <a:rPr dirty="0"/>
              <a:t> </a:t>
            </a:r>
            <a:r>
              <a:rPr spc="-225" dirty="0"/>
              <a:t>ARCHIVOS</a:t>
            </a:r>
            <a:r>
              <a:rPr spc="-20" dirty="0"/>
              <a:t> </a:t>
            </a:r>
            <a:r>
              <a:rPr spc="-114" dirty="0"/>
              <a:t>DE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653" y="1446098"/>
            <a:ext cx="10974705" cy="2196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05"/>
              </a:spcBef>
            </a:pPr>
            <a:r>
              <a:rPr sz="4400" spc="-305" dirty="0">
                <a:solidFill>
                  <a:srgbClr val="EE52A4"/>
                </a:solidFill>
                <a:latin typeface="Times New Roman"/>
                <a:cs typeface="Times New Roman"/>
              </a:rPr>
              <a:t>CONFIGURACIÓN</a:t>
            </a:r>
            <a:r>
              <a:rPr sz="4400" spc="-1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145" dirty="0">
                <a:solidFill>
                  <a:srgbClr val="EE52A4"/>
                </a:solidFill>
                <a:latin typeface="Times New Roman"/>
                <a:cs typeface="Times New Roman"/>
              </a:rPr>
              <a:t>BáSICA</a:t>
            </a:r>
            <a:r>
              <a:rPr sz="4400" spc="-3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-195" dirty="0">
                <a:solidFill>
                  <a:srgbClr val="EE52A4"/>
                </a:solidFill>
                <a:latin typeface="Times New Roman"/>
                <a:cs typeface="Times New Roman"/>
              </a:rPr>
              <a:t>DE</a:t>
            </a:r>
            <a:r>
              <a:rPr sz="4400" spc="-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EE52A4"/>
                </a:solidFill>
                <a:latin typeface="Times New Roman"/>
                <a:cs typeface="Times New Roman"/>
              </a:rPr>
              <a:t>APACHE</a:t>
            </a:r>
            <a:endParaRPr sz="4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3165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 configurar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hace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mediante la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edición de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archivos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texto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tienen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directivas</a:t>
            </a:r>
            <a:r>
              <a:rPr sz="2400" spc="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configuración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necesarias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personalizar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sistema.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25394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3250514"/>
            <a:ext cx="1051941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denominados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VirtualHosts.</a:t>
            </a:r>
            <a:r>
              <a:rPr sz="2400" spc="2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Estas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2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permiten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sobreescribir</a:t>
            </a:r>
            <a:r>
              <a:rPr sz="2400" spc="3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3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globales,</a:t>
            </a:r>
            <a:r>
              <a:rPr sz="2400" spc="3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ya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sea</a:t>
            </a:r>
            <a:r>
              <a:rPr sz="2400" spc="3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3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distintas</a:t>
            </a:r>
            <a:r>
              <a:rPr sz="2400" spc="3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IP</a:t>
            </a:r>
            <a:r>
              <a:rPr sz="2400" spc="3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para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distintos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nombres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dominio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asociados</a:t>
            </a:r>
            <a:r>
              <a:rPr sz="2400" spc="1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sitios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alojados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servidor.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4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4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podemos</a:t>
            </a:r>
            <a:r>
              <a:rPr sz="2400" spc="4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tener</a:t>
            </a:r>
            <a:r>
              <a:rPr sz="2400" spc="43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4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VirtualHost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diferentes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para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cada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proyecto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alojado,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aumenta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flexibilidad</a:t>
            </a:r>
            <a:r>
              <a:rPr sz="2400" spc="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web.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Además,</a:t>
            </a:r>
            <a:r>
              <a:rPr sz="2400" spc="434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virtualhost</a:t>
            </a:r>
            <a:r>
              <a:rPr sz="2400" spc="4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son</a:t>
            </a:r>
            <a:r>
              <a:rPr sz="2400" spc="4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fundamentales</a:t>
            </a:r>
            <a:r>
              <a:rPr sz="2400" spc="434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4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empresas</a:t>
            </a:r>
            <a:r>
              <a:rPr sz="2400" spc="4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alojamiento,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administradores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 servidores en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general,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ya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permiten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varios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dominios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puedan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estar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alojados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-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mismo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79039" y="775843"/>
            <a:ext cx="7233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DIRECTIVAS</a:t>
            </a:r>
            <a:r>
              <a:rPr spc="-45" dirty="0"/>
              <a:t> </a:t>
            </a:r>
            <a:r>
              <a:rPr spc="-385" dirty="0"/>
              <a:t>Y</a:t>
            </a:r>
            <a:r>
              <a:rPr dirty="0"/>
              <a:t> </a:t>
            </a:r>
            <a:r>
              <a:rPr spc="-225" dirty="0"/>
              <a:t>ARCHIVOS</a:t>
            </a:r>
            <a:r>
              <a:rPr spc="-20" dirty="0"/>
              <a:t> </a:t>
            </a:r>
            <a:r>
              <a:rPr spc="-114" dirty="0"/>
              <a:t>DE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3853" y="1446098"/>
            <a:ext cx="10516870" cy="183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5"/>
              </a:spcBef>
            </a:pPr>
            <a:r>
              <a:rPr sz="4400" spc="-305" dirty="0">
                <a:solidFill>
                  <a:srgbClr val="EE52A4"/>
                </a:solidFill>
                <a:latin typeface="Times New Roman"/>
                <a:cs typeface="Times New Roman"/>
              </a:rPr>
              <a:t>CONFIGURACIÓN</a:t>
            </a:r>
            <a:r>
              <a:rPr sz="4400" spc="-1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145" dirty="0">
                <a:solidFill>
                  <a:srgbClr val="EE52A4"/>
                </a:solidFill>
                <a:latin typeface="Times New Roman"/>
                <a:cs typeface="Times New Roman"/>
              </a:rPr>
              <a:t>BáSICA</a:t>
            </a:r>
            <a:r>
              <a:rPr sz="4400" spc="-3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-195" dirty="0">
                <a:solidFill>
                  <a:srgbClr val="EE52A4"/>
                </a:solidFill>
                <a:latin typeface="Times New Roman"/>
                <a:cs typeface="Times New Roman"/>
              </a:rPr>
              <a:t>DE</a:t>
            </a:r>
            <a:r>
              <a:rPr sz="4400" spc="-5" dirty="0">
                <a:solidFill>
                  <a:srgbClr val="EE52A4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EE52A4"/>
                </a:solidFill>
                <a:latin typeface="Times New Roman"/>
                <a:cs typeface="Times New Roman"/>
              </a:rPr>
              <a:t>APACHE</a:t>
            </a:r>
            <a:endParaRPr sz="4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3165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VirtualHosts</a:t>
            </a:r>
            <a:r>
              <a:rPr sz="2400" b="1" spc="114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10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configuración</a:t>
            </a:r>
            <a:r>
              <a:rPr sz="2400" b="1" spc="114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114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múltiples</a:t>
            </a:r>
            <a:r>
              <a:rPr sz="2400" b="1" spc="1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sitios:</a:t>
            </a:r>
            <a:r>
              <a:rPr sz="2400" b="1" spc="11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También</a:t>
            </a:r>
            <a:r>
              <a:rPr sz="2400" spc="11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fundamentales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son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nivel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dominio,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realizan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medio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92171"/>
            <a:ext cx="109759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seguridad</a:t>
            </a:r>
            <a:r>
              <a:rPr sz="2400" spc="1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uno</a:t>
            </a:r>
            <a:r>
              <a:rPr sz="2400" spc="1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aspectos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1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importantes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1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servidores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y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muy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consciente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ello.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ello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diversas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configuraciones.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3256533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1.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3853" y="3250438"/>
            <a:ext cx="105175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Gestión</a:t>
            </a:r>
            <a:r>
              <a:rPr sz="2400" b="1" spc="6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8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permisos</a:t>
            </a:r>
            <a:r>
              <a:rPr sz="2400" b="1" spc="9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5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accesos:</a:t>
            </a:r>
            <a:r>
              <a:rPr sz="2400" b="1" spc="9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una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gestión</a:t>
            </a:r>
            <a:r>
              <a:rPr sz="2400" spc="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detallada</a:t>
            </a:r>
            <a:r>
              <a:rPr sz="2400" spc="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permisos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19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múltiples</a:t>
            </a:r>
            <a:r>
              <a:rPr sz="2400" spc="1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niveles.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Mediante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directivas</a:t>
            </a:r>
            <a:r>
              <a:rPr sz="2400" spc="1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1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Directory</a:t>
            </a:r>
            <a:r>
              <a:rPr sz="2400" spc="19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posible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definir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quién</a:t>
            </a:r>
            <a:r>
              <a:rPr sz="2400" spc="3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</a:t>
            </a:r>
            <a:r>
              <a:rPr sz="2400" spc="3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acceder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qué</a:t>
            </a:r>
            <a:r>
              <a:rPr sz="2400" spc="3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partes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</a:t>
            </a:r>
            <a:r>
              <a:rPr sz="2400" spc="3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qué</a:t>
            </a:r>
            <a:r>
              <a:rPr sz="2400" spc="3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permisos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3853" y="4347413"/>
            <a:ext cx="1051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2355" algn="l"/>
                <a:tab pos="2367280" algn="l"/>
                <a:tab pos="2789555" algn="l"/>
                <a:tab pos="3837940" algn="l"/>
                <a:tab pos="4462780" algn="l"/>
                <a:tab pos="4902200" algn="l"/>
                <a:tab pos="5985510" algn="l"/>
                <a:tab pos="6526530" algn="l"/>
                <a:tab pos="7118350" algn="l"/>
                <a:tab pos="8542020" algn="l"/>
                <a:tab pos="8962390" algn="l"/>
                <a:tab pos="9486900" algn="l"/>
              </a:tabLst>
            </a:pP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puede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obtener,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si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puede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ver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listado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archivos,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si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653" y="5213730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3853" y="4585842"/>
            <a:ext cx="10520045" cy="21107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sobreescribir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permisos</a:t>
            </a:r>
            <a:r>
              <a:rPr sz="2400" spc="-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mediante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archivo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.htaccess,</a:t>
            </a:r>
            <a:r>
              <a:rPr sz="2400" spc="-10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Uso</a:t>
            </a:r>
            <a:r>
              <a:rPr sz="2400" b="1" spc="33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34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certificados</a:t>
            </a:r>
            <a:r>
              <a:rPr sz="2400" b="1" spc="33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SSL/TLS:</a:t>
            </a:r>
            <a:r>
              <a:rPr sz="2400" b="1" spc="3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posible</a:t>
            </a:r>
            <a:r>
              <a:rPr sz="2400" spc="3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usar</a:t>
            </a:r>
            <a:r>
              <a:rPr sz="2400" spc="3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certificados</a:t>
            </a:r>
            <a:r>
              <a:rPr sz="2400" spc="3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SSL/TLS</a:t>
            </a:r>
            <a:r>
              <a:rPr sz="2400" spc="3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para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garantizar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las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transmisiones</a:t>
            </a:r>
            <a:r>
              <a:rPr sz="2400" spc="2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entre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cliente</a:t>
            </a:r>
            <a:r>
              <a:rPr sz="2400" spc="2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2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son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seguras.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Estas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configuraciones son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necesarias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pueda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acceder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sitios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HTTPS.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95676" y="1071194"/>
            <a:ext cx="6196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SEGURIDAD</a:t>
            </a:r>
            <a:r>
              <a:rPr spc="-75" dirty="0"/>
              <a:t> </a:t>
            </a:r>
            <a:r>
              <a:rPr spc="-195" dirty="0"/>
              <a:t>DE</a:t>
            </a:r>
            <a:r>
              <a:rPr spc="-50" dirty="0"/>
              <a:t> </a:t>
            </a:r>
            <a:r>
              <a:rPr spc="-35" dirty="0"/>
              <a:t>APACHE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98268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1.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2392171"/>
            <a:ext cx="1052004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Caché</a:t>
            </a:r>
            <a:r>
              <a:rPr sz="2400" b="1" spc="3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sz="2400" b="1" spc="45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contenido</a:t>
            </a:r>
            <a:r>
              <a:rPr sz="2400" b="1" spc="40" dirty="0">
                <a:solidFill>
                  <a:srgbClr val="EE52A4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estático</a:t>
            </a:r>
            <a:r>
              <a:rPr sz="2400" b="1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2400" b="1" spc="40" dirty="0">
                <a:solidFill>
                  <a:srgbClr val="1E1E1E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cacheo</a:t>
            </a:r>
            <a:r>
              <a:rPr sz="2400" spc="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contenido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estático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puede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mejorar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manera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significativa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velocidad</a:t>
            </a:r>
            <a:r>
              <a:rPr sz="2400" spc="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sitio.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contenido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estático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aquel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no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necesita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generarse dinámicamente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su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almacenamiento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caché</a:t>
            </a:r>
            <a:r>
              <a:rPr sz="2400" spc="2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permite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pueda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servir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una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manera</a:t>
            </a:r>
            <a:r>
              <a:rPr sz="2400" spc="2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rápida,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vez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aumenta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rendimiento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del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web.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Además,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habilita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caché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navegador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consigue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una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mayor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velocidad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navegación</a:t>
            </a:r>
            <a:r>
              <a:rPr sz="2400" spc="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ya</a:t>
            </a:r>
            <a:r>
              <a:rPr sz="2400" spc="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no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necesario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0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cliente</a:t>
            </a:r>
            <a:r>
              <a:rPr sz="2400" spc="20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necesite</a:t>
            </a:r>
            <a:r>
              <a:rPr sz="2400" spc="2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descargar</a:t>
            </a:r>
            <a:r>
              <a:rPr sz="2400" spc="20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nuevo</a:t>
            </a:r>
            <a:r>
              <a:rPr sz="2400" spc="20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contenido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20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del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dispone.</a:t>
            </a:r>
            <a:r>
              <a:rPr sz="2400" spc="5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Existen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diversos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módulos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habilitar</a:t>
            </a:r>
            <a:r>
              <a:rPr sz="2400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caché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Apache,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-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mod_cache,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mod_expires</a:t>
            </a:r>
            <a:r>
              <a:rPr sz="2400" spc="-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-1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mod_headers.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2239" y="736219"/>
            <a:ext cx="93649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0129" marR="5080" indent="-3568065">
              <a:lnSpc>
                <a:spcPct val="100000"/>
              </a:lnSpc>
              <a:spcBef>
                <a:spcPts val="105"/>
              </a:spcBef>
            </a:pPr>
            <a:r>
              <a:rPr spc="-500" dirty="0"/>
              <a:t>CÓMO</a:t>
            </a:r>
            <a:r>
              <a:rPr dirty="0"/>
              <a:t> </a:t>
            </a:r>
            <a:r>
              <a:rPr spc="-100" dirty="0"/>
              <a:t>MEJORAR</a:t>
            </a:r>
            <a:r>
              <a:rPr spc="-175" dirty="0"/>
              <a:t> </a:t>
            </a:r>
            <a:r>
              <a:rPr spc="-10" dirty="0"/>
              <a:t>EL</a:t>
            </a:r>
            <a:r>
              <a:rPr spc="-220" dirty="0"/>
              <a:t> </a:t>
            </a:r>
            <a:r>
              <a:rPr spc="-295" dirty="0"/>
              <a:t>RENDIMIENTO</a:t>
            </a:r>
            <a:r>
              <a:rPr spc="5" dirty="0"/>
              <a:t> </a:t>
            </a:r>
            <a:r>
              <a:rPr spc="-35" dirty="0"/>
              <a:t>DE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98268"/>
            <a:ext cx="2292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5" dirty="0">
                <a:solidFill>
                  <a:srgbClr val="B31166"/>
                </a:solidFill>
                <a:latin typeface="Arial"/>
                <a:cs typeface="Arial"/>
              </a:rPr>
              <a:t>2.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2239" y="736219"/>
            <a:ext cx="93649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0129" marR="5080" indent="-3568065">
              <a:lnSpc>
                <a:spcPct val="100000"/>
              </a:lnSpc>
              <a:spcBef>
                <a:spcPts val="105"/>
              </a:spcBef>
            </a:pPr>
            <a:r>
              <a:rPr spc="-500" dirty="0"/>
              <a:t>CÓMO</a:t>
            </a:r>
            <a:r>
              <a:rPr dirty="0"/>
              <a:t> </a:t>
            </a:r>
            <a:r>
              <a:rPr spc="-100" dirty="0"/>
              <a:t>MEJORAR</a:t>
            </a:r>
            <a:r>
              <a:rPr spc="-175" dirty="0"/>
              <a:t> </a:t>
            </a:r>
            <a:r>
              <a:rPr spc="-10" dirty="0"/>
              <a:t>EL</a:t>
            </a:r>
            <a:r>
              <a:rPr spc="-220" dirty="0"/>
              <a:t> </a:t>
            </a:r>
            <a:r>
              <a:rPr spc="-295" dirty="0"/>
              <a:t>RENDIMIENTO</a:t>
            </a:r>
            <a:r>
              <a:rPr spc="5" dirty="0"/>
              <a:t> </a:t>
            </a:r>
            <a:r>
              <a:rPr spc="-35" dirty="0"/>
              <a:t>DE </a:t>
            </a:r>
            <a:r>
              <a:rPr spc="-10" dirty="0"/>
              <a:t>APACHE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Ajustes</a:t>
            </a:r>
            <a:r>
              <a:rPr b="1" spc="29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de</a:t>
            </a:r>
            <a:r>
              <a:rPr b="1" spc="30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rendimiento</a:t>
            </a:r>
            <a:r>
              <a:rPr b="1" spc="3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del</a:t>
            </a:r>
            <a:r>
              <a:rPr b="1" spc="29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EE52A4"/>
                </a:solidFill>
                <a:latin typeface="Arial"/>
                <a:cs typeface="Arial"/>
              </a:rPr>
              <a:t>servidor:</a:t>
            </a:r>
            <a:r>
              <a:rPr b="1" spc="30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dirty="0"/>
              <a:t>Además</a:t>
            </a:r>
            <a:r>
              <a:rPr spc="300" dirty="0"/>
              <a:t> </a:t>
            </a:r>
            <a:r>
              <a:rPr dirty="0"/>
              <a:t>de</a:t>
            </a:r>
            <a:r>
              <a:rPr spc="310" dirty="0"/>
              <a:t> </a:t>
            </a:r>
            <a:r>
              <a:rPr dirty="0"/>
              <a:t>la</a:t>
            </a:r>
            <a:r>
              <a:rPr spc="300" dirty="0"/>
              <a:t> </a:t>
            </a:r>
            <a:r>
              <a:rPr dirty="0"/>
              <a:t>caché</a:t>
            </a:r>
            <a:r>
              <a:rPr spc="300" dirty="0"/>
              <a:t> </a:t>
            </a:r>
            <a:r>
              <a:rPr dirty="0"/>
              <a:t>del</a:t>
            </a:r>
            <a:r>
              <a:rPr spc="300" dirty="0"/>
              <a:t> </a:t>
            </a:r>
            <a:r>
              <a:rPr spc="-10" dirty="0"/>
              <a:t>contenido </a:t>
            </a:r>
            <a:r>
              <a:rPr dirty="0"/>
              <a:t>existen</a:t>
            </a:r>
            <a:r>
              <a:rPr spc="-60" dirty="0"/>
              <a:t> </a:t>
            </a:r>
            <a:r>
              <a:rPr dirty="0"/>
              <a:t>otras</a:t>
            </a:r>
            <a:r>
              <a:rPr spc="-30" dirty="0"/>
              <a:t> </a:t>
            </a:r>
            <a:r>
              <a:rPr dirty="0"/>
              <a:t>configuraciones</a:t>
            </a:r>
            <a:r>
              <a:rPr spc="-30" dirty="0"/>
              <a:t> </a:t>
            </a:r>
            <a:r>
              <a:rPr dirty="0"/>
              <a:t>que</a:t>
            </a:r>
            <a:r>
              <a:rPr spc="-35" dirty="0"/>
              <a:t> </a:t>
            </a:r>
            <a:r>
              <a:rPr dirty="0"/>
              <a:t>se</a:t>
            </a:r>
            <a:r>
              <a:rPr spc="-40" dirty="0"/>
              <a:t> </a:t>
            </a:r>
            <a:r>
              <a:rPr dirty="0"/>
              <a:t>pueden</a:t>
            </a:r>
            <a:r>
              <a:rPr spc="-30" dirty="0"/>
              <a:t> </a:t>
            </a:r>
            <a:r>
              <a:rPr spc="-10" dirty="0"/>
              <a:t>realizar,</a:t>
            </a:r>
            <a:r>
              <a:rPr spc="-45" dirty="0"/>
              <a:t> </a:t>
            </a:r>
            <a:r>
              <a:rPr dirty="0"/>
              <a:t>por</a:t>
            </a:r>
            <a:r>
              <a:rPr spc="-35" dirty="0"/>
              <a:t> </a:t>
            </a:r>
            <a:r>
              <a:rPr dirty="0"/>
              <a:t>medio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directivas </a:t>
            </a:r>
            <a:r>
              <a:rPr dirty="0"/>
              <a:t>y</a:t>
            </a:r>
            <a:r>
              <a:rPr spc="-45" dirty="0"/>
              <a:t> </a:t>
            </a:r>
            <a:r>
              <a:rPr dirty="0"/>
              <a:t>parámetros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configuración,</a:t>
            </a:r>
            <a:r>
              <a:rPr spc="-25" dirty="0"/>
              <a:t> </a:t>
            </a:r>
            <a:r>
              <a:rPr dirty="0"/>
              <a:t>con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objetivo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aumentar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rendimiento</a:t>
            </a:r>
            <a:r>
              <a:rPr spc="-35" dirty="0"/>
              <a:t> </a:t>
            </a:r>
            <a:r>
              <a:rPr spc="-25" dirty="0"/>
              <a:t>de </a:t>
            </a:r>
            <a:r>
              <a:rPr dirty="0"/>
              <a:t>Apache</a:t>
            </a:r>
            <a:r>
              <a:rPr spc="75" dirty="0"/>
              <a:t>  </a:t>
            </a:r>
            <a:r>
              <a:rPr dirty="0"/>
              <a:t>y</a:t>
            </a:r>
            <a:r>
              <a:rPr spc="95" dirty="0"/>
              <a:t>  </a:t>
            </a:r>
            <a:r>
              <a:rPr dirty="0"/>
              <a:t>conseguir</a:t>
            </a:r>
            <a:r>
              <a:rPr spc="85" dirty="0"/>
              <a:t>  </a:t>
            </a:r>
            <a:r>
              <a:rPr dirty="0"/>
              <a:t>que</a:t>
            </a:r>
            <a:r>
              <a:rPr spc="85" dirty="0"/>
              <a:t>  </a:t>
            </a:r>
            <a:r>
              <a:rPr dirty="0"/>
              <a:t>aumente</a:t>
            </a:r>
            <a:r>
              <a:rPr spc="85" dirty="0"/>
              <a:t>  </a:t>
            </a:r>
            <a:r>
              <a:rPr dirty="0"/>
              <a:t>la</a:t>
            </a:r>
            <a:r>
              <a:rPr spc="85" dirty="0"/>
              <a:t>  </a:t>
            </a:r>
            <a:r>
              <a:rPr dirty="0"/>
              <a:t>capacidad</a:t>
            </a:r>
            <a:r>
              <a:rPr spc="85" dirty="0"/>
              <a:t>  </a:t>
            </a:r>
            <a:r>
              <a:rPr dirty="0"/>
              <a:t>de</a:t>
            </a:r>
            <a:r>
              <a:rPr spc="85" dirty="0"/>
              <a:t>  </a:t>
            </a:r>
            <a:r>
              <a:rPr dirty="0"/>
              <a:t>carga</a:t>
            </a:r>
            <a:r>
              <a:rPr spc="85" dirty="0"/>
              <a:t>  </a:t>
            </a:r>
            <a:r>
              <a:rPr dirty="0"/>
              <a:t>del</a:t>
            </a:r>
            <a:r>
              <a:rPr spc="80" dirty="0"/>
              <a:t>  </a:t>
            </a:r>
            <a:r>
              <a:rPr spc="-10" dirty="0"/>
              <a:t>servidor. </a:t>
            </a:r>
            <a:r>
              <a:rPr dirty="0"/>
              <a:t>Ejemplos</a:t>
            </a:r>
            <a:r>
              <a:rPr spc="50" dirty="0"/>
              <a:t> </a:t>
            </a:r>
            <a:r>
              <a:rPr dirty="0"/>
              <a:t>de</a:t>
            </a:r>
            <a:r>
              <a:rPr spc="60" dirty="0"/>
              <a:t> </a:t>
            </a:r>
            <a:r>
              <a:rPr dirty="0"/>
              <a:t>configuraciones</a:t>
            </a:r>
            <a:r>
              <a:rPr spc="60" dirty="0"/>
              <a:t> </a:t>
            </a:r>
            <a:r>
              <a:rPr dirty="0"/>
              <a:t>que</a:t>
            </a:r>
            <a:r>
              <a:rPr spc="70" dirty="0"/>
              <a:t> </a:t>
            </a:r>
            <a:r>
              <a:rPr dirty="0"/>
              <a:t>se</a:t>
            </a:r>
            <a:r>
              <a:rPr spc="50" dirty="0"/>
              <a:t> </a:t>
            </a:r>
            <a:r>
              <a:rPr dirty="0"/>
              <a:t>pueden</a:t>
            </a:r>
            <a:r>
              <a:rPr spc="70" dirty="0"/>
              <a:t> </a:t>
            </a:r>
            <a:r>
              <a:rPr dirty="0"/>
              <a:t>realizar</a:t>
            </a:r>
            <a:r>
              <a:rPr spc="65" dirty="0"/>
              <a:t> </a:t>
            </a:r>
            <a:r>
              <a:rPr dirty="0"/>
              <a:t>son</a:t>
            </a:r>
            <a:r>
              <a:rPr spc="50" dirty="0"/>
              <a:t> </a:t>
            </a:r>
            <a:r>
              <a:rPr dirty="0"/>
              <a:t>la</a:t>
            </a:r>
            <a:r>
              <a:rPr spc="60" dirty="0"/>
              <a:t> </a:t>
            </a:r>
            <a:r>
              <a:rPr dirty="0"/>
              <a:t>configuración</a:t>
            </a:r>
            <a:r>
              <a:rPr spc="65" dirty="0"/>
              <a:t> </a:t>
            </a:r>
            <a:r>
              <a:rPr spc="-25" dirty="0"/>
              <a:t>de </a:t>
            </a:r>
            <a:r>
              <a:rPr dirty="0"/>
              <a:t>MPM</a:t>
            </a:r>
            <a:r>
              <a:rPr spc="355" dirty="0"/>
              <a:t> </a:t>
            </a:r>
            <a:r>
              <a:rPr spc="-20" dirty="0"/>
              <a:t>(Multi-</a:t>
            </a:r>
            <a:r>
              <a:rPr dirty="0"/>
              <a:t>Processing</a:t>
            </a:r>
            <a:r>
              <a:rPr spc="365" dirty="0"/>
              <a:t> </a:t>
            </a:r>
            <a:r>
              <a:rPr dirty="0"/>
              <a:t>Module),</a:t>
            </a:r>
            <a:r>
              <a:rPr spc="370" dirty="0"/>
              <a:t> </a:t>
            </a:r>
            <a:r>
              <a:rPr dirty="0"/>
              <a:t>habilitar</a:t>
            </a:r>
            <a:r>
              <a:rPr spc="365" dirty="0"/>
              <a:t> </a:t>
            </a:r>
            <a:r>
              <a:rPr dirty="0"/>
              <a:t>la</a:t>
            </a:r>
            <a:r>
              <a:rPr spc="355" dirty="0"/>
              <a:t> </a:t>
            </a:r>
            <a:r>
              <a:rPr dirty="0"/>
              <a:t>compresión</a:t>
            </a:r>
            <a:r>
              <a:rPr spc="360" dirty="0"/>
              <a:t> </a:t>
            </a:r>
            <a:r>
              <a:rPr dirty="0"/>
              <a:t>del</a:t>
            </a:r>
            <a:r>
              <a:rPr spc="355" dirty="0"/>
              <a:t> </a:t>
            </a:r>
            <a:r>
              <a:rPr dirty="0"/>
              <a:t>contenido</a:t>
            </a:r>
            <a:r>
              <a:rPr spc="365" dirty="0"/>
              <a:t> </a:t>
            </a:r>
            <a:r>
              <a:rPr spc="-25" dirty="0"/>
              <a:t>con </a:t>
            </a:r>
            <a:r>
              <a:rPr dirty="0"/>
              <a:t>mod_deflate,</a:t>
            </a:r>
            <a:r>
              <a:rPr spc="204" dirty="0"/>
              <a:t>  </a:t>
            </a:r>
            <a:r>
              <a:rPr dirty="0"/>
              <a:t>eliminar</a:t>
            </a:r>
            <a:r>
              <a:rPr spc="210" dirty="0"/>
              <a:t>  </a:t>
            </a:r>
            <a:r>
              <a:rPr dirty="0"/>
              <a:t>el</a:t>
            </a:r>
            <a:r>
              <a:rPr spc="200" dirty="0"/>
              <a:t>  </a:t>
            </a:r>
            <a:r>
              <a:rPr dirty="0"/>
              <a:t>soporte</a:t>
            </a:r>
            <a:r>
              <a:rPr spc="200" dirty="0"/>
              <a:t>  </a:t>
            </a:r>
            <a:r>
              <a:rPr dirty="0"/>
              <a:t>para</a:t>
            </a:r>
            <a:r>
              <a:rPr spc="204" dirty="0"/>
              <a:t>  </a:t>
            </a:r>
            <a:r>
              <a:rPr dirty="0"/>
              <a:t>.htaccess,</a:t>
            </a:r>
            <a:r>
              <a:rPr spc="204" dirty="0"/>
              <a:t>  </a:t>
            </a:r>
            <a:r>
              <a:rPr dirty="0"/>
              <a:t>eliminar</a:t>
            </a:r>
            <a:r>
              <a:rPr spc="204" dirty="0"/>
              <a:t>  </a:t>
            </a:r>
            <a:r>
              <a:rPr dirty="0"/>
              <a:t>módulos</a:t>
            </a:r>
            <a:r>
              <a:rPr spc="204" dirty="0"/>
              <a:t>  </a:t>
            </a:r>
            <a:r>
              <a:rPr spc="-25" dirty="0"/>
              <a:t>no </a:t>
            </a:r>
            <a:r>
              <a:rPr dirty="0"/>
              <a:t>utilizados,</a:t>
            </a:r>
            <a:r>
              <a:rPr spc="-85" dirty="0"/>
              <a:t> </a:t>
            </a:r>
            <a:r>
              <a:rPr spc="-20" dirty="0"/>
              <a:t>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92171"/>
            <a:ext cx="10974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135" algn="l"/>
                <a:tab pos="1692275" algn="l"/>
                <a:tab pos="2089785" algn="l"/>
                <a:tab pos="3338195" algn="l"/>
                <a:tab pos="4057650" algn="l"/>
                <a:tab pos="4795520" algn="l"/>
                <a:tab pos="6075680" algn="l"/>
                <a:tab pos="6575425" algn="l"/>
                <a:tab pos="6974840" algn="l"/>
                <a:tab pos="8154670" algn="l"/>
                <a:tab pos="8704580" algn="l"/>
                <a:tab pos="10068560" algn="l"/>
                <a:tab pos="10570845" algn="l"/>
              </a:tabLst>
            </a:pP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utilizado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el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mundo,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sin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embargo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2757627"/>
            <a:ext cx="10974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3815" algn="l"/>
                <a:tab pos="2312035" algn="l"/>
                <a:tab pos="3327400" algn="l"/>
                <a:tab pos="5071110" algn="l"/>
                <a:tab pos="5729605" algn="l"/>
                <a:tab pos="6574155" algn="l"/>
                <a:tab pos="8234045" algn="l"/>
                <a:tab pos="9317355" algn="l"/>
              </a:tabLst>
            </a:pP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últimos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años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otros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servidores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han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postulado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alternativas,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2997454"/>
            <a:ext cx="5464810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principalmente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Nginx.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NGINX</a:t>
            </a:r>
            <a:r>
              <a:rPr sz="2400" b="1" spc="-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y</a:t>
            </a:r>
            <a:r>
              <a:rPr sz="2400" b="1" spc="-4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su</a:t>
            </a:r>
            <a:r>
              <a:rPr sz="2400" b="1" spc="-2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comparación</a:t>
            </a:r>
            <a:r>
              <a:rPr sz="2400" b="1" spc="-2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con</a:t>
            </a:r>
            <a:r>
              <a:rPr sz="2400" b="1" spc="-1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EE52A4"/>
                </a:solidFill>
                <a:latin typeface="Arial"/>
                <a:cs typeface="Arial"/>
              </a:rPr>
              <a:t>Apache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653" y="4109973"/>
            <a:ext cx="1097597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NGINX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otro</a:t>
            </a:r>
            <a:r>
              <a:rPr sz="2400" spc="1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1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web</a:t>
            </a:r>
            <a:r>
              <a:rPr sz="2400" spc="1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muy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popular.</a:t>
            </a:r>
            <a:r>
              <a:rPr sz="2400" spc="13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1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1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sirve</a:t>
            </a:r>
            <a:r>
              <a:rPr sz="2400" spc="13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14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las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comunicaciones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HTTP</a:t>
            </a:r>
            <a:r>
              <a:rPr sz="2400" spc="5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presentar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algunas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ventajas.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principio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una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alternativa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bastante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más</a:t>
            </a:r>
            <a:r>
              <a:rPr sz="2400" spc="254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madura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mayores</a:t>
            </a:r>
            <a:r>
              <a:rPr sz="2400" spc="2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capacidades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configuración,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pero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donde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NGINX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puede</a:t>
            </a:r>
            <a:r>
              <a:rPr sz="2400" spc="2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obtener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ventaja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20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15" dirty="0">
                <a:solidFill>
                  <a:srgbClr val="1E1E1E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el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rendimiento</a:t>
            </a:r>
            <a:r>
              <a:rPr sz="2400" spc="229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habilidad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229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manejar</a:t>
            </a:r>
            <a:r>
              <a:rPr sz="2400" spc="2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muchas</a:t>
            </a:r>
            <a:r>
              <a:rPr sz="2400" spc="2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conexiones</a:t>
            </a:r>
            <a:r>
              <a:rPr sz="2400" spc="229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simultáneas</a:t>
            </a:r>
            <a:r>
              <a:rPr sz="2400" spc="2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con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pocos</a:t>
            </a:r>
            <a:r>
              <a:rPr sz="2400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recursos.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8471" y="1071194"/>
            <a:ext cx="9939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OTRAS</a:t>
            </a:r>
            <a:r>
              <a:rPr spc="-100" dirty="0"/>
              <a:t> </a:t>
            </a:r>
            <a:r>
              <a:rPr spc="-215" dirty="0"/>
              <a:t>OPCIONES</a:t>
            </a:r>
            <a:r>
              <a:rPr spc="-60" dirty="0"/>
              <a:t> </a:t>
            </a:r>
            <a:r>
              <a:rPr spc="-195" dirty="0"/>
              <a:t>DE</a:t>
            </a:r>
            <a:r>
              <a:rPr spc="-75" dirty="0"/>
              <a:t> </a:t>
            </a:r>
            <a:r>
              <a:rPr spc="-190" dirty="0"/>
              <a:t>SERVIDORES</a:t>
            </a:r>
            <a:r>
              <a:rPr spc="-70" dirty="0"/>
              <a:t> </a:t>
            </a:r>
            <a:r>
              <a:rPr spc="-295" dirty="0"/>
              <a:t>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92171"/>
            <a:ext cx="1097724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La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diferencia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fundamental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entre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ambos</a:t>
            </a:r>
            <a:r>
              <a:rPr sz="2400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servidores</a:t>
            </a:r>
            <a:r>
              <a:rPr sz="2400" spc="-6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es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Apache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crea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nuevo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proceso</a:t>
            </a:r>
            <a:r>
              <a:rPr sz="2400" spc="4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4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hilo</a:t>
            </a:r>
            <a:r>
              <a:rPr sz="2400" spc="46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para</a:t>
            </a:r>
            <a:r>
              <a:rPr sz="2400" spc="4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cada</a:t>
            </a:r>
            <a:r>
              <a:rPr sz="2400" spc="4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conexión</a:t>
            </a:r>
            <a:r>
              <a:rPr sz="2400" spc="4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recibida,</a:t>
            </a:r>
            <a:r>
              <a:rPr sz="2400" spc="4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mientras</a:t>
            </a:r>
            <a:r>
              <a:rPr sz="2400" spc="4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que</a:t>
            </a:r>
            <a:r>
              <a:rPr sz="2400" spc="47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NGINX</a:t>
            </a:r>
            <a:r>
              <a:rPr sz="2400" b="1" spc="47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utiliza</a:t>
            </a:r>
            <a:r>
              <a:rPr sz="2400" b="1" spc="45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EE52A4"/>
                </a:solidFill>
                <a:latin typeface="Arial"/>
                <a:cs typeface="Arial"/>
              </a:rPr>
              <a:t>un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modelo</a:t>
            </a:r>
            <a:r>
              <a:rPr sz="2400" b="1" spc="-3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basado</a:t>
            </a:r>
            <a:r>
              <a:rPr sz="2400" b="1" spc="-15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en</a:t>
            </a:r>
            <a:r>
              <a:rPr sz="2400" b="1" spc="-2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eventos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,</a:t>
            </a:r>
            <a:r>
              <a:rPr sz="2400" spc="-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siendo</a:t>
            </a:r>
            <a:r>
              <a:rPr sz="2400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tanto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un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asíncrono.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ello </a:t>
            </a:r>
            <a:r>
              <a:rPr sz="2400" spc="-25" dirty="0">
                <a:solidFill>
                  <a:srgbClr val="1E1E1E"/>
                </a:solidFill>
                <a:latin typeface="Arial MT"/>
                <a:cs typeface="Arial MT"/>
              </a:rPr>
              <a:t>es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muy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usado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entornos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servidor</a:t>
            </a:r>
            <a:r>
              <a:rPr sz="2400" spc="5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donde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se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tiene</a:t>
            </a:r>
            <a:r>
              <a:rPr sz="2400" spc="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menos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cantidad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2400" spc="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recursos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o</a:t>
            </a:r>
            <a:r>
              <a:rPr sz="2400" spc="-8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conjunto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tecnologías</a:t>
            </a:r>
            <a:r>
              <a:rPr sz="2400" spc="-5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asíncronas</a:t>
            </a:r>
            <a:r>
              <a:rPr sz="2400" spc="-8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E1E1E"/>
                </a:solidFill>
                <a:latin typeface="Arial MT"/>
                <a:cs typeface="Arial MT"/>
              </a:rPr>
              <a:t>como</a:t>
            </a:r>
            <a:r>
              <a:rPr sz="2400" spc="-7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E1E1E"/>
                </a:solidFill>
                <a:latin typeface="Arial MT"/>
                <a:cs typeface="Arial MT"/>
              </a:rPr>
              <a:t>NodeJS.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6456070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28471" y="1071194"/>
            <a:ext cx="9939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OTRAS</a:t>
            </a:r>
            <a:r>
              <a:rPr spc="-100" dirty="0"/>
              <a:t> </a:t>
            </a:r>
            <a:r>
              <a:rPr spc="-215" dirty="0"/>
              <a:t>OPCIONES</a:t>
            </a:r>
            <a:r>
              <a:rPr spc="-60" dirty="0"/>
              <a:t> </a:t>
            </a:r>
            <a:r>
              <a:rPr spc="-195" dirty="0"/>
              <a:t>DE</a:t>
            </a:r>
            <a:r>
              <a:rPr spc="-75" dirty="0"/>
              <a:t> </a:t>
            </a:r>
            <a:r>
              <a:rPr spc="-190" dirty="0"/>
              <a:t>SERVIDORES</a:t>
            </a:r>
            <a:r>
              <a:rPr spc="-70" dirty="0"/>
              <a:t> </a:t>
            </a:r>
            <a:r>
              <a:rPr spc="-295" dirty="0"/>
              <a:t>WEB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413508"/>
            <a:ext cx="109759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Gran</a:t>
            </a:r>
            <a:r>
              <a:rPr sz="2400" spc="31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parte</a:t>
            </a:r>
            <a:r>
              <a:rPr sz="2400" spc="31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31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los</a:t>
            </a:r>
            <a:r>
              <a:rPr sz="2400" spc="32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desarrolladores</a:t>
            </a:r>
            <a:r>
              <a:rPr sz="2400" spc="32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32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software</a:t>
            </a:r>
            <a:r>
              <a:rPr sz="2400" spc="31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empiezan</a:t>
            </a:r>
            <a:r>
              <a:rPr sz="2400" spc="32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desarrollando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aplicaciones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web.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poder</a:t>
            </a:r>
            <a:r>
              <a:rPr sz="2400" spc="4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desplegar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una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aplicación</a:t>
            </a:r>
            <a:r>
              <a:rPr sz="2400" spc="4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web</a:t>
            </a:r>
            <a:r>
              <a:rPr sz="2400" spc="3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dentro</a:t>
            </a:r>
            <a:r>
              <a:rPr sz="2400" spc="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4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spc="-25" dirty="0">
                <a:solidFill>
                  <a:srgbClr val="171717"/>
                </a:solidFill>
                <a:latin typeface="Arial MT"/>
                <a:cs typeface="Arial MT"/>
              </a:rPr>
              <a:t>un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</a:t>
            </a:r>
            <a:r>
              <a:rPr sz="2400" spc="1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web</a:t>
            </a:r>
            <a:r>
              <a:rPr sz="2400" spc="1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y</a:t>
            </a:r>
            <a:r>
              <a:rPr sz="2400" spc="1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poder</a:t>
            </a:r>
            <a:r>
              <a:rPr sz="2400" spc="1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simular</a:t>
            </a:r>
            <a:r>
              <a:rPr sz="2400" spc="1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su</a:t>
            </a:r>
            <a:r>
              <a:rPr sz="2400" spc="1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comportamiento</a:t>
            </a:r>
            <a:r>
              <a:rPr sz="2400" spc="1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naturalmente</a:t>
            </a:r>
            <a:r>
              <a:rPr sz="2400" spc="1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necesitamos</a:t>
            </a:r>
            <a:r>
              <a:rPr sz="2400" spc="1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71717"/>
                </a:solidFill>
                <a:latin typeface="Arial MT"/>
                <a:cs typeface="Arial MT"/>
              </a:rPr>
              <a:t>un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</a:t>
            </a:r>
            <a:r>
              <a:rPr sz="2400" spc="-6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web</a:t>
            </a:r>
            <a:r>
              <a:rPr sz="2400" spc="-7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instalado.</a:t>
            </a:r>
            <a:r>
              <a:rPr sz="2400" spc="-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Veremos</a:t>
            </a:r>
            <a:r>
              <a:rPr sz="2400" spc="-7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Apache</a:t>
            </a:r>
            <a:r>
              <a:rPr sz="24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Nginx.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6089700"/>
            <a:ext cx="1104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1E1E1E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8686" rIns="0" bIns="0" rtlCol="0">
            <a:spAutoFit/>
          </a:bodyPr>
          <a:lstStyle/>
          <a:p>
            <a:pPr marL="3080385">
              <a:lnSpc>
                <a:spcPct val="100000"/>
              </a:lnSpc>
              <a:spcBef>
                <a:spcPts val="105"/>
              </a:spcBef>
            </a:pPr>
            <a:r>
              <a:rPr spc="-380" dirty="0"/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1471</Words>
  <Application>Microsoft Office PowerPoint</Application>
  <PresentationFormat>Panorámica</PresentationFormat>
  <Paragraphs>72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Arial MT</vt:lpstr>
      <vt:lpstr>Calibri</vt:lpstr>
      <vt:lpstr>Times New Roman</vt:lpstr>
      <vt:lpstr>Trebuchet MS</vt:lpstr>
      <vt:lpstr>Wingdings 3</vt:lpstr>
      <vt:lpstr>Faceta</vt:lpstr>
      <vt:lpstr>SERVIDOR APACHE</vt:lpstr>
      <vt:lpstr>¿QUÉ ES EL SERVIDOR APACHE?</vt:lpstr>
      <vt:lpstr>¿QUÉ ES EL SERVIDOR APACHE?</vt:lpstr>
      <vt:lpstr>PRINCIPALES CARACTERÍSTICAS DE APACHE</vt:lpstr>
      <vt:lpstr>PRINCIPALES CARACTERÍSTICAS DE APACHE</vt:lpstr>
      <vt:lpstr>PRINCIPALES CARACTERÍSTICAS DE APACHE</vt:lpstr>
      <vt:lpstr>PRINCIPALES CARACTERÍSTICAS DE APACHE</vt:lpstr>
      <vt:lpstr>CASOS DE USO COMUNES DE APACHE</vt:lpstr>
      <vt:lpstr>CASOS DE USO COMUNES DE APACHE</vt:lpstr>
      <vt:lpstr>DIRECTIVAS Y ARCHIVOS DE</vt:lpstr>
      <vt:lpstr>DIRECTIVAS Y ARCHIVOS DE</vt:lpstr>
      <vt:lpstr>SEGURIDAD DE APACHE</vt:lpstr>
      <vt:lpstr>CÓMO MEJORAR EL RENDIMIENTO DE APACHE</vt:lpstr>
      <vt:lpstr>CÓMO MEJORAR EL RENDIMIENTO DE APACHE</vt:lpstr>
      <vt:lpstr>OTRAS OPCIONES DE SERVIDORES WEB</vt:lpstr>
      <vt:lpstr>OTRAS OPCIONES DE SERVIDORES WEB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APACHE</dc:title>
  <dc:creator>lorea mendieta lastra</dc:creator>
  <cp:lastModifiedBy>Jon Loroño Arnaiz</cp:lastModifiedBy>
  <cp:revision>1</cp:revision>
  <dcterms:created xsi:type="dcterms:W3CDTF">2025-09-15T15:01:52Z</dcterms:created>
  <dcterms:modified xsi:type="dcterms:W3CDTF">2025-09-15T15:03:41Z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2025-09-15T00:00:00Z</vt:filetime>
  </property>
  <property fmtid="{D5CDD505-2E9C-101B-9397-08002B2CF9AE}" pid="5" name="Producer">
    <vt:lpwstr>Microsoft® PowerPoint® 2019</vt:lpwstr>
  </property>
</Properties>
</file>