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83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365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78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77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473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337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90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577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4765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063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8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833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978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35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9636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2188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EE52A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60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092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00400" y="3276600"/>
            <a:ext cx="8596668" cy="1320800"/>
          </a:xfrm>
        </p:spPr>
        <p:txBody>
          <a:bodyPr/>
          <a:lstStyle/>
          <a:p>
            <a:r>
              <a:rPr lang="es-ES" spc="-305" dirty="0">
                <a:solidFill>
                  <a:srgbClr val="AA9ECA"/>
                </a:solidFill>
              </a:rPr>
              <a:t>SERVIDOR</a:t>
            </a:r>
            <a:r>
              <a:rPr lang="es-ES" spc="-5" dirty="0">
                <a:solidFill>
                  <a:srgbClr val="AA9ECA"/>
                </a:solidFill>
              </a:rPr>
              <a:t> </a:t>
            </a:r>
            <a:r>
              <a:rPr lang="es-ES" spc="-55" dirty="0">
                <a:solidFill>
                  <a:srgbClr val="AA9ECA"/>
                </a:solidFill>
              </a:rPr>
              <a:t>APACHE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50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975340" cy="402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3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EE52A4"/>
                </a:solidFill>
                <a:latin typeface="Arial"/>
                <a:cs typeface="Arial"/>
              </a:rPr>
              <a:t>objetivo</a:t>
            </a:r>
            <a:r>
              <a:rPr sz="2400" b="1" spc="380" dirty="0">
                <a:solidFill>
                  <a:srgbClr val="EE52A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3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</a:t>
            </a:r>
            <a:r>
              <a:rPr sz="2400" spc="3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práctica</a:t>
            </a:r>
            <a:r>
              <a:rPr sz="2400" spc="3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guiada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</a:t>
            </a:r>
            <a:r>
              <a:rPr sz="2400" spc="3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crear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dos</a:t>
            </a:r>
            <a:r>
              <a:rPr sz="2400" spc="3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host</a:t>
            </a:r>
            <a:r>
              <a:rPr sz="2400" spc="3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virtuales</a:t>
            </a:r>
            <a:r>
              <a:rPr sz="2400" spc="3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3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3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mismo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servidor</a:t>
            </a:r>
            <a:r>
              <a:rPr sz="2400" spc="1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Apache</a:t>
            </a:r>
            <a:r>
              <a:rPr sz="2400" spc="1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para</a:t>
            </a:r>
            <a:r>
              <a:rPr sz="2400" spc="1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podamos</a:t>
            </a:r>
            <a:r>
              <a:rPr sz="2400" spc="1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servir</a:t>
            </a:r>
            <a:r>
              <a:rPr sz="2400" spc="1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distintas</a:t>
            </a:r>
            <a:r>
              <a:rPr sz="2400" spc="1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paginas</a:t>
            </a:r>
            <a:r>
              <a:rPr sz="240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web.</a:t>
            </a:r>
            <a:r>
              <a:rPr sz="2400" spc="1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este</a:t>
            </a:r>
            <a:r>
              <a:rPr sz="24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81818"/>
                </a:solidFill>
                <a:latin typeface="Arial MT"/>
                <a:cs typeface="Arial MT"/>
              </a:rPr>
              <a:t>caso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utilizaremos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una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maquina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virtual</a:t>
            </a:r>
            <a:r>
              <a:rPr sz="2400" spc="-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</a:t>
            </a:r>
            <a:r>
              <a:rPr sz="24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un</a:t>
            </a:r>
            <a:r>
              <a:rPr sz="24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sistema</a:t>
            </a:r>
            <a:r>
              <a:rPr sz="24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operativo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Ubuntu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Desktop.</a:t>
            </a:r>
            <a:endParaRPr sz="2400" dirty="0">
              <a:latin typeface="Arial MT"/>
              <a:cs typeface="Arial MT"/>
            </a:endParaRPr>
          </a:p>
          <a:p>
            <a:pPr marL="467995" indent="-455295" algn="just">
              <a:lnSpc>
                <a:spcPct val="100000"/>
              </a:lnSpc>
              <a:spcBef>
                <a:spcPts val="1430"/>
              </a:spcBef>
              <a:buClr>
                <a:srgbClr val="B31166"/>
              </a:buClr>
              <a:buAutoNum type="arabicPeriod"/>
              <a:tabLst>
                <a:tab pos="46799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Primero</a:t>
            </a:r>
            <a:r>
              <a:rPr sz="24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crearemos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dos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dominios</a:t>
            </a:r>
            <a:endParaRPr sz="2400" dirty="0">
              <a:latin typeface="Arial MT"/>
              <a:cs typeface="Arial MT"/>
            </a:endParaRPr>
          </a:p>
          <a:p>
            <a:pPr marL="756285" lvl="1" indent="-342900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75628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prueba1.com</a:t>
            </a:r>
            <a:endParaRPr sz="2400" dirty="0">
              <a:latin typeface="Arial MT"/>
              <a:cs typeface="Arial MT"/>
            </a:endParaRPr>
          </a:p>
          <a:p>
            <a:pPr marL="756285" lvl="1" indent="-342900">
              <a:lnSpc>
                <a:spcPct val="100000"/>
              </a:lnSpc>
              <a:spcBef>
                <a:spcPts val="142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75628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prueba2.com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Para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ello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deberemos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crear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estructura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directorios.</a:t>
            </a:r>
            <a:endParaRPr sz="2400" dirty="0">
              <a:latin typeface="Arial MT"/>
              <a:cs typeface="Arial MT"/>
            </a:endParaRPr>
          </a:p>
          <a:p>
            <a:pPr marL="354965" indent="-342265" algn="just">
              <a:lnSpc>
                <a:spcPct val="100000"/>
              </a:lnSpc>
              <a:spcBef>
                <a:spcPts val="144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Comprobar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apache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esta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activo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9947275" cy="3332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Sabemos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contenido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nuestra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nuevas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paginas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web</a:t>
            </a:r>
            <a:r>
              <a:rPr sz="24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están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el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directorio: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/var/www/html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mkdir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–p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/var/www/html/prueba1.com/public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EE52A4"/>
                </a:solidFill>
                <a:latin typeface="Arial MT"/>
                <a:cs typeface="Arial MT"/>
              </a:rPr>
              <a:t>-p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también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subdirectorios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355"/>
              </a:spcBef>
            </a:pPr>
            <a:r>
              <a:rPr sz="2000" dirty="0">
                <a:solidFill>
                  <a:srgbClr val="EE52A4"/>
                </a:solidFill>
                <a:latin typeface="Arial MT"/>
                <a:cs typeface="Arial MT"/>
              </a:rPr>
              <a:t>public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será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subdirectorio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donde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ira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estructura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pagina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web.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974705" cy="394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  <a:tab pos="1821814" algn="l"/>
                <a:tab pos="2507615" algn="l"/>
                <a:tab pos="2923540" algn="l"/>
                <a:tab pos="4424680" algn="l"/>
                <a:tab pos="4942840" algn="l"/>
                <a:tab pos="6137910" algn="l"/>
                <a:tab pos="7298055" algn="l"/>
                <a:tab pos="8546465" algn="l"/>
                <a:tab pos="9283700" algn="l"/>
                <a:tab pos="10207625" algn="l"/>
                <a:tab pos="10724515" algn="l"/>
              </a:tabLst>
            </a:pP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Sabemos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contenido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nuestra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nuevas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paginas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web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están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181818"/>
                </a:solidFill>
                <a:latin typeface="Arial MT"/>
                <a:cs typeface="Arial MT"/>
              </a:rPr>
              <a:t>el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directorio:</a:t>
            </a:r>
            <a:r>
              <a:rPr sz="2400" spc="-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/var/www/html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400">
              <a:latin typeface="Arial MT"/>
              <a:cs typeface="Arial MT"/>
            </a:endParaRPr>
          </a:p>
          <a:p>
            <a:pPr marL="469900" marR="5358765">
              <a:lnSpc>
                <a:spcPct val="157000"/>
              </a:lnSpc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mkdir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–p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/var/www/html/prueba1.com/public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mkdir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–p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/var/www/html/prueba2.com/public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también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subdirectorios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30"/>
              </a:spcBef>
            </a:pP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public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será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subdirectorio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ira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estructura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pagina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web.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554335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Dentro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cada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directorio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crearemos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el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fichero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html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</a:t>
            </a:r>
            <a:r>
              <a:rPr sz="24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su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correspondiente configuración.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2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nano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/var/www/html/prueba1.com/public/index.html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450" y="3925570"/>
            <a:ext cx="7019798" cy="2678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1915946"/>
            <a:ext cx="6442710" cy="109220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95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Haremos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mismo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con</a:t>
            </a:r>
            <a:r>
              <a:rPr sz="24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prueba2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nano</a:t>
            </a:r>
            <a:r>
              <a:rPr sz="20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/var/www/html/prueba2.com/public/index.html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3853" y="5974181"/>
            <a:ext cx="5687060" cy="727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cp</a:t>
            </a:r>
            <a:r>
              <a:rPr sz="20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/var/www/html/prueba1.com/public/index.html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/var/www/html/prueba2.com/public/index.html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61999" y="747471"/>
            <a:ext cx="987361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032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235" y="3271723"/>
            <a:ext cx="6380479" cy="2477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51658"/>
            <a:ext cx="10975340" cy="388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SzPct val="41666"/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Tenemos</a:t>
            </a:r>
            <a:r>
              <a:rPr sz="2400" spc="3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tener</a:t>
            </a:r>
            <a:r>
              <a:rPr sz="2400" spc="3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en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cuenta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3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todo</a:t>
            </a:r>
            <a:r>
              <a:rPr sz="2400" spc="3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3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3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hemos</a:t>
            </a:r>
            <a:r>
              <a:rPr sz="2400" spc="3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creado</a:t>
            </a:r>
            <a:r>
              <a:rPr sz="2400" spc="3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3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hacemos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como</a:t>
            </a:r>
            <a:r>
              <a:rPr sz="2400" spc="4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root</a:t>
            </a:r>
            <a:r>
              <a:rPr sz="2400" spc="3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4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4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tanto</a:t>
            </a:r>
            <a:r>
              <a:rPr sz="2400" spc="3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nos</a:t>
            </a:r>
            <a:r>
              <a:rPr sz="2400" spc="3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tenemos</a:t>
            </a:r>
            <a:r>
              <a:rPr sz="2400" spc="4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4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asegurar</a:t>
            </a:r>
            <a:r>
              <a:rPr sz="2400" spc="409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que</a:t>
            </a:r>
            <a:r>
              <a:rPr sz="2400" spc="4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los</a:t>
            </a:r>
            <a:r>
              <a:rPr sz="2400" spc="4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usuarios</a:t>
            </a:r>
            <a:r>
              <a:rPr sz="2400" spc="409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tienen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permisos.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Por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tanto</a:t>
            </a:r>
            <a:r>
              <a:rPr sz="24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modificaremos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lo</a:t>
            </a:r>
            <a:r>
              <a:rPr sz="24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permisos</a:t>
            </a:r>
            <a:r>
              <a:rPr sz="240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de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81818"/>
                </a:solidFill>
                <a:latin typeface="Arial MT"/>
                <a:cs typeface="Arial MT"/>
              </a:rPr>
              <a:t>la</a:t>
            </a:r>
            <a:r>
              <a:rPr sz="24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 MT"/>
                <a:cs typeface="Arial MT"/>
              </a:rPr>
              <a:t>siguiente: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400">
              <a:latin typeface="Arial MT"/>
              <a:cs typeface="Arial MT"/>
            </a:endParaRPr>
          </a:p>
          <a:p>
            <a:pPr marL="469900" marR="4594860">
              <a:lnSpc>
                <a:spcPct val="157000"/>
              </a:lnSpc>
              <a:tabLst>
                <a:tab pos="3220720" algn="l"/>
              </a:tabLst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chown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–R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078F0"/>
                </a:solidFill>
                <a:latin typeface="Arial MT"/>
                <a:cs typeface="Arial MT"/>
              </a:rPr>
              <a:t>www-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data: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chown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–R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4078F0"/>
                </a:solidFill>
                <a:latin typeface="Arial MT"/>
                <a:cs typeface="Arial MT"/>
              </a:rPr>
              <a:t>www-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data: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/var/www/html/prueba1.com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R</a:t>
            </a:r>
            <a:r>
              <a:rPr sz="2400" spc="-60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recursivo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todo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estructura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192" rIns="0" bIns="0" rtlCol="0">
            <a:spAutoFit/>
          </a:bodyPr>
          <a:lstStyle/>
          <a:p>
            <a:pPr marL="469900" marR="6985" indent="-457200">
              <a:lnSpc>
                <a:spcPct val="114999"/>
              </a:lnSpc>
              <a:spcBef>
                <a:spcPts val="100"/>
              </a:spcBef>
              <a:tabLst>
                <a:tab pos="469265" algn="l"/>
              </a:tabLst>
            </a:pPr>
            <a:r>
              <a:rPr spc="-25" dirty="0">
                <a:solidFill>
                  <a:srgbClr val="B31166"/>
                </a:solidFill>
              </a:rPr>
              <a:t>2.</a:t>
            </a:r>
            <a:r>
              <a:rPr dirty="0">
                <a:solidFill>
                  <a:srgbClr val="B31166"/>
                </a:solidFill>
              </a:rPr>
              <a:t>	</a:t>
            </a:r>
            <a:r>
              <a:rPr dirty="0">
                <a:solidFill>
                  <a:srgbClr val="181818"/>
                </a:solidFill>
              </a:rPr>
              <a:t>Una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vez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creados</a:t>
            </a:r>
            <a:r>
              <a:rPr spc="-1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dominios</a:t>
            </a:r>
            <a:r>
              <a:rPr spc="-1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pasaremos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a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crear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3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host</a:t>
            </a:r>
            <a:r>
              <a:rPr spc="-1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virtuales.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Para</a:t>
            </a:r>
            <a:r>
              <a:rPr spc="-10" dirty="0">
                <a:solidFill>
                  <a:srgbClr val="181818"/>
                </a:solidFill>
              </a:rPr>
              <a:t> </a:t>
            </a:r>
            <a:r>
              <a:rPr spc="-20" dirty="0">
                <a:solidFill>
                  <a:srgbClr val="181818"/>
                </a:solidFill>
              </a:rPr>
              <a:t>ello </a:t>
            </a:r>
            <a:r>
              <a:rPr dirty="0">
                <a:solidFill>
                  <a:srgbClr val="181818"/>
                </a:solidFill>
              </a:rPr>
              <a:t>deberemos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modificar</a:t>
            </a:r>
            <a:r>
              <a:rPr spc="-6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el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siguiente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archivo</a:t>
            </a:r>
            <a:r>
              <a:rPr spc="-7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apache:</a:t>
            </a:r>
          </a:p>
          <a:p>
            <a:pPr marL="4699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1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cd</a:t>
            </a:r>
            <a:r>
              <a:rPr sz="2000" spc="-30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/etc/apache2/sites_available/</a:t>
            </a:r>
            <a:endParaRPr sz="2000"/>
          </a:p>
          <a:p>
            <a:pPr marL="469900">
              <a:lnSpc>
                <a:spcPct val="100000"/>
              </a:lnSpc>
              <a:spcBef>
                <a:spcPts val="1355"/>
              </a:spcBef>
            </a:pPr>
            <a:r>
              <a:rPr sz="2000" dirty="0">
                <a:solidFill>
                  <a:srgbClr val="4078F0"/>
                </a:solidFill>
              </a:rPr>
              <a:t># </a:t>
            </a:r>
            <a:r>
              <a:rPr sz="2000" spc="-25" dirty="0">
                <a:solidFill>
                  <a:srgbClr val="4078F0"/>
                </a:solidFill>
              </a:rPr>
              <a:t>ls</a:t>
            </a:r>
            <a:endParaRPr sz="2000"/>
          </a:p>
          <a:p>
            <a:pPr marL="12700" marR="5080" indent="457200">
              <a:lnSpc>
                <a:spcPct val="114999"/>
              </a:lnSpc>
              <a:spcBef>
                <a:spcPts val="944"/>
              </a:spcBef>
              <a:tabLst>
                <a:tab pos="1311275" algn="l"/>
                <a:tab pos="2694940" algn="l"/>
                <a:tab pos="3298825" algn="l"/>
                <a:tab pos="4648835" algn="l"/>
                <a:tab pos="5203825" algn="l"/>
                <a:tab pos="7232650" algn="l"/>
                <a:tab pos="7889240" algn="l"/>
                <a:tab pos="9186545" algn="l"/>
                <a:tab pos="9960610" algn="l"/>
              </a:tabLst>
            </a:pPr>
            <a:r>
              <a:rPr spc="-20" dirty="0">
                <a:solidFill>
                  <a:srgbClr val="181818"/>
                </a:solidFill>
              </a:rPr>
              <a:t>Aquí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veremos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los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archivos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de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por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defecto.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Una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buenas </a:t>
            </a:r>
            <a:r>
              <a:rPr dirty="0">
                <a:solidFill>
                  <a:srgbClr val="181818"/>
                </a:solidFill>
              </a:rPr>
              <a:t>practicas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son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crear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un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fichero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para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cada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uno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dominios</a:t>
            </a:r>
          </a:p>
          <a:p>
            <a:pPr marL="469900" marR="4354830">
              <a:lnSpc>
                <a:spcPct val="156500"/>
              </a:lnSpc>
              <a:spcBef>
                <a:spcPts val="65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1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nano</a:t>
            </a:r>
            <a:r>
              <a:rPr sz="2000" spc="-2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/etc/apache2/sites_available/prueba1.com.conf </a:t>
            </a: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nano</a:t>
            </a:r>
            <a:r>
              <a:rPr sz="2000" spc="-2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prueba1.com.conf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192" rIns="0" bIns="0" rtlCol="0">
            <a:spAutoFit/>
          </a:bodyPr>
          <a:lstStyle/>
          <a:p>
            <a:pPr marL="469900" marR="6985" indent="-457200">
              <a:lnSpc>
                <a:spcPct val="114999"/>
              </a:lnSpc>
              <a:spcBef>
                <a:spcPts val="100"/>
              </a:spcBef>
              <a:tabLst>
                <a:tab pos="469265" algn="l"/>
              </a:tabLst>
            </a:pPr>
            <a:r>
              <a:rPr spc="-25" dirty="0">
                <a:solidFill>
                  <a:srgbClr val="B31166"/>
                </a:solidFill>
              </a:rPr>
              <a:t>2.</a:t>
            </a:r>
            <a:r>
              <a:rPr dirty="0">
                <a:solidFill>
                  <a:srgbClr val="B31166"/>
                </a:solidFill>
              </a:rPr>
              <a:t>	</a:t>
            </a:r>
            <a:r>
              <a:rPr dirty="0">
                <a:solidFill>
                  <a:srgbClr val="181818"/>
                </a:solidFill>
              </a:rPr>
              <a:t>Una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vez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creados</a:t>
            </a:r>
            <a:r>
              <a:rPr spc="-1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dominios</a:t>
            </a:r>
            <a:r>
              <a:rPr spc="-1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pasaremos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a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crear</a:t>
            </a:r>
            <a:r>
              <a:rPr spc="-2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3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host</a:t>
            </a:r>
            <a:r>
              <a:rPr spc="-1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virtuales.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Para</a:t>
            </a:r>
            <a:r>
              <a:rPr spc="-10" dirty="0">
                <a:solidFill>
                  <a:srgbClr val="181818"/>
                </a:solidFill>
              </a:rPr>
              <a:t> </a:t>
            </a:r>
            <a:r>
              <a:rPr spc="-20" dirty="0">
                <a:solidFill>
                  <a:srgbClr val="181818"/>
                </a:solidFill>
              </a:rPr>
              <a:t>ello </a:t>
            </a:r>
            <a:r>
              <a:rPr dirty="0">
                <a:solidFill>
                  <a:srgbClr val="181818"/>
                </a:solidFill>
              </a:rPr>
              <a:t>deberemos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modificar</a:t>
            </a:r>
            <a:r>
              <a:rPr spc="-6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el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siguiente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archivo</a:t>
            </a:r>
            <a:r>
              <a:rPr spc="-7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8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apache:</a:t>
            </a:r>
          </a:p>
          <a:p>
            <a:pPr marL="4699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1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cd</a:t>
            </a:r>
            <a:r>
              <a:rPr sz="2000" spc="-30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/etc/apache2/sites_available/</a:t>
            </a:r>
            <a:endParaRPr sz="2000"/>
          </a:p>
          <a:p>
            <a:pPr marL="469900">
              <a:lnSpc>
                <a:spcPct val="100000"/>
              </a:lnSpc>
              <a:spcBef>
                <a:spcPts val="1355"/>
              </a:spcBef>
            </a:pPr>
            <a:r>
              <a:rPr sz="2000" dirty="0">
                <a:solidFill>
                  <a:srgbClr val="4078F0"/>
                </a:solidFill>
              </a:rPr>
              <a:t># </a:t>
            </a:r>
            <a:r>
              <a:rPr sz="2000" spc="-25" dirty="0">
                <a:solidFill>
                  <a:srgbClr val="4078F0"/>
                </a:solidFill>
              </a:rPr>
              <a:t>ls</a:t>
            </a:r>
            <a:endParaRPr sz="2000"/>
          </a:p>
          <a:p>
            <a:pPr marL="12700" marR="5080" indent="457200">
              <a:lnSpc>
                <a:spcPct val="114999"/>
              </a:lnSpc>
              <a:spcBef>
                <a:spcPts val="944"/>
              </a:spcBef>
              <a:tabLst>
                <a:tab pos="1311275" algn="l"/>
                <a:tab pos="2694940" algn="l"/>
                <a:tab pos="3298825" algn="l"/>
                <a:tab pos="4648835" algn="l"/>
                <a:tab pos="5203825" algn="l"/>
                <a:tab pos="7232650" algn="l"/>
                <a:tab pos="7889240" algn="l"/>
                <a:tab pos="9186545" algn="l"/>
                <a:tab pos="9960610" algn="l"/>
              </a:tabLst>
            </a:pPr>
            <a:r>
              <a:rPr spc="-20" dirty="0">
                <a:solidFill>
                  <a:srgbClr val="181818"/>
                </a:solidFill>
              </a:rPr>
              <a:t>Aquí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veremos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los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archivos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de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por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defecto.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25" dirty="0">
                <a:solidFill>
                  <a:srgbClr val="181818"/>
                </a:solidFill>
              </a:rPr>
              <a:t>Una</a:t>
            </a:r>
            <a:r>
              <a:rPr dirty="0">
                <a:solidFill>
                  <a:srgbClr val="181818"/>
                </a:solidFill>
              </a:rPr>
              <a:t>	</a:t>
            </a:r>
            <a:r>
              <a:rPr spc="-10" dirty="0">
                <a:solidFill>
                  <a:srgbClr val="181818"/>
                </a:solidFill>
              </a:rPr>
              <a:t>buenas </a:t>
            </a:r>
            <a:r>
              <a:rPr dirty="0">
                <a:solidFill>
                  <a:srgbClr val="181818"/>
                </a:solidFill>
              </a:rPr>
              <a:t>practicas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son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crear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un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fichero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configuración</a:t>
            </a:r>
            <a:r>
              <a:rPr spc="-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para</a:t>
            </a:r>
            <a:r>
              <a:rPr spc="-5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cada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uno</a:t>
            </a:r>
            <a:r>
              <a:rPr spc="-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los</a:t>
            </a:r>
            <a:r>
              <a:rPr spc="-5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dominios</a:t>
            </a:r>
          </a:p>
          <a:p>
            <a:pPr marL="469900" marR="4354830">
              <a:lnSpc>
                <a:spcPct val="156500"/>
              </a:lnSpc>
              <a:spcBef>
                <a:spcPts val="65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1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nano</a:t>
            </a:r>
            <a:r>
              <a:rPr sz="2000" spc="-2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/etc/apache2/sites_available/prueba1.com.conf </a:t>
            </a: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nano</a:t>
            </a:r>
            <a:r>
              <a:rPr sz="2000" spc="-2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prueba1.com.conf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999" y="747471"/>
            <a:ext cx="9873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0178" y="1418589"/>
            <a:ext cx="2228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>
                <a:solidFill>
                  <a:srgbClr val="EE52A4"/>
                </a:solidFill>
                <a:latin typeface="Times New Roman"/>
                <a:cs typeface="Times New Roman"/>
              </a:rPr>
              <a:t>APACHE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6442" y="2314765"/>
            <a:ext cx="7659116" cy="41161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93155">
              <a:lnSpc>
                <a:spcPct val="134600"/>
              </a:lnSpc>
              <a:spcBef>
                <a:spcPts val="100"/>
              </a:spcBef>
            </a:pPr>
            <a:r>
              <a:rPr dirty="0">
                <a:solidFill>
                  <a:srgbClr val="EE52A4"/>
                </a:solidFill>
              </a:rPr>
              <a:t>80:</a:t>
            </a:r>
            <a:r>
              <a:rPr spc="-50" dirty="0">
                <a:solidFill>
                  <a:srgbClr val="EE52A4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puerto</a:t>
            </a:r>
            <a:r>
              <a:rPr spc="-4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-4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escucha </a:t>
            </a:r>
            <a:r>
              <a:rPr dirty="0">
                <a:solidFill>
                  <a:srgbClr val="EE52A4"/>
                </a:solidFill>
              </a:rPr>
              <a:t>Servername:</a:t>
            </a:r>
            <a:r>
              <a:rPr spc="-95" dirty="0">
                <a:solidFill>
                  <a:srgbClr val="EE52A4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nombre</a:t>
            </a:r>
            <a:r>
              <a:rPr spc="-10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del</a:t>
            </a:r>
            <a:r>
              <a:rPr spc="-9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servidor </a:t>
            </a:r>
            <a:r>
              <a:rPr dirty="0">
                <a:solidFill>
                  <a:srgbClr val="EE52A4"/>
                </a:solidFill>
              </a:rPr>
              <a:t>Aliasname:</a:t>
            </a:r>
            <a:r>
              <a:rPr spc="-85" dirty="0">
                <a:solidFill>
                  <a:srgbClr val="EE52A4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nombre</a:t>
            </a:r>
            <a:r>
              <a:rPr spc="-10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del</a:t>
            </a:r>
            <a:r>
              <a:rPr spc="-100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subdominio</a:t>
            </a:r>
          </a:p>
          <a:p>
            <a:pPr marL="12700" marR="6350" algn="just">
              <a:lnSpc>
                <a:spcPct val="100000"/>
              </a:lnSpc>
              <a:spcBef>
                <a:spcPts val="1010"/>
              </a:spcBef>
            </a:pPr>
            <a:r>
              <a:rPr dirty="0">
                <a:solidFill>
                  <a:srgbClr val="EE52A4"/>
                </a:solidFill>
              </a:rPr>
              <a:t>ServerAdmin:</a:t>
            </a:r>
            <a:r>
              <a:rPr spc="135" dirty="0">
                <a:solidFill>
                  <a:srgbClr val="EE52A4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el</a:t>
            </a:r>
            <a:r>
              <a:rPr spc="13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administrador</a:t>
            </a:r>
            <a:r>
              <a:rPr spc="1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del</a:t>
            </a:r>
            <a:r>
              <a:rPr spc="13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servidor.</a:t>
            </a:r>
            <a:r>
              <a:rPr spc="12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Podemos</a:t>
            </a:r>
            <a:r>
              <a:rPr spc="14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poner</a:t>
            </a:r>
            <a:r>
              <a:rPr spc="14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cualquier</a:t>
            </a:r>
            <a:r>
              <a:rPr spc="14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dirección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2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correo</a:t>
            </a:r>
            <a:r>
              <a:rPr spc="2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electrónico</a:t>
            </a:r>
            <a:r>
              <a:rPr spc="26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donde</a:t>
            </a:r>
            <a:r>
              <a:rPr spc="2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queremos</a:t>
            </a:r>
            <a:r>
              <a:rPr spc="254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que</a:t>
            </a:r>
            <a:r>
              <a:rPr spc="2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nos</a:t>
            </a:r>
            <a:r>
              <a:rPr spc="24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llegue</a:t>
            </a:r>
            <a:r>
              <a:rPr spc="254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información</a:t>
            </a:r>
            <a:r>
              <a:rPr spc="25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referente</a:t>
            </a:r>
            <a:r>
              <a:rPr spc="254" dirty="0">
                <a:solidFill>
                  <a:srgbClr val="181818"/>
                </a:solidFill>
              </a:rPr>
              <a:t> </a:t>
            </a:r>
            <a:r>
              <a:rPr spc="-50" dirty="0">
                <a:solidFill>
                  <a:srgbClr val="181818"/>
                </a:solidFill>
              </a:rPr>
              <a:t>a </a:t>
            </a:r>
            <a:r>
              <a:rPr dirty="0">
                <a:solidFill>
                  <a:srgbClr val="181818"/>
                </a:solidFill>
              </a:rPr>
              <a:t>algún</a:t>
            </a:r>
            <a:r>
              <a:rPr spc="-6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error.</a:t>
            </a: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dirty="0">
                <a:solidFill>
                  <a:srgbClr val="EE52A4"/>
                </a:solidFill>
              </a:rPr>
              <a:t>DocumentRoot:</a:t>
            </a:r>
            <a:r>
              <a:rPr spc="275" dirty="0">
                <a:solidFill>
                  <a:srgbClr val="EE52A4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la</a:t>
            </a:r>
            <a:r>
              <a:rPr spc="28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dirección</a:t>
            </a:r>
            <a:r>
              <a:rPr spc="28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donde</a:t>
            </a:r>
            <a:r>
              <a:rPr spc="2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tiene</a:t>
            </a:r>
            <a:r>
              <a:rPr spc="28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que</a:t>
            </a:r>
            <a:r>
              <a:rPr spc="2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cargar</a:t>
            </a:r>
            <a:r>
              <a:rPr spc="30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el</a:t>
            </a:r>
            <a:r>
              <a:rPr spc="2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contenido</a:t>
            </a:r>
            <a:r>
              <a:rPr spc="285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de</a:t>
            </a:r>
            <a:r>
              <a:rPr spc="280" dirty="0">
                <a:solidFill>
                  <a:srgbClr val="181818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la</a:t>
            </a:r>
            <a:r>
              <a:rPr spc="285" dirty="0">
                <a:solidFill>
                  <a:srgbClr val="181818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pagina </a:t>
            </a:r>
            <a:r>
              <a:rPr spc="-25" dirty="0">
                <a:solidFill>
                  <a:srgbClr val="181818"/>
                </a:solidFill>
              </a:rPr>
              <a:t>web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388234"/>
            <a:ext cx="10974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9930" algn="l"/>
                <a:tab pos="3947795" algn="l"/>
                <a:tab pos="4354830" algn="l"/>
                <a:tab pos="5203825" algn="l"/>
                <a:tab pos="6682105" algn="l"/>
                <a:tab pos="8279765" algn="l"/>
                <a:tab pos="9011285" algn="l"/>
                <a:tab pos="10724515" algn="l"/>
              </a:tabLst>
            </a:pP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&lt;Directory&gt;..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&lt;/Directory&gt;: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nivel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directorio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indicamos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que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permitimos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2627934"/>
            <a:ext cx="10974070" cy="137604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400" dirty="0">
                <a:latin typeface="Arial MT"/>
                <a:cs typeface="Arial MT"/>
              </a:rPr>
              <a:t>indexación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dejamos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todo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mundo.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ErrorLog</a:t>
            </a:r>
            <a:r>
              <a:rPr sz="2400" spc="3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y</a:t>
            </a:r>
            <a:r>
              <a:rPr sz="2400" spc="4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CustomLog:</a:t>
            </a:r>
            <a:r>
              <a:rPr sz="2400" spc="4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rutas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donde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queremos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guarde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mensajes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acceso.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4471416"/>
            <a:ext cx="5629275" cy="14598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dirty="0">
                <a:latin typeface="Arial MT"/>
                <a:cs typeface="Arial MT"/>
              </a:rPr>
              <a:t>Repetimos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mismo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Prueba2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Arial MT"/>
                <a:cs typeface="Arial MT"/>
              </a:rPr>
              <a:t>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volvemos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raíz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directorio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078F0"/>
                </a:solidFill>
                <a:latin typeface="Arial MT"/>
                <a:cs typeface="Arial MT"/>
              </a:rPr>
              <a:t>cd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75768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B31166"/>
              </a:buClr>
              <a:buFont typeface="Arial MT"/>
              <a:buAutoNum type="arabicPeriod" startAt="3"/>
              <a:tabLst>
                <a:tab pos="469265" algn="l"/>
              </a:tabLst>
            </a:pPr>
            <a:r>
              <a:rPr dirty="0"/>
              <a:t>Una</a:t>
            </a:r>
            <a:r>
              <a:rPr spc="-65" dirty="0"/>
              <a:t> </a:t>
            </a:r>
            <a:r>
              <a:rPr dirty="0"/>
              <a:t>vez</a:t>
            </a:r>
            <a:r>
              <a:rPr spc="-65" dirty="0"/>
              <a:t> </a:t>
            </a:r>
            <a:r>
              <a:rPr dirty="0"/>
              <a:t>creados</a:t>
            </a:r>
            <a:r>
              <a:rPr spc="-70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dirty="0"/>
              <a:t>host</a:t>
            </a:r>
            <a:r>
              <a:rPr spc="-75" dirty="0"/>
              <a:t> </a:t>
            </a:r>
            <a:r>
              <a:rPr dirty="0"/>
              <a:t>virtuales</a:t>
            </a:r>
            <a:r>
              <a:rPr spc="-55" dirty="0"/>
              <a:t> </a:t>
            </a:r>
            <a:r>
              <a:rPr dirty="0"/>
              <a:t>deberemos</a:t>
            </a:r>
            <a:r>
              <a:rPr spc="-6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activarlos.</a:t>
            </a:r>
          </a:p>
          <a:p>
            <a:pPr marL="469900">
              <a:lnSpc>
                <a:spcPct val="100000"/>
              </a:lnSpc>
              <a:spcBef>
                <a:spcPts val="154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a2ensite</a:t>
            </a:r>
            <a:r>
              <a:rPr sz="2000" spc="-3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prueba1.com</a:t>
            </a:r>
            <a:endParaRPr sz="2000"/>
          </a:p>
          <a:p>
            <a:pPr marL="469900">
              <a:lnSpc>
                <a:spcPct val="100000"/>
              </a:lnSpc>
              <a:spcBef>
                <a:spcPts val="150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20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a2ensite</a:t>
            </a:r>
            <a:r>
              <a:rPr sz="2000" spc="-40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prueba2.com</a:t>
            </a:r>
            <a:endParaRPr sz="2000"/>
          </a:p>
          <a:p>
            <a:pPr marL="469900" marR="5080" indent="-457200">
              <a:lnSpc>
                <a:spcPct val="114999"/>
              </a:lnSpc>
              <a:spcBef>
                <a:spcPts val="944"/>
              </a:spcBef>
              <a:buClr>
                <a:srgbClr val="B31166"/>
              </a:buClr>
              <a:buAutoNum type="arabicPeriod" startAt="4"/>
              <a:tabLst>
                <a:tab pos="469900" algn="l"/>
              </a:tabLst>
            </a:pPr>
            <a:r>
              <a:rPr dirty="0"/>
              <a:t>Deberemos</a:t>
            </a:r>
            <a:r>
              <a:rPr spc="55" dirty="0"/>
              <a:t> </a:t>
            </a:r>
            <a:r>
              <a:rPr dirty="0"/>
              <a:t>comprobar</a:t>
            </a:r>
            <a:r>
              <a:rPr spc="75" dirty="0"/>
              <a:t> </a:t>
            </a:r>
            <a:r>
              <a:rPr dirty="0"/>
              <a:t>que</a:t>
            </a:r>
            <a:r>
              <a:rPr spc="65" dirty="0"/>
              <a:t> </a:t>
            </a:r>
            <a:r>
              <a:rPr dirty="0"/>
              <a:t>no</a:t>
            </a:r>
            <a:r>
              <a:rPr spc="65" dirty="0"/>
              <a:t> </a:t>
            </a:r>
            <a:r>
              <a:rPr dirty="0"/>
              <a:t>tenemos</a:t>
            </a:r>
            <a:r>
              <a:rPr spc="65" dirty="0"/>
              <a:t> </a:t>
            </a:r>
            <a:r>
              <a:rPr dirty="0"/>
              <a:t>ningún</a:t>
            </a:r>
            <a:r>
              <a:rPr spc="75" dirty="0"/>
              <a:t> </a:t>
            </a:r>
            <a:r>
              <a:rPr dirty="0"/>
              <a:t>error</a:t>
            </a:r>
            <a:r>
              <a:rPr spc="65" dirty="0"/>
              <a:t> </a:t>
            </a:r>
            <a:r>
              <a:rPr dirty="0"/>
              <a:t>de</a:t>
            </a:r>
            <a:r>
              <a:rPr spc="60" dirty="0"/>
              <a:t> </a:t>
            </a:r>
            <a:r>
              <a:rPr dirty="0"/>
              <a:t>sintaxis</a:t>
            </a:r>
            <a:r>
              <a:rPr spc="70" dirty="0"/>
              <a:t> </a:t>
            </a:r>
            <a:r>
              <a:rPr dirty="0"/>
              <a:t>en</a:t>
            </a:r>
            <a:r>
              <a:rPr spc="65" dirty="0"/>
              <a:t> </a:t>
            </a:r>
            <a:r>
              <a:rPr spc="-10" dirty="0"/>
              <a:t>nuestros </a:t>
            </a:r>
            <a:r>
              <a:rPr dirty="0"/>
              <a:t>archivos</a:t>
            </a:r>
            <a:r>
              <a:rPr spc="-6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configuración</a:t>
            </a:r>
            <a:r>
              <a:rPr spc="-30" dirty="0"/>
              <a:t> </a:t>
            </a:r>
            <a:r>
              <a:rPr dirty="0"/>
              <a:t>para</a:t>
            </a:r>
            <a:r>
              <a:rPr spc="-65" dirty="0"/>
              <a:t> </a:t>
            </a:r>
            <a:r>
              <a:rPr spc="-10" dirty="0"/>
              <a:t>ello:</a:t>
            </a:r>
          </a:p>
          <a:p>
            <a:pPr marL="469900">
              <a:lnSpc>
                <a:spcPct val="100000"/>
              </a:lnSpc>
              <a:spcBef>
                <a:spcPts val="183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30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apachectl</a:t>
            </a:r>
            <a:r>
              <a:rPr sz="2000" spc="-4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configtest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406522"/>
            <a:ext cx="10982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Nos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saldrá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warning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indica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usando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dirección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653" y="2827146"/>
            <a:ext cx="1097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9555" algn="l"/>
                <a:tab pos="2096135" algn="l"/>
                <a:tab pos="3012440" algn="l"/>
                <a:tab pos="3588385" algn="l"/>
                <a:tab pos="5180965" algn="l"/>
                <a:tab pos="6026785" algn="l"/>
                <a:tab pos="6755130" algn="l"/>
                <a:tab pos="7500620" algn="l"/>
                <a:tab pos="9009380" algn="l"/>
                <a:tab pos="10723245" algn="l"/>
              </a:tabLst>
            </a:pPr>
            <a:r>
              <a:rPr sz="2400" spc="-10" dirty="0">
                <a:latin typeface="Arial MT"/>
                <a:cs typeface="Arial MT"/>
              </a:rPr>
              <a:t>127.0.1.1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lugar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127.0.0.1.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Esto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hay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que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corregirlo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habilitando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653" y="3031651"/>
            <a:ext cx="10974070" cy="3532504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Arial MT"/>
                <a:cs typeface="Arial MT"/>
              </a:rPr>
              <a:t>servername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localhost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ello: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nano</a:t>
            </a:r>
            <a:r>
              <a:rPr sz="2000" spc="-2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/etc/apache2/apache2.conf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400" dirty="0">
                <a:latin typeface="Arial MT"/>
                <a:cs typeface="Arial MT"/>
              </a:rPr>
              <a:t>Buscar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E52A4"/>
                </a:solidFill>
                <a:latin typeface="Arial MT"/>
                <a:cs typeface="Arial MT"/>
              </a:rPr>
              <a:t>#Global</a:t>
            </a:r>
            <a:r>
              <a:rPr sz="2400" spc="-55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E52A4"/>
                </a:solidFill>
                <a:latin typeface="Arial MT"/>
                <a:cs typeface="Arial MT"/>
              </a:rPr>
              <a:t>configuration</a:t>
            </a:r>
            <a:r>
              <a:rPr sz="2400" spc="-40" dirty="0">
                <a:solidFill>
                  <a:srgbClr val="EE52A4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agregar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Servername</a:t>
            </a:r>
            <a:r>
              <a:rPr sz="2000" spc="-5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localhost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935"/>
              </a:spcBef>
              <a:tabLst>
                <a:tab pos="1475740" algn="l"/>
                <a:tab pos="1786255" algn="l"/>
                <a:tab pos="3387090" algn="l"/>
                <a:tab pos="4036060" algn="l"/>
                <a:tab pos="4518025" algn="l"/>
                <a:tab pos="5828665" algn="l"/>
                <a:tab pos="6886575" algn="l"/>
                <a:tab pos="7672705" algn="l"/>
                <a:tab pos="8153400" algn="l"/>
                <a:tab pos="9311640" algn="l"/>
                <a:tab pos="9791700" algn="l"/>
              </a:tabLst>
            </a:pPr>
            <a:r>
              <a:rPr sz="2400" spc="-10" dirty="0">
                <a:latin typeface="Arial MT"/>
                <a:cs typeface="Arial MT"/>
              </a:rPr>
              <a:t>Volvemos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comprobar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que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no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tenemos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ningún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error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sintaxis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nuestros </a:t>
            </a:r>
            <a:r>
              <a:rPr sz="2400" dirty="0">
                <a:latin typeface="Arial MT"/>
                <a:cs typeface="Arial MT"/>
              </a:rPr>
              <a:t>archivos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configuración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8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18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78F0"/>
                </a:solidFill>
                <a:latin typeface="Arial MT"/>
                <a:cs typeface="Arial MT"/>
              </a:rPr>
              <a:t>apachectl</a:t>
            </a:r>
            <a:r>
              <a:rPr sz="1800" spc="-1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78F0"/>
                </a:solidFill>
                <a:latin typeface="Arial MT"/>
                <a:cs typeface="Arial MT"/>
              </a:rPr>
              <a:t>configtest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192" rIns="0" bIns="0" rtlCol="0">
            <a:spAutoFit/>
          </a:bodyPr>
          <a:lstStyle/>
          <a:p>
            <a:pPr marL="469900" marR="5080" indent="-457200">
              <a:lnSpc>
                <a:spcPct val="114999"/>
              </a:lnSpc>
              <a:spcBef>
                <a:spcPts val="100"/>
              </a:spcBef>
              <a:buClr>
                <a:srgbClr val="B31166"/>
              </a:buClr>
              <a:buFont typeface="Arial MT"/>
              <a:buAutoNum type="arabicPeriod" startAt="5"/>
              <a:tabLst>
                <a:tab pos="469900" algn="l"/>
              </a:tabLst>
            </a:pPr>
            <a:r>
              <a:rPr dirty="0"/>
              <a:t>Reiniciamos</a:t>
            </a:r>
            <a:r>
              <a:rPr spc="45" dirty="0"/>
              <a:t> </a:t>
            </a:r>
            <a:r>
              <a:rPr dirty="0"/>
              <a:t>apache</a:t>
            </a:r>
            <a:r>
              <a:rPr spc="45" dirty="0"/>
              <a:t> </a:t>
            </a:r>
            <a:r>
              <a:rPr dirty="0"/>
              <a:t>para</a:t>
            </a:r>
            <a:r>
              <a:rPr spc="50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tenga</a:t>
            </a:r>
            <a:r>
              <a:rPr spc="45" dirty="0"/>
              <a:t> </a:t>
            </a:r>
            <a:r>
              <a:rPr dirty="0"/>
              <a:t>en</a:t>
            </a:r>
            <a:r>
              <a:rPr spc="45" dirty="0"/>
              <a:t> </a:t>
            </a:r>
            <a:r>
              <a:rPr dirty="0"/>
              <a:t>cuenta</a:t>
            </a:r>
            <a:r>
              <a:rPr spc="55" dirty="0"/>
              <a:t> </a:t>
            </a:r>
            <a:r>
              <a:rPr dirty="0"/>
              <a:t>los</a:t>
            </a:r>
            <a:r>
              <a:rPr spc="50" dirty="0"/>
              <a:t> </a:t>
            </a:r>
            <a:r>
              <a:rPr dirty="0"/>
              <a:t>nuevos</a:t>
            </a:r>
            <a:r>
              <a:rPr spc="50" dirty="0"/>
              <a:t> </a:t>
            </a:r>
            <a:r>
              <a:rPr dirty="0"/>
              <a:t>host</a:t>
            </a:r>
            <a:r>
              <a:rPr spc="35" dirty="0"/>
              <a:t> </a:t>
            </a:r>
            <a:r>
              <a:rPr dirty="0"/>
              <a:t>virtuales</a:t>
            </a:r>
            <a:r>
              <a:rPr spc="55" dirty="0"/>
              <a:t> </a:t>
            </a:r>
            <a:r>
              <a:rPr spc="-25" dirty="0"/>
              <a:t>que </a:t>
            </a:r>
            <a:r>
              <a:rPr dirty="0"/>
              <a:t>hemos</a:t>
            </a:r>
            <a:r>
              <a:rPr spc="-80" dirty="0"/>
              <a:t> </a:t>
            </a:r>
            <a:r>
              <a:rPr spc="-10" dirty="0"/>
              <a:t>creado.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1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systemctl</a:t>
            </a:r>
            <a:r>
              <a:rPr sz="2000" spc="-4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restart</a:t>
            </a:r>
            <a:r>
              <a:rPr sz="2000" spc="-50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apache2</a:t>
            </a:r>
            <a:endParaRPr sz="2000"/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000" dirty="0">
                <a:solidFill>
                  <a:srgbClr val="4078F0"/>
                </a:solidFill>
              </a:rPr>
              <a:t>#</a:t>
            </a:r>
            <a:r>
              <a:rPr sz="2000" spc="-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systemctl</a:t>
            </a:r>
            <a:r>
              <a:rPr sz="2000" spc="-45" dirty="0">
                <a:solidFill>
                  <a:srgbClr val="4078F0"/>
                </a:solidFill>
              </a:rPr>
              <a:t> </a:t>
            </a:r>
            <a:r>
              <a:rPr sz="2000" dirty="0">
                <a:solidFill>
                  <a:srgbClr val="4078F0"/>
                </a:solidFill>
              </a:rPr>
              <a:t>status</a:t>
            </a:r>
            <a:r>
              <a:rPr sz="2000" spc="-25" dirty="0">
                <a:solidFill>
                  <a:srgbClr val="4078F0"/>
                </a:solidFill>
              </a:rPr>
              <a:t> </a:t>
            </a:r>
            <a:r>
              <a:rPr sz="2000" spc="-10" dirty="0">
                <a:solidFill>
                  <a:srgbClr val="4078F0"/>
                </a:solidFill>
              </a:rPr>
              <a:t>apache2</a:t>
            </a:r>
            <a:endParaRPr sz="2000"/>
          </a:p>
          <a:p>
            <a:pPr marL="469900" marR="5080" indent="-457200">
              <a:lnSpc>
                <a:spcPct val="114999"/>
              </a:lnSpc>
              <a:spcBef>
                <a:spcPts val="944"/>
              </a:spcBef>
              <a:buClr>
                <a:srgbClr val="B31166"/>
              </a:buClr>
              <a:buAutoNum type="arabicPeriod" startAt="6"/>
              <a:tabLst>
                <a:tab pos="469900" algn="l"/>
                <a:tab pos="2155190" algn="l"/>
                <a:tab pos="2821305" algn="l"/>
                <a:tab pos="4236085" algn="l"/>
                <a:tab pos="5480050" algn="l"/>
                <a:tab pos="5807710" algn="l"/>
                <a:tab pos="6354445" algn="l"/>
                <a:tab pos="7005320" algn="l"/>
                <a:tab pos="8470265" algn="l"/>
                <a:tab pos="8814435" algn="l"/>
                <a:tab pos="9209405" algn="l"/>
                <a:tab pos="10809605" algn="l"/>
              </a:tabLst>
            </a:pPr>
            <a:r>
              <a:rPr spc="-10" dirty="0"/>
              <a:t>Comprobar</a:t>
            </a:r>
            <a:r>
              <a:rPr dirty="0"/>
              <a:t>	</a:t>
            </a:r>
            <a:r>
              <a:rPr spc="-25" dirty="0"/>
              <a:t>que</a:t>
            </a:r>
            <a:r>
              <a:rPr dirty="0"/>
              <a:t>	</a:t>
            </a:r>
            <a:r>
              <a:rPr spc="-10" dirty="0"/>
              <a:t>podemos</a:t>
            </a:r>
            <a:r>
              <a:rPr dirty="0"/>
              <a:t>	</a:t>
            </a:r>
            <a:r>
              <a:rPr spc="-10" dirty="0"/>
              <a:t>acceder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25" dirty="0"/>
              <a:t>los</a:t>
            </a:r>
            <a:r>
              <a:rPr dirty="0"/>
              <a:t>	</a:t>
            </a:r>
            <a:r>
              <a:rPr spc="-25" dirty="0"/>
              <a:t>dos</a:t>
            </a:r>
            <a:r>
              <a:rPr dirty="0"/>
              <a:t>	</a:t>
            </a:r>
            <a:r>
              <a:rPr spc="-10" dirty="0"/>
              <a:t>dominios.</a:t>
            </a:r>
            <a:r>
              <a:rPr dirty="0"/>
              <a:t>	</a:t>
            </a:r>
            <a:r>
              <a:rPr spc="-25" dirty="0"/>
              <a:t>Ir</a:t>
            </a:r>
            <a:r>
              <a:rPr dirty="0"/>
              <a:t>	</a:t>
            </a:r>
            <a:r>
              <a:rPr spc="-25" dirty="0"/>
              <a:t>al</a:t>
            </a:r>
            <a:r>
              <a:rPr dirty="0"/>
              <a:t>	</a:t>
            </a:r>
            <a:r>
              <a:rPr spc="-10" dirty="0"/>
              <a:t>navegador</a:t>
            </a:r>
            <a:r>
              <a:rPr dirty="0"/>
              <a:t>	</a:t>
            </a:r>
            <a:r>
              <a:rPr spc="-50" dirty="0"/>
              <a:t>y </a:t>
            </a:r>
            <a:r>
              <a:rPr dirty="0"/>
              <a:t>escribir</a:t>
            </a:r>
            <a:r>
              <a:rPr spc="-85" dirty="0"/>
              <a:t> </a:t>
            </a:r>
            <a:r>
              <a:rPr sz="2200" spc="-10" dirty="0"/>
              <a:t>prueba1.com.</a:t>
            </a:r>
            <a:endParaRPr sz="2200"/>
          </a:p>
          <a:p>
            <a:pPr marL="455295" algn="ctr">
              <a:lnSpc>
                <a:spcPct val="100000"/>
              </a:lnSpc>
              <a:spcBef>
                <a:spcPts val="1540"/>
              </a:spcBef>
            </a:pPr>
            <a:r>
              <a:rPr sz="5400" spc="-10" dirty="0"/>
              <a:t>¿FUNCIONA?</a:t>
            </a:r>
            <a:endParaRPr sz="5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653" y="2225166"/>
            <a:ext cx="10975340" cy="395541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547235" algn="just">
              <a:lnSpc>
                <a:spcPct val="100000"/>
              </a:lnSpc>
              <a:spcBef>
                <a:spcPts val="1525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funciona!!!</a:t>
            </a:r>
            <a:endParaRPr sz="2400">
              <a:latin typeface="Arial MT"/>
              <a:cs typeface="Arial MT"/>
            </a:endParaRPr>
          </a:p>
          <a:p>
            <a:pPr marL="12700" marR="6350" algn="just">
              <a:lnSpc>
                <a:spcPct val="114999"/>
              </a:lnSpc>
              <a:spcBef>
                <a:spcPts val="1000"/>
              </a:spcBef>
            </a:pPr>
            <a:r>
              <a:rPr sz="2400" dirty="0">
                <a:latin typeface="Arial MT"/>
                <a:cs typeface="Arial MT"/>
              </a:rPr>
              <a:t>Ahora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utilizando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configuración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direcciones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IP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son </a:t>
            </a:r>
            <a:r>
              <a:rPr sz="2400" dirty="0">
                <a:latin typeface="Arial MT"/>
                <a:cs typeface="Arial MT"/>
              </a:rPr>
              <a:t>direcciones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privadas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nuestra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conexión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funciones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debemos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incluir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siguientes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cambios:</a:t>
            </a:r>
            <a:endParaRPr sz="2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B31166"/>
                </a:solidFill>
                <a:latin typeface="Arial MT"/>
                <a:cs typeface="Arial MT"/>
              </a:rPr>
              <a:t>1.</a:t>
            </a:r>
            <a:r>
              <a:rPr sz="2400" spc="105" dirty="0">
                <a:solidFill>
                  <a:srgbClr val="B31166"/>
                </a:solidFill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Abrir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10" dirty="0">
                <a:latin typeface="Arial MT"/>
                <a:cs typeface="Arial MT"/>
              </a:rPr>
              <a:t> fichero:</a:t>
            </a:r>
            <a:endParaRPr sz="2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#</a:t>
            </a:r>
            <a:r>
              <a:rPr sz="2000" spc="-5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78F0"/>
                </a:solidFill>
                <a:latin typeface="Arial MT"/>
                <a:cs typeface="Arial MT"/>
              </a:rPr>
              <a:t>nano</a:t>
            </a:r>
            <a:r>
              <a:rPr sz="2000" spc="-30" dirty="0">
                <a:solidFill>
                  <a:srgbClr val="4078F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78F0"/>
                </a:solidFill>
                <a:latin typeface="Arial MT"/>
                <a:cs typeface="Arial MT"/>
              </a:rPr>
              <a:t>/etc/hosts</a:t>
            </a:r>
            <a:endParaRPr sz="2000">
              <a:latin typeface="Arial MT"/>
              <a:cs typeface="Arial MT"/>
            </a:endParaRPr>
          </a:p>
          <a:p>
            <a:pPr marL="12700" marR="5080" algn="just">
              <a:lnSpc>
                <a:spcPct val="114999"/>
              </a:lnSpc>
              <a:spcBef>
                <a:spcPts val="930"/>
              </a:spcBef>
            </a:pPr>
            <a:r>
              <a:rPr sz="2400" dirty="0">
                <a:latin typeface="Arial MT"/>
                <a:cs typeface="Arial MT"/>
              </a:rPr>
              <a:t>En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este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fichero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podemos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mapear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dirección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IP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donde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queremos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resuelva </a:t>
            </a:r>
            <a:r>
              <a:rPr sz="2400" dirty="0">
                <a:latin typeface="Arial MT"/>
                <a:cs typeface="Arial MT"/>
              </a:rPr>
              <a:t>nuestros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dominios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están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agregaremos: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999" y="747471"/>
            <a:ext cx="9873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0178" y="1418589"/>
            <a:ext cx="2228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>
                <a:solidFill>
                  <a:srgbClr val="EE52A4"/>
                </a:solidFill>
                <a:latin typeface="Times New Roman"/>
                <a:cs typeface="Times New Roman"/>
              </a:rPr>
              <a:t>APACHE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339" y="2515742"/>
            <a:ext cx="6494271" cy="37961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35400" marR="5080" indent="-3818254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CONFIGURAR</a:t>
            </a:r>
            <a:r>
              <a:rPr spc="-25" dirty="0"/>
              <a:t> </a:t>
            </a:r>
            <a:r>
              <a:rPr spc="-325" dirty="0"/>
              <a:t>DOS</a:t>
            </a:r>
            <a:r>
              <a:rPr dirty="0"/>
              <a:t> </a:t>
            </a:r>
            <a:r>
              <a:rPr spc="-260" dirty="0"/>
              <a:t>HOST</a:t>
            </a:r>
            <a:r>
              <a:rPr spc="-10" dirty="0"/>
              <a:t> </a:t>
            </a:r>
            <a:r>
              <a:rPr spc="-175" dirty="0"/>
              <a:t>VIRTUALES</a:t>
            </a:r>
            <a:r>
              <a:rPr spc="-10" dirty="0"/>
              <a:t> </a:t>
            </a:r>
            <a:r>
              <a:rPr spc="-290" dirty="0"/>
              <a:t>EN </a:t>
            </a:r>
            <a:r>
              <a:rPr spc="-10" dirty="0"/>
              <a:t>APACHE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6F2F9F"/>
                </a:solidFill>
              </a:rPr>
              <a:t>¿AHORA</a:t>
            </a:r>
            <a:r>
              <a:rPr sz="6000" spc="-355" dirty="0">
                <a:solidFill>
                  <a:srgbClr val="6F2F9F"/>
                </a:solidFill>
              </a:rPr>
              <a:t> </a:t>
            </a:r>
            <a:r>
              <a:rPr sz="6000" spc="-10" dirty="0">
                <a:solidFill>
                  <a:srgbClr val="6F2F9F"/>
                </a:solidFill>
              </a:rPr>
              <a:t>FUNCIONA?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553</Words>
  <Application>Microsoft Office PowerPoint</Application>
  <PresentationFormat>Panorámica</PresentationFormat>
  <Paragraphs>97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Arial MT</vt:lpstr>
      <vt:lpstr>Times New Roman</vt:lpstr>
      <vt:lpstr>Trebuchet MS</vt:lpstr>
      <vt:lpstr>Wingdings</vt:lpstr>
      <vt:lpstr>Wingdings 3</vt:lpstr>
      <vt:lpstr>Faceta</vt:lpstr>
      <vt:lpstr>SERVIDOR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 APACHE</vt:lpstr>
      <vt:lpstr>CONFIGURAR DOS HOST VIRTUALES EN</vt:lpstr>
      <vt:lpstr>CONFIGURAR DOS HOST VIRTUALES EN APACHE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APACHE</dc:title>
  <dc:creator>lorea mendieta lastra</dc:creator>
  <cp:lastModifiedBy>Jon Loroño Arnaiz</cp:lastModifiedBy>
  <cp:revision>1</cp:revision>
  <dcterms:created xsi:type="dcterms:W3CDTF">2025-10-06T14:05:29Z</dcterms:created>
  <dcterms:modified xsi:type="dcterms:W3CDTF">2025-10-06T14:07:12Z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2025-10-06T00:00:00Z</vt:filetime>
  </property>
  <property fmtid="{D5CDD505-2E9C-101B-9397-08002B2CF9AE}" pid="5" name="Producer">
    <vt:lpwstr>Microsoft® PowerPoint® 2019</vt:lpwstr>
  </property>
</Properties>
</file>