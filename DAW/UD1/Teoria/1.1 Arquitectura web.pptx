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47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01168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IMPLANTACIÓN DE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WEB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886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2026–2027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escritorio vs aplicación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 de la unidad.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0992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escritorio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30552"/>
            <a:ext cx="46177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instala en el equipo y se ejecuta principalmente en el propio sistema operativo.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Photoshop, VS Code, LibreOffice.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0992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30552"/>
            <a:ext cx="461772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utiliza normalmente desde un navegador accediendo a un servicio publicado en una red.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Ejemplos: Gmail, Moodle, Google Drive.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68680" y="5120640"/>
            <a:ext cx="10515600" cy="594360"/>
          </a:xfrm>
          <a:prstGeom prst="rect">
            <a:avLst/>
          </a:prstGeom>
          <a:solidFill>
            <a:srgbClr val="FFF8E1"/>
          </a:solidFill>
          <a:ln>
            <a:solidFill>
              <a:srgbClr val="F39C1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¿Discord, Spotify o WhatsApp </a:t>
            </a:r>
            <a:r>
              <a:rPr lang="en-US" sz="2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son?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usamos aplicaciones web?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ventajas y problemas típicos.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FFF3D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18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habituales en escritorio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039112"/>
            <a:ext cx="46177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Instalaciones en muchos equipos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Actualizaciones más complicadas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Dependencias diferentes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Datos repartidos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Seguridad más difícil de controlar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074920" cy="3703320"/>
          </a:xfrm>
          <a:prstGeom prst="roundRect">
            <a:avLst>
              <a:gd name="adj" fmla="val 1975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18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 habituales en web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039112"/>
            <a:ext cx="461772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Acceso desde navegador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Información centralizada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Actualización más sencilla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Copias de seguridad centralizadas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Movilidad y menor dependencia del equipo cliente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significa desplegar?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24231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248716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49040" y="2788920"/>
            <a:ext cx="9144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24231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248716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89520" y="2788920"/>
            <a:ext cx="9144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32520" y="242316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05672" y="2487168"/>
            <a:ext cx="2322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977640"/>
            <a:ext cx="996696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Desplegar es preparar una aplicación para que pueda ejecutarse en un entorno y ser utilizada por otras personas.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5074920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tengo una web terminada en mi ordenador. ¿Qué tengo que hacer para que funcione en otro entorno?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/ servidor: la idea mínima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24231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0432" y="2487168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60520" y="2788920"/>
            <a:ext cx="3703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21040" y="24231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94192" y="2487168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9875520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cliente pide algo. El servidor procesa la petición y devuelve una respuesta.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el navegador solicita una página y el servidor responde con los recursos necesarios.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básico de una petición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foto general, sin entrar todavía en detalles.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928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Navegador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71800" y="2112264"/>
            <a:ext cx="9144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69080" y="18288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42232" y="18928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Petición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112264"/>
            <a:ext cx="9144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182880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34072" y="1892808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Servidor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0" y="2551176"/>
            <a:ext cx="0" cy="292608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52360" y="293522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971800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Respuesta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103784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adelante veremos qué ocurre exactamente dentro de cada paso: URL, DNS, HTTP, cabeceras, códigos de respuesta...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90B6A21E-A66C-9071-4D91-DB84D7923CB3}"/>
              </a:ext>
            </a:extLst>
          </p:cNvPr>
          <p:cNvSpPr/>
          <p:nvPr/>
        </p:nvSpPr>
        <p:spPr>
          <a:xfrm flipH="1" flipV="1">
            <a:off x="2834640" y="2459736"/>
            <a:ext cx="4526280" cy="77724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general de una aplicación web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rápida: no hace falta memorizarlo todo hoy.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257860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063240" y="2834640"/>
            <a:ext cx="7315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77640" y="251460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50792" y="2578608"/>
            <a:ext cx="1911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web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834640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86600" y="251460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3DF"/>
          </a:solidFill>
          <a:ln w="12700">
            <a:solidFill>
              <a:srgbClr val="FFF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9752" y="2578608"/>
            <a:ext cx="17739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89720" y="2834640"/>
            <a:ext cx="6858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0" y="251460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31552" y="2578608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206240"/>
            <a:ext cx="1042416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interesante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las partes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esten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separadas</a:t>
            </a: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y servicios que aparecerán en el módulo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un mapa rápido.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556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HTTPS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76272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web entre navegador y servidor. HTTPS añade cifrado.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556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176272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Traduce nombres de dominio a direcciones de red. Lo veremos en componentes.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5280" y="1554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556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FTP / SFTP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176272"/>
            <a:ext cx="29718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Transferencia de archivos. Lo veremos cuando despleguemos y administremos servidores.</a:t>
            </a:r>
            <a:endParaRPr lang="en-US" sz="155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F13B4C-8C02-59EB-35D7-BBB106843E4B}"/>
              </a:ext>
            </a:extLst>
          </p:cNvPr>
          <p:cNvGrpSpPr/>
          <p:nvPr/>
        </p:nvGrpSpPr>
        <p:grpSpPr>
          <a:xfrm>
            <a:off x="2308860" y="3762756"/>
            <a:ext cx="3429000" cy="1417320"/>
            <a:chOff x="2606040" y="3886200"/>
            <a:chExt cx="3429000" cy="1417320"/>
          </a:xfrm>
        </p:grpSpPr>
        <p:sp>
          <p:nvSpPr>
            <p:cNvPr id="13" name="Shape 11"/>
            <p:cNvSpPr/>
            <p:nvPr/>
          </p:nvSpPr>
          <p:spPr>
            <a:xfrm>
              <a:off x="2606040" y="3886200"/>
              <a:ext cx="3429000" cy="1417320"/>
            </a:xfrm>
            <a:prstGeom prst="roundRect">
              <a:avLst>
                <a:gd name="adj" fmla="val 5161"/>
              </a:avLst>
            </a:prstGeom>
            <a:solidFill>
              <a:srgbClr val="F3F4F6"/>
            </a:solidFill>
            <a:ln w="12700">
              <a:solidFill>
                <a:srgbClr val="D9DEE7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2834640" y="4087368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SMTP</a:t>
              </a:r>
              <a:endParaRPr lang="en-US" sz="1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834640" y="4507992"/>
              <a:ext cx="2971800" cy="59436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 fontScale="92500" lnSpcReduction="10000"/>
            </a:bodyPr>
            <a:lstStyle/>
            <a:p>
              <a:pPr marL="0" indent="0">
                <a:buNone/>
              </a:pPr>
              <a:r>
                <a:rPr lang="en-US" sz="15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Correo electrónico. Se nombra como protocolo, pero no será el centro de la UD.</a:t>
              </a:r>
              <a:endParaRPr lang="en-US" sz="155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3A8EE1C-DBA3-002D-EB83-5AD74FB567ED}"/>
              </a:ext>
            </a:extLst>
          </p:cNvPr>
          <p:cNvGrpSpPr/>
          <p:nvPr/>
        </p:nvGrpSpPr>
        <p:grpSpPr>
          <a:xfrm>
            <a:off x="6400800" y="3762756"/>
            <a:ext cx="3429000" cy="1417320"/>
            <a:chOff x="6172200" y="3886200"/>
            <a:chExt cx="3429000" cy="1417320"/>
          </a:xfrm>
        </p:grpSpPr>
        <p:sp>
          <p:nvSpPr>
            <p:cNvPr id="16" name="Shape 14"/>
            <p:cNvSpPr/>
            <p:nvPr/>
          </p:nvSpPr>
          <p:spPr>
            <a:xfrm>
              <a:off x="6172200" y="3886200"/>
              <a:ext cx="3429000" cy="1417320"/>
            </a:xfrm>
            <a:prstGeom prst="roundRect">
              <a:avLst>
                <a:gd name="adj" fmla="val 5161"/>
              </a:avLst>
            </a:prstGeom>
            <a:solidFill>
              <a:srgbClr val="F3F4F6"/>
            </a:solidFill>
            <a:ln w="12700">
              <a:solidFill>
                <a:srgbClr val="D9DEE7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400800" y="4087368"/>
              <a:ext cx="2971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Otros</a:t>
              </a:r>
              <a:endParaRPr lang="en-US" sz="18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400800" y="4507992"/>
              <a:ext cx="2971800" cy="59436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TCP/IP, puertos, </a:t>
              </a:r>
              <a:r>
                <a:rPr lang="en-US" sz="1550" dirty="0" err="1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servicios</a:t>
              </a:r>
              <a:r>
                <a:rPr lang="en-US" sz="1550" dirty="0">
                  <a:solidFill>
                    <a:srgbClr val="11111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.</a:t>
              </a:r>
              <a:endParaRPr lang="en-US" sz="155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F6DA8575-76D8-760C-95CE-16EF60987E6A}"/>
              </a:ext>
            </a:extLst>
          </p:cNvPr>
          <p:cNvSpPr/>
          <p:nvPr/>
        </p:nvSpPr>
        <p:spPr>
          <a:xfrm>
            <a:off x="4932317" y="5550408"/>
            <a:ext cx="2342605" cy="416142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/>
            <a:r>
              <a:rPr lang="es-ES" dirty="0"/>
              <a:t>nslookup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y componentes: vocabulario mínimo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221992"/>
            <a:ext cx="29718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 interpreta el usuario. Normalmente frontend: HTML, CSS, JavaScript.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FFF3D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221992"/>
            <a:ext cx="29718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de la aplicación: reglas, operaciones, validaciones, respuestas.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429000" cy="3154680"/>
          </a:xfrm>
          <a:prstGeom prst="roundRect">
            <a:avLst>
              <a:gd name="adj" fmla="val 2319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8013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221992"/>
            <a:ext cx="29718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Persistencia: bases de datos, ficheros, almacenamiento y copias.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A3620C0D-0F19-8F9C-70EE-9C09C3782BA3}"/>
              </a:ext>
            </a:extLst>
          </p:cNvPr>
          <p:cNvSpPr/>
          <p:nvPr/>
        </p:nvSpPr>
        <p:spPr>
          <a:xfrm>
            <a:off x="3507921" y="5423700"/>
            <a:ext cx="5191397" cy="416142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pPr algn="ctr"/>
            <a:r>
              <a:rPr lang="es-ES" dirty="0"/>
              <a:t>¿En Moodle que hace cada capa?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aplicaciones web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09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30552"/>
            <a:ext cx="29718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apenas cambia si no se modifica el archivo publicado.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709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Dinámica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130552"/>
            <a:ext cx="29718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puede generarse o cambiar según datos, usuarios o reglas.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55280" y="150876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709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130552"/>
            <a:ext cx="29718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acción del usuario provoca comunicación y cambios en la aplicación.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10287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¿Se </a:t>
            </a:r>
            <a:r>
              <a:rPr lang="en-US" sz="1600" dirty="0" err="1"/>
              <a:t>os</a:t>
            </a:r>
            <a:r>
              <a:rPr lang="en-US" sz="1600" dirty="0"/>
              <a:t> </a:t>
            </a:r>
            <a:r>
              <a:rPr lang="en-US" sz="1600" dirty="0" err="1"/>
              <a:t>ocurre</a:t>
            </a:r>
            <a:r>
              <a:rPr lang="en-US" sz="1600" dirty="0"/>
              <a:t> </a:t>
            </a:r>
            <a:r>
              <a:rPr lang="en-US" sz="1600" dirty="0" err="1"/>
              <a:t>algun</a:t>
            </a:r>
            <a:r>
              <a:rPr lang="en-US" sz="1600" dirty="0"/>
              <a:t> </a:t>
            </a:r>
            <a:r>
              <a:rPr lang="en-US" sz="1600" dirty="0" err="1"/>
              <a:t>ejemplo</a:t>
            </a:r>
            <a:r>
              <a:rPr lang="en-US" sz="1600" dirty="0"/>
              <a:t> de </a:t>
            </a:r>
            <a:r>
              <a:rPr lang="en-US" sz="1600" dirty="0" err="1"/>
              <a:t>cada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?</a:t>
            </a:r>
          </a:p>
        </p:txBody>
      </p:sp>
      <p:sp>
        <p:nvSpPr>
          <p:cNvPr id="14" name="Shape 12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breve: clasifica y justifica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minutos en parejas.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Elegid 4 aplicaciones que uséis normalmente y clasificadlas: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2057400"/>
            <a:ext cx="4754880" cy="3154680"/>
          </a:xfrm>
          <a:prstGeom prst="roundRect">
            <a:avLst>
              <a:gd name="adj" fmla="val 2319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2258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guía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679192"/>
            <a:ext cx="42976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¿Es web, escritorio o ambas?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¿Necesita instalación?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¿Dónde creéis que se ejecuta realmente?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¿Qué ocurre cuando se actualiza?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309360" y="2057400"/>
            <a:ext cx="4754880" cy="3154680"/>
          </a:xfrm>
          <a:prstGeom prst="roundRect">
            <a:avLst>
              <a:gd name="adj" fmla="val 2319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258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posibles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679192"/>
            <a:ext cx="42976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· Moodle · Spotify · Discord · WhatsApp · Drive · Netflix · Banco online · VS Code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podemos ejecutar una aplicación o servicio?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equipo físico al contenedor.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756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física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496312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directamente un ordenador o servidor concreto.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251960" y="30632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26280" y="1874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0756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virtual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2496312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 un sistema completo dentro de otro sistema.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55280" y="3063240"/>
            <a:ext cx="2743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874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0756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496312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un servicio de forma aislada y más ligera que una VM.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problema: “en mi ordenador funciona”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de los grandes problemas al desplegar.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4241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puede depender de: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3D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2585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679192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Java, PHP, Node, Python, base de datos...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389120" y="20574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3D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585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679192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Librerías, extensiones, paquetes del sistema...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55280" y="205740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3D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22585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83880" y="2679192"/>
            <a:ext cx="2971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Rutas, variables, permisos, puertos...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241280" cy="548640"/>
          </a:xfrm>
          <a:prstGeom prst="rect">
            <a:avLst/>
          </a:prstGeom>
          <a:solidFill>
            <a:srgbClr val="FFF8E1"/>
          </a:solidFill>
          <a:ln>
            <a:solidFill>
              <a:srgbClr val="F39C1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20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podría fallar si envío mi proyecto a otro ordenador?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Docker: imagen y contenedor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4183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idea, sin entrar todavía en comandos.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43000" y="187452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EAF2FF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496312"/>
            <a:ext cx="3657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preparada con lo necesario para ejecutar un servicio.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imagen de Nginx.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40680" y="3337560"/>
            <a:ext cx="114300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903720" y="187452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EAF5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0" y="2496312"/>
            <a:ext cx="3657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real de una imagen.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Nginx funcionando en un puerto de nuestro equipo.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= receta / Contenedor = receta ejecutándose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" y="6473952"/>
            <a:ext cx="10972800" cy="0"/>
          </a:xfrm>
          <a:prstGeom prst="line">
            <a:avLst/>
          </a:prstGeom>
          <a:noFill/>
          <a:ln w="635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Aplicaciones Web · UD1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884</Words>
  <Application>Microsoft Office PowerPoint</Application>
  <PresentationFormat>Widescreen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Tartanga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UD1 Implantación de Arquitectura Web</dc:title>
  <dc:subject>Despliegue de Aplicaciones Web</dc:subject>
  <dc:creator>OpenAI</dc:creator>
  <cp:lastModifiedBy>iozalla</cp:lastModifiedBy>
  <cp:revision>3</cp:revision>
  <dcterms:created xsi:type="dcterms:W3CDTF">2026-09-09T16:51:39Z</dcterms:created>
  <dcterms:modified xsi:type="dcterms:W3CDTF">2026-09-09T17:19:41Z</dcterms:modified>
</cp:coreProperties>
</file>