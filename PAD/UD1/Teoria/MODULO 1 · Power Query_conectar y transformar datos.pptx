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389" r:id="rId3"/>
    <p:sldId id="388" r:id="rId4"/>
    <p:sldId id="387" r:id="rId5"/>
    <p:sldId id="390" r:id="rId6"/>
    <p:sldId id="314" r:id="rId7"/>
    <p:sldId id="315" r:id="rId8"/>
    <p:sldId id="449" r:id="rId9"/>
    <p:sldId id="450" r:id="rId10"/>
    <p:sldId id="455" r:id="rId11"/>
    <p:sldId id="456" r:id="rId12"/>
    <p:sldId id="458" r:id="rId13"/>
    <p:sldId id="374" r:id="rId14"/>
    <p:sldId id="318" r:id="rId15"/>
    <p:sldId id="276" r:id="rId16"/>
    <p:sldId id="394" r:id="rId17"/>
    <p:sldId id="395" r:id="rId18"/>
    <p:sldId id="396" r:id="rId19"/>
    <p:sldId id="397" r:id="rId20"/>
    <p:sldId id="398" r:id="rId21"/>
    <p:sldId id="393" r:id="rId22"/>
    <p:sldId id="373" r:id="rId23"/>
    <p:sldId id="320" r:id="rId24"/>
    <p:sldId id="409" r:id="rId25"/>
    <p:sldId id="326" r:id="rId26"/>
    <p:sldId id="376" r:id="rId27"/>
    <p:sldId id="329" r:id="rId28"/>
    <p:sldId id="338" r:id="rId29"/>
    <p:sldId id="339" r:id="rId30"/>
    <p:sldId id="340" r:id="rId31"/>
    <p:sldId id="341" r:id="rId32"/>
    <p:sldId id="342" r:id="rId33"/>
    <p:sldId id="343" r:id="rId34"/>
    <p:sldId id="383" r:id="rId35"/>
    <p:sldId id="331" r:id="rId36"/>
    <p:sldId id="347" r:id="rId37"/>
    <p:sldId id="350" r:id="rId38"/>
    <p:sldId id="378" r:id="rId39"/>
    <p:sldId id="348" r:id="rId40"/>
    <p:sldId id="351" r:id="rId41"/>
    <p:sldId id="295" r:id="rId42"/>
    <p:sldId id="463" r:id="rId43"/>
    <p:sldId id="464" r:id="rId44"/>
    <p:sldId id="460" r:id="rId45"/>
    <p:sldId id="424" r:id="rId46"/>
    <p:sldId id="430" r:id="rId47"/>
    <p:sldId id="428" r:id="rId48"/>
    <p:sldId id="427" r:id="rId49"/>
    <p:sldId id="434" r:id="rId50"/>
    <p:sldId id="423" r:id="rId5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72F50C-D9D4-41F1-8775-5D69B715D18D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57CAD-79F6-420F-9545-D224F137545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624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4769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19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27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8790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4096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3935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2881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614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5913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1687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533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501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327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6493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0872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F552-CDAE-B4C5-1A19-083B3EDB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852510-B6CA-A9FA-20D1-A521721A1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41E00E-B335-D295-DC5D-5D465082A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B50962-A212-8794-2C21-626D3F1E8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5009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5624-B290-0C30-90BD-E5BADFAD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0AFB83-71DE-FA60-8666-FBA71CD59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C1463C-4E0C-A16B-7839-0467F86CD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9050BA-F9F0-1147-0247-3C8B852A1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7385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C269-6936-05BA-C507-552CC0E3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9D079E-EF51-2393-5460-AC69D79C5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D93CC7-59D7-5D9B-557B-E96214D04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13FEEB-C4FB-0E97-53EF-13B0B2F49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54293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ABB5C-976A-13CE-1679-816DB9FC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CEB34A-751E-7E13-DC0F-6AE8DC148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F28619-EE1A-E4FD-670B-79D608C80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E85C07-455A-6AF0-FA49-C1062058D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72798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A0E5-8BD4-AA67-487A-AD34C84D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5C035F-1159-E83B-2EC6-BF804A4CD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D0CD79-B6C9-491F-B4C9-C92F2C886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D8A808-D222-2930-F36A-571698776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5081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F64E7-F377-A45D-9ECC-78C79BEE0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4E72E0-93F8-5C8C-A548-EDDE74342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497DAD-380C-84CC-8F85-8E63CD86C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44D1D7-AD1B-0CF4-DC49-83F740935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124F-5A61-4B51-B9E8-E951A17BF7D2}" type="slidenum">
              <a:rPr lang="es-ES" smtClean="0"/>
              <a:t>50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5303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6072C-72BC-56E1-CA77-7BF2DA987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E06A63-D600-B157-EFC3-E13586D34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E9C923-DF4C-2F71-DC82-8D13B1CD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1E2D45-BC41-91A4-0FCF-E9E75B2B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9FDBF9-265C-99B3-0200-D15D7037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74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0C6FC-3B67-514A-0F34-BBDB93F8D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17549-2BDE-9DE3-6823-509C7988E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75F8BF-7176-7373-4E43-A24D1EA0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Fluent Icons" panose="050A0102010101010101" pitchFamily="18" charset="0"/>
              </a:defRPr>
            </a:lvl1pPr>
          </a:lstStyle>
          <a:p>
            <a:r>
              <a:rPr lang="pt-BR" dirty="0"/>
              <a:t>Curso Power BI – Módulo  X</a:t>
            </a:r>
            <a:endParaRPr lang="es-ES" dirty="0">
              <a:latin typeface="Segoe Fluent Icons" panose="050A0102010101010101" pitchFamily="18" charset="0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714CD-3919-DE01-E2B7-3992A938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AD7B16-2863-1F34-2B74-DE898059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63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D4F71-3E90-948C-3986-7E91912B5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AD9B4B-3D48-13A2-A89E-AE418EF00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2E8E6B-C609-C672-7419-BBAAD376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DC07F4-CD3B-6F94-7254-BFC2F64AC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173582-AB75-004D-4B49-6432AFD1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385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6A4E9-EC48-B281-FBD0-CF9C64EE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3C0252-84B2-3CEA-3073-69D146F23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5AB6E2-8ADB-DFE2-B84F-A2EA450B9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356F7F-82E7-6B73-B924-7DED3481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14DF9F-BEE3-9E87-B3A4-675148E2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4C121C-9372-6924-DCDC-A94D5F12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173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1F346-EB2D-E108-9DC3-735EEA24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D1C308-AEFD-7BB7-056A-42234AE27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5E010B-D4BF-AF4B-BB0A-B48353CC0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AE15B5-D482-9E40-046B-F80E60D19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C3CBB1-889A-8C63-9766-A103A1DCB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641538-DB66-981B-D951-F1BB5FDB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A69E32-8AAD-5D5E-7FC9-AC639BBF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A3F558-28CC-33A2-E280-073FC287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2109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F5FF9-C9C2-4788-613A-83B3A402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D16CDF-F355-C7AB-D94B-87C37993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9BD725-5FEC-3617-7772-3C78630C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1F3F34-6BAB-389E-68D5-7189B993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986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B0520D-C8C9-8752-03AA-CE54BD43E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212411-29E2-458B-F597-4BD7182E6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3956DD-605F-DDBE-5C14-A02C57D1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37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A6284-EDFD-B428-F128-7E3F94C28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E785DE-8B33-3BE0-0E22-DC2BA6164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A3AC9F-25EF-DE82-3213-4171BE893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F4B9F7-A923-89AA-FF37-ED63B107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6DB2D4-FC99-1FC5-C313-1809FC8A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4E7AB9-9FFC-FD96-C255-AD1D5003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716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A8523-F6D0-50EF-A284-9D8663DB5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AC99A5-868A-9B01-B436-718EA9435A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60C752-1FDC-B244-811E-6B5618F10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CC2D83-F9E8-C3D7-C22C-8DFA99EB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49BFDA-00B4-235C-C1F1-AB25086E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7FB064-6B24-CE2A-056F-D95BD605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1430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F8EFC-3A14-AD38-E26D-9711CC08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DC153A-6AC0-1503-1245-E38A9931D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8875AF-F61E-E658-75D1-1C966643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35DD9E-353D-36FB-BE5A-8DAB2484F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83147D-F5EA-FB18-A2AB-E58CF939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925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1CF8DC-1CEA-2F42-90C3-8133E5999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A96F93-C982-62C9-0900-8063191B6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3DBAC3-2EED-11AB-ADF0-A3B2BA7C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1BE6FA-45F6-9116-D6E1-0E074385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D9A8FF-43DA-D5C8-E4D4-0F2BC92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578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A16E7D4-7161-F8FD-BDEC-87C1F465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2B8B59-BF68-1897-4B0D-3EB455DF6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E339F5-1EB0-D641-AE3D-889ADFD29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9D551-3550-482D-8E4E-B6565499D366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88447B-7272-2EF0-9CF1-0E8334F50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CEF5AA-5BBF-6AEE-D880-4A6A2D054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5FDAE-A1A0-4C75-A20B-D9E0E6C12A7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2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5B81A-6274-8200-A72C-2A9757EEB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err="1"/>
              <a:t>Power</a:t>
            </a:r>
            <a:r>
              <a:rPr lang="es-CO" dirty="0"/>
              <a:t> </a:t>
            </a:r>
            <a:r>
              <a:rPr lang="es-CO" dirty="0" err="1"/>
              <a:t>Query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20E805-29E2-0E7E-1822-F1E70DDAC0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Conectar y transformar datos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409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B97D1-27BA-CF71-E535-6CAEA700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"Motor" de </a:t>
            </a:r>
            <a:r>
              <a:rPr lang="es-ES" dirty="0" err="1"/>
              <a:t>Power</a:t>
            </a:r>
            <a:r>
              <a:rPr lang="es-ES" dirty="0"/>
              <a:t> BI: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Query</a:t>
            </a:r>
            <a:r>
              <a:rPr lang="es-ES" dirty="0"/>
              <a:t> (ETL)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87743AA-5253-78B4-B74A-ACB72B3CB2EA}"/>
              </a:ext>
            </a:extLst>
          </p:cNvPr>
          <p:cNvSpPr txBox="1"/>
          <p:nvPr/>
        </p:nvSpPr>
        <p:spPr>
          <a:xfrm>
            <a:off x="972008" y="1434241"/>
            <a:ext cx="102574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</a:t>
            </a:r>
            <a:r>
              <a:rPr kumimoji="0" lang="es-ES" altLang="es-E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Conectar a los datos.- 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Crear conexiones a datos desde prácticamente cualquier fuente de datos (base  de datos relacional, archivo plano,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json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xml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, Azure, Hadoop …) en la nube, en un  servicio o localmente.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Transform</a:t>
            </a:r>
            <a:r>
              <a:rPr kumimoji="0" lang="es-ES" altLang="es-ES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lang="es-ES" altLang="es-ES" dirty="0">
                <a:latin typeface="Arial" panose="020B0604020202020204" pitchFamily="34" charset="0"/>
              </a:rPr>
              <a:t> 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darle forma a los datos según sus necesidades; el origen original permanece sin modificar. Fusionar, combinar, limpieza, añadir  o simplemente cambiar de alguna forma y enriquecer los datos para su uso posterior.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Load</a:t>
            </a:r>
            <a:r>
              <a:rPr kumimoji="0" lang="es-ES" altLang="es-ES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Pasar los datos limpios al informe.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 Cargar los datos transformados para que puedan ser analizados con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PowerBI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Gráfico 9" descr="Base de datos contorno">
            <a:extLst>
              <a:ext uri="{FF2B5EF4-FFF2-40B4-BE49-F238E27FC236}">
                <a16:creationId xmlns:a16="http://schemas.microsoft.com/office/drawing/2014/main" id="{454507C4-CD10-CB84-588D-03F0C4D6D0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313" y="5423759"/>
            <a:ext cx="1663736" cy="136356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E1B05BA-9060-7CE7-582B-B5D5D6CDF52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68908" y="4706082"/>
            <a:ext cx="1341898" cy="13191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5090618-B873-1DCA-158B-04958257871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923749" y="3796857"/>
            <a:ext cx="1184188" cy="124830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86FF1A3-1F19-C348-F708-8E857253A55D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707665" y="4979192"/>
            <a:ext cx="1341899" cy="131919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DE67CEC-B779-82F8-B15E-21E5B0D7A85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962622" y="4936457"/>
            <a:ext cx="1391178" cy="13422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CBB86D0-01A5-1B3D-18FD-BCA08565869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80215" y="4296563"/>
            <a:ext cx="1146586" cy="103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0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A8F75-F99B-F096-83EB-C5995653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"Motor" de </a:t>
            </a:r>
            <a:r>
              <a:rPr lang="es-ES" dirty="0" err="1"/>
              <a:t>Power</a:t>
            </a:r>
            <a:r>
              <a:rPr lang="es-ES" dirty="0"/>
              <a:t> BI: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Query</a:t>
            </a:r>
            <a:r>
              <a:rPr lang="es-ES" dirty="0"/>
              <a:t> (ETL)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79C147-7667-6675-C29F-5C8F2747E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656"/>
            <a:ext cx="10515600" cy="4351338"/>
          </a:xfrm>
        </p:spPr>
        <p:txBody>
          <a:bodyPr/>
          <a:lstStyle/>
          <a:p>
            <a:r>
              <a:rPr lang="es-ES" sz="1800" dirty="0" err="1">
                <a:latin typeface="Arial" panose="020B0604020202020204" pitchFamily="34" charset="0"/>
                <a:cs typeface="+mn-cs"/>
              </a:rPr>
              <a:t>Power</a:t>
            </a:r>
            <a:r>
              <a:rPr lang="es-ES" sz="1800" dirty="0">
                <a:latin typeface="Arial" panose="020B0604020202020204" pitchFamily="34" charset="0"/>
                <a:cs typeface="+mn-cs"/>
              </a:rPr>
              <a:t> </a:t>
            </a:r>
            <a:r>
              <a:rPr lang="es-ES" sz="1800" dirty="0" err="1">
                <a:latin typeface="Arial" panose="020B0604020202020204" pitchFamily="34" charset="0"/>
                <a:cs typeface="+mn-cs"/>
              </a:rPr>
              <a:t>Query</a:t>
            </a:r>
            <a:r>
              <a:rPr lang="es-ES" sz="1800" dirty="0">
                <a:latin typeface="Arial" panose="020B0604020202020204" pitchFamily="34" charset="0"/>
                <a:cs typeface="+mn-cs"/>
              </a:rPr>
              <a:t> es la herramienta que </a:t>
            </a:r>
            <a:r>
              <a:rPr lang="es-ES" sz="1800" dirty="0" err="1">
                <a:latin typeface="Arial" panose="020B0604020202020204" pitchFamily="34" charset="0"/>
                <a:cs typeface="+mn-cs"/>
              </a:rPr>
              <a:t>Power</a:t>
            </a:r>
            <a:r>
              <a:rPr lang="es-ES" sz="1800" dirty="0">
                <a:latin typeface="Arial" panose="020B0604020202020204" pitchFamily="34" charset="0"/>
                <a:cs typeface="+mn-cs"/>
              </a:rPr>
              <a:t> BI utiliza para la extracción, transformación y carga (ETL) de datos.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52E8BAF-91F7-37B2-E08E-DDA091073BA6}"/>
              </a:ext>
            </a:extLst>
          </p:cNvPr>
          <p:cNvSpPr txBox="1"/>
          <p:nvPr/>
        </p:nvSpPr>
        <p:spPr>
          <a:xfrm>
            <a:off x="928687" y="5365711"/>
            <a:ext cx="10334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Para acceder a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Power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Query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desde Microsoft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Power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BI Desktop, basta con hacer clic sobre “Transformar datos” en la cinta de opciones de “Consultas” del menú “Inicio”: </a:t>
            </a:r>
            <a:endParaRPr lang="es-ES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96D4989-FA4D-D0E5-34DA-9943DCF8BBAA}"/>
              </a:ext>
            </a:extLst>
          </p:cNvPr>
          <p:cNvCxnSpPr>
            <a:cxnSpLocks/>
          </p:cNvCxnSpPr>
          <p:nvPr/>
        </p:nvCxnSpPr>
        <p:spPr>
          <a:xfrm flipV="1">
            <a:off x="6257925" y="4219575"/>
            <a:ext cx="381000" cy="428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73C9BBEF-A9CB-E062-AB69-B4F29844F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294" y="2093135"/>
            <a:ext cx="3894412" cy="306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6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CE9DA-57A5-0E79-9DBF-4135F5304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54" y="2417208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¿Cómo me conecto a mis datos?</a:t>
            </a:r>
          </a:p>
        </p:txBody>
      </p:sp>
    </p:spTree>
    <p:extLst>
      <p:ext uri="{BB962C8B-B14F-4D97-AF65-F5344CB8AC3E}">
        <p14:creationId xmlns:p14="http://schemas.microsoft.com/office/powerpoint/2010/main" val="331036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8715820-38AB-7128-F184-33D1EFC06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33" y="1444530"/>
            <a:ext cx="8996434" cy="50882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ECEFED1-514C-6D06-1CF5-F062CA77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me conecto a mis datos?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4F3418-90F3-430B-74B4-D6F6075B14D6}"/>
              </a:ext>
            </a:extLst>
          </p:cNvPr>
          <p:cNvSpPr txBox="1"/>
          <p:nvPr/>
        </p:nvSpPr>
        <p:spPr>
          <a:xfrm flipH="1">
            <a:off x="203356" y="3053451"/>
            <a:ext cx="1269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Vista informe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CE7B8CE-33A6-8810-2203-3D71218843B7}"/>
              </a:ext>
            </a:extLst>
          </p:cNvPr>
          <p:cNvSpPr/>
          <p:nvPr/>
        </p:nvSpPr>
        <p:spPr>
          <a:xfrm>
            <a:off x="3086100" y="3759413"/>
            <a:ext cx="7134225" cy="2574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AC811EE-E9D9-DD27-467A-BC6155829C48}"/>
              </a:ext>
            </a:extLst>
          </p:cNvPr>
          <p:cNvSpPr/>
          <p:nvPr/>
        </p:nvSpPr>
        <p:spPr>
          <a:xfrm>
            <a:off x="1362075" y="1511513"/>
            <a:ext cx="4010025" cy="1003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599574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¿Cómo me conecto a los datos?(2)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76731-9820-79AC-8963-2258F235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150"/>
            <a:ext cx="2800350" cy="1803400"/>
          </a:xfrm>
        </p:spPr>
        <p:txBody>
          <a:bodyPr>
            <a:normAutofit/>
          </a:bodyPr>
          <a:lstStyle/>
          <a:p>
            <a:r>
              <a:rPr lang="es-CO" sz="1200" dirty="0"/>
              <a:t>Desde la interfaz de </a:t>
            </a:r>
            <a:r>
              <a:rPr lang="es-CO" sz="1200" dirty="0" err="1"/>
              <a:t>Power</a:t>
            </a:r>
            <a:r>
              <a:rPr lang="es-CO" sz="1200" dirty="0"/>
              <a:t> Bi puedo acceder desde varias opciones.</a:t>
            </a:r>
          </a:p>
          <a:p>
            <a:r>
              <a:rPr lang="es-CO" sz="1200" dirty="0"/>
              <a:t>La forma intuitiva la hemos visto en la diapositiva anterior.</a:t>
            </a:r>
          </a:p>
          <a:p>
            <a:r>
              <a:rPr lang="es-CO" sz="1200" dirty="0"/>
              <a:t>Estas son las posibilidades desde el comando de obtener datos.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992D167-9903-39F3-5F68-366AC23988C2}"/>
              </a:ext>
            </a:extLst>
          </p:cNvPr>
          <p:cNvSpPr/>
          <p:nvPr/>
        </p:nvSpPr>
        <p:spPr>
          <a:xfrm>
            <a:off x="3293159" y="1348203"/>
            <a:ext cx="1221691" cy="1045876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3156181-0A26-541C-2D1F-30CA4878D062}"/>
              </a:ext>
            </a:extLst>
          </p:cNvPr>
          <p:cNvCxnSpPr>
            <a:cxnSpLocks/>
          </p:cNvCxnSpPr>
          <p:nvPr/>
        </p:nvCxnSpPr>
        <p:spPr>
          <a:xfrm>
            <a:off x="2876550" y="1789464"/>
            <a:ext cx="4357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C39B7B1-D515-FAEE-D246-6475B9CB10CC}"/>
              </a:ext>
            </a:extLst>
          </p:cNvPr>
          <p:cNvSpPr txBox="1"/>
          <p:nvPr/>
        </p:nvSpPr>
        <p:spPr>
          <a:xfrm>
            <a:off x="4589561" y="2536907"/>
            <a:ext cx="1096864" cy="1077218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Si pinchamos en esta “flechita”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8EEB1B5-92D4-9AF7-CD57-7C732F024C9D}"/>
              </a:ext>
            </a:extLst>
          </p:cNvPr>
          <p:cNvSpPr txBox="1"/>
          <p:nvPr/>
        </p:nvSpPr>
        <p:spPr>
          <a:xfrm>
            <a:off x="1253973" y="1478351"/>
            <a:ext cx="1485900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Más conectores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E2114CD-849D-70C4-A8F6-B5994DD698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58" b="21581"/>
          <a:stretch/>
        </p:blipFill>
        <p:spPr>
          <a:xfrm>
            <a:off x="3449021" y="1403120"/>
            <a:ext cx="873084" cy="99374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B05B1E6F-5019-E889-B1DF-6EE3C05E3057}"/>
              </a:ext>
            </a:extLst>
          </p:cNvPr>
          <p:cNvSpPr txBox="1"/>
          <p:nvPr/>
        </p:nvSpPr>
        <p:spPr>
          <a:xfrm>
            <a:off x="5162458" y="1509244"/>
            <a:ext cx="1485900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Si pinchamos directamente en el cilindro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3B29B9A-4B11-7311-2E8C-881CB9CDAF49}"/>
              </a:ext>
            </a:extLst>
          </p:cNvPr>
          <p:cNvCxnSpPr>
            <a:cxnSpLocks/>
          </p:cNvCxnSpPr>
          <p:nvPr/>
        </p:nvCxnSpPr>
        <p:spPr>
          <a:xfrm>
            <a:off x="4330125" y="1655330"/>
            <a:ext cx="722237" cy="215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Imagen 27">
            <a:extLst>
              <a:ext uri="{FF2B5EF4-FFF2-40B4-BE49-F238E27FC236}">
                <a16:creationId xmlns:a16="http://schemas.microsoft.com/office/drawing/2014/main" id="{2B017E93-6E22-A4D9-6232-56AAF4988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490" y="1294201"/>
            <a:ext cx="4283178" cy="4171053"/>
          </a:xfrm>
          <a:prstGeom prst="rect">
            <a:avLst/>
          </a:prstGeom>
        </p:spPr>
      </p:pic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AA7E8E6-26D9-0DF3-BD6E-C680B8344ED6}"/>
              </a:ext>
            </a:extLst>
          </p:cNvPr>
          <p:cNvCxnSpPr>
            <a:cxnSpLocks/>
          </p:cNvCxnSpPr>
          <p:nvPr/>
        </p:nvCxnSpPr>
        <p:spPr>
          <a:xfrm>
            <a:off x="6758454" y="1924742"/>
            <a:ext cx="471021" cy="144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A8F57F2-6ADD-06A7-7088-C10D6424F150}"/>
              </a:ext>
            </a:extLst>
          </p:cNvPr>
          <p:cNvSpPr txBox="1"/>
          <p:nvPr/>
        </p:nvSpPr>
        <p:spPr>
          <a:xfrm>
            <a:off x="8272958" y="1458651"/>
            <a:ext cx="1869299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Buscador de conector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97A0AC2-B071-49E4-215B-CD47DF6A4916}"/>
              </a:ext>
            </a:extLst>
          </p:cNvPr>
          <p:cNvCxnSpPr>
            <a:cxnSpLocks/>
          </p:cNvCxnSpPr>
          <p:nvPr/>
        </p:nvCxnSpPr>
        <p:spPr>
          <a:xfrm flipH="1">
            <a:off x="7929740" y="1690688"/>
            <a:ext cx="329741" cy="263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0C4C5A4-8A9B-EC3D-8606-0D1E8EEE764C}"/>
              </a:ext>
            </a:extLst>
          </p:cNvPr>
          <p:cNvCxnSpPr>
            <a:cxnSpLocks/>
          </p:cNvCxnSpPr>
          <p:nvPr/>
        </p:nvCxnSpPr>
        <p:spPr>
          <a:xfrm>
            <a:off x="4140073" y="2155661"/>
            <a:ext cx="429825" cy="667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Imagen 41">
            <a:extLst>
              <a:ext uri="{FF2B5EF4-FFF2-40B4-BE49-F238E27FC236}">
                <a16:creationId xmlns:a16="http://schemas.microsoft.com/office/drawing/2014/main" id="{FFADE4A7-7C0C-ABED-EC8E-84E3BD453F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542"/>
          <a:stretch/>
        </p:blipFill>
        <p:spPr>
          <a:xfrm>
            <a:off x="4424924" y="3538198"/>
            <a:ext cx="1648192" cy="2511798"/>
          </a:xfrm>
          <a:prstGeom prst="rect">
            <a:avLst/>
          </a:prstGeom>
        </p:spPr>
      </p:pic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4470198E-566A-C200-AE76-CB1277BE054F}"/>
              </a:ext>
            </a:extLst>
          </p:cNvPr>
          <p:cNvCxnSpPr>
            <a:cxnSpLocks/>
          </p:cNvCxnSpPr>
          <p:nvPr/>
        </p:nvCxnSpPr>
        <p:spPr>
          <a:xfrm>
            <a:off x="5702386" y="3614125"/>
            <a:ext cx="0" cy="280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4BF1437E-1389-ECC1-C9A9-3A8922762D12}"/>
              </a:ext>
            </a:extLst>
          </p:cNvPr>
          <p:cNvCxnSpPr>
            <a:cxnSpLocks/>
          </p:cNvCxnSpPr>
          <p:nvPr/>
        </p:nvCxnSpPr>
        <p:spPr>
          <a:xfrm flipV="1">
            <a:off x="6930467" y="5290845"/>
            <a:ext cx="631427" cy="854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4A9A76F-FCC9-8FEC-3868-CF1CD61B23FF}"/>
              </a:ext>
            </a:extLst>
          </p:cNvPr>
          <p:cNvSpPr txBox="1"/>
          <p:nvPr/>
        </p:nvSpPr>
        <p:spPr>
          <a:xfrm>
            <a:off x="5628115" y="6098414"/>
            <a:ext cx="1874512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Si pinchamos en  “Más”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29F6BD8B-B8A8-8416-9C8A-7913FAC02E20}"/>
              </a:ext>
            </a:extLst>
          </p:cNvPr>
          <p:cNvCxnSpPr>
            <a:cxnSpLocks/>
          </p:cNvCxnSpPr>
          <p:nvPr/>
        </p:nvCxnSpPr>
        <p:spPr>
          <a:xfrm>
            <a:off x="4945697" y="5942458"/>
            <a:ext cx="756689" cy="7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45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¿Cómo me conecto a los datos?(3)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76731-9820-79AC-8963-2258F235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204" y="2746670"/>
            <a:ext cx="2800350" cy="1803400"/>
          </a:xfrm>
        </p:spPr>
        <p:txBody>
          <a:bodyPr>
            <a:noAutofit/>
          </a:bodyPr>
          <a:lstStyle/>
          <a:p>
            <a:r>
              <a:rPr lang="es-CO" sz="1600" dirty="0"/>
              <a:t>Desde </a:t>
            </a:r>
            <a:r>
              <a:rPr lang="es-CO" sz="1600" b="1" dirty="0" err="1"/>
              <a:t>Power</a:t>
            </a:r>
            <a:r>
              <a:rPr lang="es-CO" sz="1600" b="1" dirty="0"/>
              <a:t> </a:t>
            </a:r>
            <a:r>
              <a:rPr lang="es-CO" sz="1600" b="1" dirty="0" err="1"/>
              <a:t>Query</a:t>
            </a:r>
            <a:r>
              <a:rPr lang="es-CO" sz="1600" dirty="0"/>
              <a:t> tengo también dos opciones.</a:t>
            </a:r>
          </a:p>
          <a:p>
            <a:pPr lvl="1"/>
            <a:r>
              <a:rPr lang="es-ES" sz="1400" b="0" i="0" u="none" strike="noStrike" baseline="0" dirty="0">
                <a:latin typeface="+mn-lt"/>
              </a:rPr>
              <a:t>1-abrimos </a:t>
            </a:r>
            <a:r>
              <a:rPr lang="es-ES" sz="1400" b="0" i="0" u="none" strike="noStrike" baseline="0" dirty="0" err="1">
                <a:latin typeface="+mn-lt"/>
              </a:rPr>
              <a:t>PowerBI</a:t>
            </a:r>
            <a:r>
              <a:rPr lang="es-ES" sz="1400" b="0" i="0" u="none" strike="noStrike" baseline="0" dirty="0">
                <a:latin typeface="+mn-lt"/>
              </a:rPr>
              <a:t> Desktop</a:t>
            </a:r>
          </a:p>
          <a:p>
            <a:pPr lvl="1"/>
            <a:r>
              <a:rPr lang="es-ES" sz="1400" b="0" i="0" u="none" strike="noStrike" baseline="0" dirty="0">
                <a:latin typeface="+mn-lt"/>
              </a:rPr>
              <a:t>2-Transformar datos –</a:t>
            </a:r>
            <a:r>
              <a:rPr lang="es-ES" sz="1400" b="0" i="0" u="none" strike="noStrike" baseline="0" dirty="0" err="1">
                <a:latin typeface="+mn-lt"/>
              </a:rPr>
              <a:t>PowerQuery</a:t>
            </a:r>
            <a:endParaRPr lang="es-CO" sz="1200" dirty="0">
              <a:latin typeface="+mn-lt"/>
            </a:endParaRPr>
          </a:p>
          <a:p>
            <a:r>
              <a:rPr lang="es-CO" sz="1600" dirty="0"/>
              <a:t>Podemos conectarnos a nuevos orígenes.</a:t>
            </a:r>
          </a:p>
          <a:p>
            <a:r>
              <a:rPr lang="es-CO" sz="1600" dirty="0"/>
              <a:t>Podemos conectarnos a orígenes que hayamos utilizado recientemente.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3156181-0A26-541C-2D1F-30CA4878D062}"/>
              </a:ext>
            </a:extLst>
          </p:cNvPr>
          <p:cNvCxnSpPr>
            <a:cxnSpLocks/>
          </p:cNvCxnSpPr>
          <p:nvPr/>
        </p:nvCxnSpPr>
        <p:spPr>
          <a:xfrm>
            <a:off x="2876550" y="1789464"/>
            <a:ext cx="4357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C39B7B1-D515-FAEE-D246-6475B9CB10CC}"/>
              </a:ext>
            </a:extLst>
          </p:cNvPr>
          <p:cNvSpPr txBox="1"/>
          <p:nvPr/>
        </p:nvSpPr>
        <p:spPr>
          <a:xfrm>
            <a:off x="8652032" y="3429000"/>
            <a:ext cx="2098710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Acceso a los últimos orígenes a los que me he conectado.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8EEB1B5-92D4-9AF7-CD57-7C732F024C9D}"/>
              </a:ext>
            </a:extLst>
          </p:cNvPr>
          <p:cNvSpPr txBox="1"/>
          <p:nvPr/>
        </p:nvSpPr>
        <p:spPr>
          <a:xfrm>
            <a:off x="1289445" y="1616760"/>
            <a:ext cx="1485900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Más conectores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2CF99D-9475-B6F9-B38C-3F4B83521C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274" b="68094"/>
          <a:stretch/>
        </p:blipFill>
        <p:spPr>
          <a:xfrm>
            <a:off x="3558618" y="1328664"/>
            <a:ext cx="4445382" cy="248323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87243DAD-F00F-0202-0E70-0C97F1A1F663}"/>
              </a:ext>
            </a:extLst>
          </p:cNvPr>
          <p:cNvSpPr/>
          <p:nvPr/>
        </p:nvSpPr>
        <p:spPr>
          <a:xfrm>
            <a:off x="4017098" y="1550645"/>
            <a:ext cx="392977" cy="735356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17EDB83-B242-FA1F-485A-B210BFC9C6FA}"/>
              </a:ext>
            </a:extLst>
          </p:cNvPr>
          <p:cNvSpPr/>
          <p:nvPr/>
        </p:nvSpPr>
        <p:spPr>
          <a:xfrm>
            <a:off x="4406620" y="1538232"/>
            <a:ext cx="448774" cy="735356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3B29B9A-4B11-7311-2E8C-881CB9CDAF49}"/>
              </a:ext>
            </a:extLst>
          </p:cNvPr>
          <p:cNvCxnSpPr>
            <a:cxnSpLocks/>
          </p:cNvCxnSpPr>
          <p:nvPr/>
        </p:nvCxnSpPr>
        <p:spPr>
          <a:xfrm>
            <a:off x="4845868" y="2095316"/>
            <a:ext cx="3771902" cy="1593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AACD4E6-2C1E-53FC-795B-F82E5DA80F8A}"/>
              </a:ext>
            </a:extLst>
          </p:cNvPr>
          <p:cNvCxnSpPr>
            <a:cxnSpLocks/>
          </p:cNvCxnSpPr>
          <p:nvPr/>
        </p:nvCxnSpPr>
        <p:spPr>
          <a:xfrm>
            <a:off x="4406620" y="2201535"/>
            <a:ext cx="1168993" cy="2286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Imagen 25">
            <a:extLst>
              <a:ext uri="{FF2B5EF4-FFF2-40B4-BE49-F238E27FC236}">
                <a16:creationId xmlns:a16="http://schemas.microsoft.com/office/drawing/2014/main" id="{5256A756-462C-FA79-E2C9-F41126CDA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592" y="4488211"/>
            <a:ext cx="2019233" cy="2004664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6A0D878A-6EC8-F236-ECE5-A93CEA298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754" y="4028221"/>
            <a:ext cx="1497843" cy="2505076"/>
          </a:xfrm>
          <a:prstGeom prst="rect">
            <a:avLst/>
          </a:prstGeom>
        </p:spPr>
      </p:pic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0C08736-50AD-532C-6E11-2FABEA4FF64A}"/>
              </a:ext>
            </a:extLst>
          </p:cNvPr>
          <p:cNvCxnSpPr>
            <a:cxnSpLocks/>
          </p:cNvCxnSpPr>
          <p:nvPr/>
        </p:nvCxnSpPr>
        <p:spPr>
          <a:xfrm flipH="1">
            <a:off x="8439537" y="4240797"/>
            <a:ext cx="694938" cy="618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270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A1217-11FE-1E50-FB6C-EA45C0E6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46"/>
            <a:ext cx="10515600" cy="1325563"/>
          </a:xfrm>
        </p:spPr>
        <p:txBody>
          <a:bodyPr/>
          <a:lstStyle/>
          <a:p>
            <a:r>
              <a:rPr lang="es-ES" dirty="0"/>
              <a:t>Obtener datos- origen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802E3B2-275B-4098-48F4-44B0D43D9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36860"/>
            <a:ext cx="4571603" cy="540404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4FA2877-4327-530A-7164-E8E0B97C6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199" y="324852"/>
            <a:ext cx="1884177" cy="620829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7CE4B3F-587F-BD54-3219-409DC71E0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597" y="639837"/>
            <a:ext cx="2339543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1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8C604-9E5C-EF90-2ED7-549B51C2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trae </a:t>
            </a:r>
            <a:r>
              <a:rPr lang="es-ES" dirty="0" err="1"/>
              <a:t>Power</a:t>
            </a:r>
            <a:r>
              <a:rPr lang="es-ES" dirty="0"/>
              <a:t> BI los datos?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8DFC45-052A-AE41-8C34-26902D212FB2}"/>
              </a:ext>
            </a:extLst>
          </p:cNvPr>
          <p:cNvSpPr txBox="1"/>
          <p:nvPr/>
        </p:nvSpPr>
        <p:spPr>
          <a:xfrm>
            <a:off x="918736" y="1353961"/>
            <a:ext cx="105156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Si usas Excel</a:t>
            </a:r>
            <a:r>
              <a:rPr lang="es-ES" dirty="0"/>
              <a:t> → mejor tener los datos en una </a:t>
            </a:r>
            <a:r>
              <a:rPr lang="es-ES" b="1" dirty="0"/>
              <a:t>tabla</a:t>
            </a:r>
            <a:r>
              <a:rPr lang="es-ES" dirty="0"/>
              <a:t> (no solo en una hoja suelta).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Importar</a:t>
            </a:r>
            <a:r>
              <a:rPr lang="es-ES" dirty="0"/>
              <a:t> → </a:t>
            </a:r>
            <a:r>
              <a:rPr lang="es-ES" dirty="0" err="1"/>
              <a:t>Power</a:t>
            </a:r>
            <a:r>
              <a:rPr lang="es-ES" dirty="0"/>
              <a:t> BI copia los datos y los guarda en memoria. Ideal para trabajar rápido con mucha información.</a:t>
            </a:r>
          </a:p>
          <a:p>
            <a:r>
              <a:rPr lang="es-ES" b="1" dirty="0"/>
              <a:t>3- </a:t>
            </a:r>
            <a:r>
              <a:rPr lang="es-ES" b="1" dirty="0" err="1"/>
              <a:t>DirectQuery</a:t>
            </a:r>
            <a:r>
              <a:rPr lang="es-ES" dirty="0"/>
              <a:t> → No realiza ninguna carga de datos en la caché, en su lugar crea una conexión con el origen que le suministrará la información .</a:t>
            </a:r>
          </a:p>
          <a:p>
            <a:endParaRPr lang="es-ES" dirty="0"/>
          </a:p>
          <a:p>
            <a:pPr algn="l"/>
            <a:r>
              <a:rPr lang="es-ES" b="1" dirty="0"/>
              <a:t>4-</a:t>
            </a:r>
            <a:r>
              <a:rPr lang="es-ES" dirty="0"/>
              <a:t> </a:t>
            </a:r>
            <a:r>
              <a:rPr lang="es-ES" b="1" dirty="0"/>
              <a:t>Modelo Compuesto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Permite conexiones de datos Direct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Query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o importación en cualquier combinación.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EFDF1F-16F3-8BA8-D154-571732D78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16" y="4356779"/>
            <a:ext cx="3726755" cy="19026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80ACC92-0941-BFC2-A196-84F508F6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005" y="4356778"/>
            <a:ext cx="5599188" cy="194416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D317DE7-0145-7F72-58AD-7A74D3CE8975}"/>
              </a:ext>
            </a:extLst>
          </p:cNvPr>
          <p:cNvSpPr txBox="1"/>
          <p:nvPr/>
        </p:nvSpPr>
        <p:spPr>
          <a:xfrm>
            <a:off x="838200" y="6211669"/>
            <a:ext cx="11024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i="0" u="none" strike="noStrike" baseline="0" dirty="0">
                <a:latin typeface="Arial" panose="020B0604020202020204" pitchFamily="34" charset="0"/>
              </a:rPr>
              <a:t>Podemos crear modelos con orígenes de múltiples y diferentes fuentes de datos y tenerlos todos sincronizados y actualizados en </a:t>
            </a:r>
            <a:r>
              <a:rPr lang="es-ES" sz="1800" b="1" i="0" u="none" strike="noStrike" baseline="0" dirty="0" err="1">
                <a:latin typeface="Arial" panose="020B0604020202020204" pitchFamily="34" charset="0"/>
              </a:rPr>
              <a:t>PowerBI</a:t>
            </a:r>
            <a:r>
              <a:rPr lang="es-ES" sz="1800" b="1" i="0" u="none" strike="noStrike" baseline="0" dirty="0">
                <a:latin typeface="Arial" panose="020B0604020202020204" pitchFamily="34" charset="0"/>
              </a:rPr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924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F46DF-9E37-5AE2-5BCA-DC9B2B93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Query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C31E844-565F-8A6C-580F-3626C697A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0" y="1859340"/>
            <a:ext cx="6096443" cy="328215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90B1810-3CE6-E419-2B07-4363031635F0}"/>
              </a:ext>
            </a:extLst>
          </p:cNvPr>
          <p:cNvSpPr txBox="1"/>
          <p:nvPr/>
        </p:nvSpPr>
        <p:spPr>
          <a:xfrm>
            <a:off x="6272463" y="1859340"/>
            <a:ext cx="5863390" cy="461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Transformaciones disponibles</a:t>
            </a:r>
            <a:r>
              <a:rPr lang="es-ES" dirty="0"/>
              <a:t> Menú superior para seleccionar las transformaciones que queremos realizar (crear columna calculada, eliminar duplicados, combinar consultas).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Entidades</a:t>
            </a:r>
            <a:r>
              <a:rPr lang="es-ES" dirty="0"/>
              <a:t> Hace referencia a todas las entidades que se han cargado desde los orígenes.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Datos</a:t>
            </a:r>
            <a:r>
              <a:rPr lang="es-ES" dirty="0"/>
              <a:t> Representación en forma de tabla de los datos, después de aplicar las transformaciones.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Transformaciones aplicadas</a:t>
            </a:r>
            <a:r>
              <a:rPr lang="es-ES" dirty="0"/>
              <a:t> Histórico de transformaciones aplicadas a la entidad. Una buena práctica es ir comentando los pasos aplicados.</a:t>
            </a:r>
          </a:p>
        </p:txBody>
      </p:sp>
    </p:spTree>
    <p:extLst>
      <p:ext uri="{BB962C8B-B14F-4D97-AF65-F5344CB8AC3E}">
        <p14:creationId xmlns:p14="http://schemas.microsoft.com/office/powerpoint/2010/main" val="1883266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BB677-B53D-B3BB-2BF0-94320184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Query</a:t>
            </a:r>
            <a:r>
              <a:rPr lang="es-ES" dirty="0"/>
              <a:t> – Operaciones posibles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82C835-49B1-6321-D75C-BB63D6A7D23F}"/>
              </a:ext>
            </a:extLst>
          </p:cNvPr>
          <p:cNvSpPr txBox="1"/>
          <p:nvPr/>
        </p:nvSpPr>
        <p:spPr>
          <a:xfrm>
            <a:off x="978569" y="1515525"/>
            <a:ext cx="10170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Power</a:t>
            </a:r>
            <a:r>
              <a:rPr lang="es-ES" dirty="0"/>
              <a:t> BI nos ofrece una colección de transformaciones que se pueden aplicar sobre las entidades cargadas. Las más importantes son: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AC9B1C-5BAB-C825-F41D-F06C859D2BE1}"/>
              </a:ext>
            </a:extLst>
          </p:cNvPr>
          <p:cNvSpPr txBox="1"/>
          <p:nvPr/>
        </p:nvSpPr>
        <p:spPr>
          <a:xfrm>
            <a:off x="898358" y="2462463"/>
            <a:ext cx="10852484" cy="4057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s-ES" b="1" dirty="0"/>
              <a:t>Seleccionar / Quitar columnas</a:t>
            </a:r>
            <a:r>
              <a:rPr lang="es-ES" dirty="0"/>
              <a:t> : Eliminar columnas que no nos son útiles, información redundante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Conservar / Quitar filas</a:t>
            </a:r>
            <a:r>
              <a:rPr lang="es-ES" dirty="0"/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Filtrar datos</a:t>
            </a:r>
            <a:r>
              <a:rPr lang="es-ES" dirty="0"/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Estableces tipo de datos de cada columna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Usar la primera fila como encabezado</a:t>
            </a:r>
            <a:r>
              <a:rPr lang="es-ES" dirty="0"/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Reemplazar valores</a:t>
            </a:r>
            <a:r>
              <a:rPr lang="es-ES" dirty="0"/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Quitar duplicados</a:t>
            </a:r>
            <a:endParaRPr lang="es-E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b="1" dirty="0"/>
              <a:t>Dividir columna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s-ES" dirty="0"/>
          </a:p>
          <a:p>
            <a:pPr>
              <a:lnSpc>
                <a:spcPct val="15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796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BB677-B53D-B3BB-2BF0-94320184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Query</a:t>
            </a:r>
            <a:r>
              <a:rPr lang="es-ES" dirty="0"/>
              <a:t> – Operaciones posibles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AC9B1C-5BAB-C825-F41D-F06C859D2BE1}"/>
              </a:ext>
            </a:extLst>
          </p:cNvPr>
          <p:cNvSpPr txBox="1"/>
          <p:nvPr/>
        </p:nvSpPr>
        <p:spPr>
          <a:xfrm>
            <a:off x="838200" y="2085473"/>
            <a:ext cx="10852484" cy="336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b="1" dirty="0"/>
              <a:t>9.    Renombrar encabezados</a:t>
            </a:r>
            <a:r>
              <a:rPr lang="es-ES" dirty="0"/>
              <a:t>, para que sea comprensible</a:t>
            </a:r>
          </a:p>
          <a:p>
            <a:pPr>
              <a:lnSpc>
                <a:spcPct val="150000"/>
              </a:lnSpc>
            </a:pPr>
            <a:r>
              <a:rPr lang="es-ES" b="1" dirty="0"/>
              <a:t>10.  Aplicar formatos Transformaciones de texto </a:t>
            </a:r>
            <a:r>
              <a:rPr lang="es-ES" dirty="0"/>
              <a:t>como MAYÚSCULAS, minúsculas, recortar espacios, limpiar caracteres no imprimibles.</a:t>
            </a:r>
          </a:p>
          <a:p>
            <a:pPr>
              <a:lnSpc>
                <a:spcPct val="150000"/>
              </a:lnSpc>
            </a:pPr>
            <a:r>
              <a:rPr lang="es-ES" b="1" dirty="0"/>
              <a:t>11.  Agregar columna condicional </a:t>
            </a:r>
            <a:r>
              <a:rPr lang="es-ES" dirty="0"/>
              <a:t>Crea una nueva columna en base a condiciones IF/ELSE sin escribir código. Equivale al SI() de Excel pero visualmente. Ejemplo: si Ventas &gt; 1000 → "Alto", si no → "Bajo".</a:t>
            </a:r>
          </a:p>
          <a:p>
            <a:pPr algn="l"/>
            <a:endParaRPr lang="es-ES" b="1" dirty="0"/>
          </a:p>
          <a:p>
            <a:pPr algn="l"/>
            <a:r>
              <a:rPr lang="es-ES" b="1" dirty="0"/>
              <a:t>12.  </a:t>
            </a:r>
            <a:r>
              <a:rPr lang="es-ES" sz="1800" b="1" i="0" u="none" strike="noStrike" baseline="0" dirty="0">
                <a:latin typeface="Arial" panose="020B0604020202020204" pitchFamily="34" charset="0"/>
              </a:rPr>
              <a:t>Agregar columna a partir de ejemplos: </a:t>
            </a:r>
            <a:r>
              <a:rPr lang="es-ES" dirty="0"/>
              <a:t>se vale de Machine </a:t>
            </a:r>
            <a:r>
              <a:rPr lang="es-ES" dirty="0" err="1"/>
              <a:t>Learning</a:t>
            </a:r>
            <a:r>
              <a:rPr lang="es-ES" dirty="0"/>
              <a:t> para rellenar los campos según nuestra propuesta. </a:t>
            </a:r>
          </a:p>
          <a:p>
            <a:pPr>
              <a:lnSpc>
                <a:spcPct val="15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8529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C404B7F-B8EA-C5C7-202E-E6B7BFDC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84" y="2449106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Combinar y Anexar</a:t>
            </a:r>
          </a:p>
        </p:txBody>
      </p:sp>
    </p:spTree>
    <p:extLst>
      <p:ext uri="{BB962C8B-B14F-4D97-AF65-F5344CB8AC3E}">
        <p14:creationId xmlns:p14="http://schemas.microsoft.com/office/powerpoint/2010/main" val="408012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Anexar</a:t>
            </a: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B3E03EF6-0F71-45E7-4902-27B69894BF3F}"/>
              </a:ext>
            </a:extLst>
          </p:cNvPr>
          <p:cNvSpPr/>
          <p:nvPr/>
        </p:nvSpPr>
        <p:spPr>
          <a:xfrm>
            <a:off x="4533899" y="949394"/>
            <a:ext cx="990600" cy="53213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AF2EE47-430C-4210-E86E-B7C8B43244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20" r="14385" b="18628"/>
          <a:stretch/>
        </p:blipFill>
        <p:spPr>
          <a:xfrm>
            <a:off x="5715000" y="2228726"/>
            <a:ext cx="2924175" cy="224802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E58EB29-EC69-6BBB-9335-FE91BF671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920" y="2304937"/>
            <a:ext cx="2886478" cy="261021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70D024D-EFCA-C935-13F1-F2F481A20C0A}"/>
              </a:ext>
            </a:extLst>
          </p:cNvPr>
          <p:cNvSpPr txBox="1"/>
          <p:nvPr/>
        </p:nvSpPr>
        <p:spPr>
          <a:xfrm>
            <a:off x="838200" y="1506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Anexar = pegar filas</a:t>
            </a:r>
          </a:p>
        </p:txBody>
      </p:sp>
    </p:spTree>
    <p:extLst>
      <p:ext uri="{BB962C8B-B14F-4D97-AF65-F5344CB8AC3E}">
        <p14:creationId xmlns:p14="http://schemas.microsoft.com/office/powerpoint/2010/main" val="4059627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Combinar - </a:t>
            </a:r>
            <a:r>
              <a:rPr lang="es-ES" dirty="0"/>
              <a:t>EXTERNA IZQUIERDA (la más usada)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8CA6936-7A2F-FFAB-1BCA-C2E2318FBF3E}"/>
              </a:ext>
            </a:extLst>
          </p:cNvPr>
          <p:cNvSpPr txBox="1"/>
          <p:nvPr/>
        </p:nvSpPr>
        <p:spPr>
          <a:xfrm>
            <a:off x="3635185" y="435019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Externa Izquierda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4B58D12-CE32-BC96-3BCC-43715AC7803A}"/>
              </a:ext>
            </a:extLst>
          </p:cNvPr>
          <p:cNvGrpSpPr/>
          <p:nvPr/>
        </p:nvGrpSpPr>
        <p:grpSpPr>
          <a:xfrm>
            <a:off x="6096000" y="4114907"/>
            <a:ext cx="1324150" cy="874726"/>
            <a:chOff x="7603598" y="1575818"/>
            <a:chExt cx="1171710" cy="757806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8EB0B65-1DBC-78BB-7A5A-4433C9A3798E}"/>
                </a:ext>
              </a:extLst>
            </p:cNvPr>
            <p:cNvSpPr/>
            <p:nvPr/>
          </p:nvSpPr>
          <p:spPr>
            <a:xfrm>
              <a:off x="7603598" y="1605981"/>
              <a:ext cx="737654" cy="7276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C1F749BA-FF83-44B3-B1F3-7A650F613A69}"/>
                </a:ext>
              </a:extLst>
            </p:cNvPr>
            <p:cNvSpPr/>
            <p:nvPr/>
          </p:nvSpPr>
          <p:spPr>
            <a:xfrm>
              <a:off x="8037654" y="1575818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6103469B-D089-AF91-2263-2A28CBF903A0}"/>
                </a:ext>
              </a:extLst>
            </p:cNvPr>
            <p:cNvSpPr/>
            <p:nvPr/>
          </p:nvSpPr>
          <p:spPr>
            <a:xfrm>
              <a:off x="8017819" y="1690688"/>
              <a:ext cx="323434" cy="5286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61698F71-5693-9791-6147-7577AA152521}"/>
              </a:ext>
            </a:extLst>
          </p:cNvPr>
          <p:cNvSpPr txBox="1"/>
          <p:nvPr/>
        </p:nvSpPr>
        <p:spPr>
          <a:xfrm>
            <a:off x="587185" y="1538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Conserva todas las filas de la tabla izquierda.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D1D1EE9-6047-3857-F0B8-48E2F007ECBC}"/>
              </a:ext>
            </a:extLst>
          </p:cNvPr>
          <p:cNvSpPr txBox="1"/>
          <p:nvPr/>
        </p:nvSpPr>
        <p:spPr>
          <a:xfrm>
            <a:off x="587185" y="19490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Si no hay coincidencia por CIF, aparecen valores nulos.</a:t>
            </a:r>
          </a:p>
        </p:txBody>
      </p:sp>
      <p:pic>
        <p:nvPicPr>
          <p:cNvPr id="48" name="Imagen 47" descr="Tabla&#10;&#10;El contenido generado por IA puede ser incorrecto.">
            <a:extLst>
              <a:ext uri="{FF2B5EF4-FFF2-40B4-BE49-F238E27FC236}">
                <a16:creationId xmlns:a16="http://schemas.microsoft.com/office/drawing/2014/main" id="{08873DE0-E139-DFA6-65D8-E51A26AC3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23" y="2671900"/>
            <a:ext cx="4243305" cy="1239617"/>
          </a:xfrm>
          <a:prstGeom prst="rect">
            <a:avLst/>
          </a:prstGeom>
        </p:spPr>
      </p:pic>
      <p:pic>
        <p:nvPicPr>
          <p:cNvPr id="50" name="Imagen 49" descr="Tabla&#10;&#10;El contenido generado por IA puede ser incorrecto.">
            <a:extLst>
              <a:ext uri="{FF2B5EF4-FFF2-40B4-BE49-F238E27FC236}">
                <a16:creationId xmlns:a16="http://schemas.microsoft.com/office/drawing/2014/main" id="{2E073148-5F3B-CFFB-C46F-A995E598F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256" y="2721208"/>
            <a:ext cx="4272466" cy="1141002"/>
          </a:xfrm>
          <a:prstGeom prst="rect">
            <a:avLst/>
          </a:prstGeom>
        </p:spPr>
      </p:pic>
      <p:pic>
        <p:nvPicPr>
          <p:cNvPr id="54" name="Imagen 53" descr="Tabla&#10;&#10;El contenido generado por IA puede ser incorrecto.">
            <a:extLst>
              <a:ext uri="{FF2B5EF4-FFF2-40B4-BE49-F238E27FC236}">
                <a16:creationId xmlns:a16="http://schemas.microsoft.com/office/drawing/2014/main" id="{D2C35C7B-6F6B-EF4D-BD83-D40F8D1D3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052" y="5206434"/>
            <a:ext cx="6526117" cy="132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75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BACE3-7FB5-1037-687C-9CCD4784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39509-1036-72F0-0F53-9BA93011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Combinar - </a:t>
            </a:r>
            <a:r>
              <a:rPr lang="es-ES" dirty="0"/>
              <a:t>INTERNA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ADEF529-F43F-C408-A28F-34800A19E079}"/>
              </a:ext>
            </a:extLst>
          </p:cNvPr>
          <p:cNvSpPr txBox="1"/>
          <p:nvPr/>
        </p:nvSpPr>
        <p:spPr>
          <a:xfrm>
            <a:off x="3635185" y="435019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INTERNA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C8FAEC7-9A86-00FF-E491-F824322F5224}"/>
              </a:ext>
            </a:extLst>
          </p:cNvPr>
          <p:cNvSpPr txBox="1"/>
          <p:nvPr/>
        </p:nvSpPr>
        <p:spPr>
          <a:xfrm>
            <a:off x="725314" y="152923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Solo aparecen las filas cuyo CIF está en ambas tablas.</a:t>
            </a:r>
          </a:p>
          <a:p>
            <a:endParaRPr lang="es-ES" dirty="0"/>
          </a:p>
          <a:p>
            <a:r>
              <a:rPr lang="es-ES" dirty="0"/>
              <a:t>Si un cliente no tiene localidad, desaparece</a:t>
            </a:r>
          </a:p>
        </p:txBody>
      </p:sp>
      <p:pic>
        <p:nvPicPr>
          <p:cNvPr id="48" name="Imagen 47" descr="Tabla&#10;&#10;El contenido generado por IA puede ser incorrecto.">
            <a:extLst>
              <a:ext uri="{FF2B5EF4-FFF2-40B4-BE49-F238E27FC236}">
                <a16:creationId xmlns:a16="http://schemas.microsoft.com/office/drawing/2014/main" id="{9A08A145-0E6D-5F16-DA52-F260AED4A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23" y="2671900"/>
            <a:ext cx="4243305" cy="1239617"/>
          </a:xfrm>
          <a:prstGeom prst="rect">
            <a:avLst/>
          </a:prstGeom>
        </p:spPr>
      </p:pic>
      <p:pic>
        <p:nvPicPr>
          <p:cNvPr id="50" name="Imagen 49" descr="Tabla&#10;&#10;El contenido generado por IA puede ser incorrecto.">
            <a:extLst>
              <a:ext uri="{FF2B5EF4-FFF2-40B4-BE49-F238E27FC236}">
                <a16:creationId xmlns:a16="http://schemas.microsoft.com/office/drawing/2014/main" id="{1660B3F8-9EA6-0B22-E8E1-6A3EFEF39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256" y="2721208"/>
            <a:ext cx="4272466" cy="1141002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D02C1015-B9A2-BBB0-7022-095C884A4E9A}"/>
              </a:ext>
            </a:extLst>
          </p:cNvPr>
          <p:cNvGrpSpPr/>
          <p:nvPr/>
        </p:nvGrpSpPr>
        <p:grpSpPr>
          <a:xfrm>
            <a:off x="6096000" y="4083914"/>
            <a:ext cx="1152109" cy="914512"/>
            <a:chOff x="7603598" y="1575818"/>
            <a:chExt cx="1171710" cy="757806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FD4F7DF9-20AF-15D6-AFF9-BEC87B02F7D7}"/>
                </a:ext>
              </a:extLst>
            </p:cNvPr>
            <p:cNvSpPr/>
            <p:nvPr/>
          </p:nvSpPr>
          <p:spPr>
            <a:xfrm>
              <a:off x="7603598" y="1605981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4AC4E17F-795E-2B09-88E6-DDD3B5982986}"/>
                </a:ext>
              </a:extLst>
            </p:cNvPr>
            <p:cNvSpPr/>
            <p:nvPr/>
          </p:nvSpPr>
          <p:spPr>
            <a:xfrm>
              <a:off x="8037654" y="1575818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1E28AE3-E7BB-1E07-2FC9-0DD482F2B9E5}"/>
                </a:ext>
              </a:extLst>
            </p:cNvPr>
            <p:cNvSpPr/>
            <p:nvPr/>
          </p:nvSpPr>
          <p:spPr>
            <a:xfrm>
              <a:off x="8017819" y="1690688"/>
              <a:ext cx="323434" cy="5286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0" name="Imagen 9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7661476-BBB4-A4C2-BCB7-4510F2428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785" y="5208992"/>
            <a:ext cx="5477743" cy="87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40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879C3-D0A3-E56E-99BB-047550B9F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D2DBF-0CE0-D87B-7AA5-B380375E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Combinar - </a:t>
            </a:r>
            <a:r>
              <a:rPr lang="es-ES" dirty="0"/>
              <a:t>EXTERNA COMPLETA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B33F01C-EF00-7D8A-4061-069EF1DED5E6}"/>
              </a:ext>
            </a:extLst>
          </p:cNvPr>
          <p:cNvSpPr txBox="1"/>
          <p:nvPr/>
        </p:nvSpPr>
        <p:spPr>
          <a:xfrm>
            <a:off x="2821193" y="427551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EXTERNA COMPLETA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6B5A6FB-B6B0-98C7-B94F-F1AF1DD78865}"/>
              </a:ext>
            </a:extLst>
          </p:cNvPr>
          <p:cNvSpPr txBox="1"/>
          <p:nvPr/>
        </p:nvSpPr>
        <p:spPr>
          <a:xfrm>
            <a:off x="725314" y="152923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Aparecen todas las filas de ambas tablas.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Donde no hay coincidencia, hay nulos.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Sirve para detectar incoherencias entre tablas.</a:t>
            </a:r>
          </a:p>
        </p:txBody>
      </p:sp>
      <p:pic>
        <p:nvPicPr>
          <p:cNvPr id="48" name="Imagen 47" descr="Tabla&#10;&#10;El contenido generado por IA puede ser incorrecto.">
            <a:extLst>
              <a:ext uri="{FF2B5EF4-FFF2-40B4-BE49-F238E27FC236}">
                <a16:creationId xmlns:a16="http://schemas.microsoft.com/office/drawing/2014/main" id="{CC8FBF22-E538-C53E-9593-48738A331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23" y="2671900"/>
            <a:ext cx="4243305" cy="1239617"/>
          </a:xfrm>
          <a:prstGeom prst="rect">
            <a:avLst/>
          </a:prstGeom>
        </p:spPr>
      </p:pic>
      <p:pic>
        <p:nvPicPr>
          <p:cNvPr id="50" name="Imagen 49" descr="Tabla&#10;&#10;El contenido generado por IA puede ser incorrecto.">
            <a:extLst>
              <a:ext uri="{FF2B5EF4-FFF2-40B4-BE49-F238E27FC236}">
                <a16:creationId xmlns:a16="http://schemas.microsoft.com/office/drawing/2014/main" id="{9859EABA-F21A-E405-7D50-7846FC21E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256" y="2721208"/>
            <a:ext cx="4272466" cy="1141002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262DE392-0DB0-B0AD-7FEA-FDF8CCC31ACD}"/>
              </a:ext>
            </a:extLst>
          </p:cNvPr>
          <p:cNvGrpSpPr/>
          <p:nvPr/>
        </p:nvGrpSpPr>
        <p:grpSpPr>
          <a:xfrm>
            <a:off x="5429940" y="4038600"/>
            <a:ext cx="1287289" cy="878112"/>
            <a:chOff x="7603598" y="1575818"/>
            <a:chExt cx="1171710" cy="757806"/>
          </a:xfrm>
          <a:solidFill>
            <a:schemeClr val="accent1">
              <a:lumMod val="75000"/>
            </a:schemeClr>
          </a:solidFill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D9CFEA4A-59EF-F66B-29BC-212CE37F2836}"/>
                </a:ext>
              </a:extLst>
            </p:cNvPr>
            <p:cNvSpPr/>
            <p:nvPr/>
          </p:nvSpPr>
          <p:spPr>
            <a:xfrm>
              <a:off x="7603598" y="1605981"/>
              <a:ext cx="737654" cy="727643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58EA4D17-577E-57F3-0FD2-EDA8A9EA001C}"/>
                </a:ext>
              </a:extLst>
            </p:cNvPr>
            <p:cNvSpPr/>
            <p:nvPr/>
          </p:nvSpPr>
          <p:spPr>
            <a:xfrm>
              <a:off x="8037654" y="1575818"/>
              <a:ext cx="737654" cy="727643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FA8BA957-B7CB-4378-2701-19B319EFC6E7}"/>
                </a:ext>
              </a:extLst>
            </p:cNvPr>
            <p:cNvSpPr/>
            <p:nvPr/>
          </p:nvSpPr>
          <p:spPr>
            <a:xfrm>
              <a:off x="8017819" y="1690688"/>
              <a:ext cx="323434" cy="528637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5" name="Imagen 14" descr="Tabla&#10;&#10;El contenido generado por IA puede ser incorrecto.">
            <a:extLst>
              <a:ext uri="{FF2B5EF4-FFF2-40B4-BE49-F238E27FC236}">
                <a16:creationId xmlns:a16="http://schemas.microsoft.com/office/drawing/2014/main" id="{5DBEB2B3-1CCA-39D8-E98F-F0AF5B6A2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5044981"/>
            <a:ext cx="4883525" cy="145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0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A7AB-9831-43B4-5015-537BF095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31121-F1B9-C698-FD59-1070C6F34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Combinar - </a:t>
            </a:r>
            <a:r>
              <a:rPr lang="es-ES" dirty="0"/>
              <a:t>ANTI IZQUIERDA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8897CB-5BFC-5C6B-1A3D-341C1179EB65}"/>
              </a:ext>
            </a:extLst>
          </p:cNvPr>
          <p:cNvSpPr txBox="1"/>
          <p:nvPr/>
        </p:nvSpPr>
        <p:spPr>
          <a:xfrm>
            <a:off x="2821193" y="427551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ANTI IZQUIERDA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765532A-0CD1-62E4-C72E-3942006E4FC3}"/>
              </a:ext>
            </a:extLst>
          </p:cNvPr>
          <p:cNvSpPr txBox="1"/>
          <p:nvPr/>
        </p:nvSpPr>
        <p:spPr>
          <a:xfrm>
            <a:off x="725313" y="1529231"/>
            <a:ext cx="8371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Muestra solo los CIF de la izquierda que NO existen en la derecha.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pic>
        <p:nvPicPr>
          <p:cNvPr id="48" name="Imagen 47" descr="Tabla&#10;&#10;El contenido generado por IA puede ser incorrecto.">
            <a:extLst>
              <a:ext uri="{FF2B5EF4-FFF2-40B4-BE49-F238E27FC236}">
                <a16:creationId xmlns:a16="http://schemas.microsoft.com/office/drawing/2014/main" id="{B3CC15C4-B807-8A59-53C9-054F149C1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23" y="2671900"/>
            <a:ext cx="4243305" cy="1239617"/>
          </a:xfrm>
          <a:prstGeom prst="rect">
            <a:avLst/>
          </a:prstGeom>
        </p:spPr>
      </p:pic>
      <p:pic>
        <p:nvPicPr>
          <p:cNvPr id="50" name="Imagen 49" descr="Tabla&#10;&#10;El contenido generado por IA puede ser incorrecto.">
            <a:extLst>
              <a:ext uri="{FF2B5EF4-FFF2-40B4-BE49-F238E27FC236}">
                <a16:creationId xmlns:a16="http://schemas.microsoft.com/office/drawing/2014/main" id="{3B8B5088-8408-FA59-8AAD-71D1A6C85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256" y="2721208"/>
            <a:ext cx="4272466" cy="1141002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015F24F8-F168-BC61-4935-E7A4D27D2249}"/>
              </a:ext>
            </a:extLst>
          </p:cNvPr>
          <p:cNvGrpSpPr/>
          <p:nvPr/>
        </p:nvGrpSpPr>
        <p:grpSpPr>
          <a:xfrm>
            <a:off x="5593194" y="4091750"/>
            <a:ext cx="1234439" cy="794976"/>
            <a:chOff x="7603598" y="1575818"/>
            <a:chExt cx="1171710" cy="757806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1DF18A02-B383-FD37-CC69-D6E2082BF577}"/>
                </a:ext>
              </a:extLst>
            </p:cNvPr>
            <p:cNvSpPr/>
            <p:nvPr/>
          </p:nvSpPr>
          <p:spPr>
            <a:xfrm>
              <a:off x="7603598" y="1605981"/>
              <a:ext cx="737654" cy="7276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F2344B8-36BA-F6FE-ADF0-6EE6BEED8678}"/>
                </a:ext>
              </a:extLst>
            </p:cNvPr>
            <p:cNvSpPr/>
            <p:nvPr/>
          </p:nvSpPr>
          <p:spPr>
            <a:xfrm>
              <a:off x="8037654" y="1575818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D18913DE-23F7-2CB9-DC48-E339F75A0768}"/>
                </a:ext>
              </a:extLst>
            </p:cNvPr>
            <p:cNvSpPr/>
            <p:nvPr/>
          </p:nvSpPr>
          <p:spPr>
            <a:xfrm>
              <a:off x="8017819" y="1690688"/>
              <a:ext cx="323434" cy="5286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4" name="Imagen 13" descr="Tabla&#10;&#10;El contenido generado por IA puede ser incorrecto.">
            <a:extLst>
              <a:ext uri="{FF2B5EF4-FFF2-40B4-BE49-F238E27FC236}">
                <a16:creationId xmlns:a16="http://schemas.microsoft.com/office/drawing/2014/main" id="{34142A61-278F-09A0-C0F4-E3C2B9608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989" y="5112168"/>
            <a:ext cx="4626700" cy="129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92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0CB8-B4B2-95F9-ED48-4507FADD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4C903-5BC3-7D9E-0615-786D84238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Combinar - </a:t>
            </a:r>
            <a:r>
              <a:rPr lang="es-ES" dirty="0"/>
              <a:t>ANTI DERECHA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23F354D-890D-1F91-8440-EF5E25C3622A}"/>
              </a:ext>
            </a:extLst>
          </p:cNvPr>
          <p:cNvSpPr txBox="1"/>
          <p:nvPr/>
        </p:nvSpPr>
        <p:spPr>
          <a:xfrm>
            <a:off x="2821193" y="427551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ANTI DERECHA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20880E-C21F-F606-50F3-48099A72616B}"/>
              </a:ext>
            </a:extLst>
          </p:cNvPr>
          <p:cNvSpPr txBox="1"/>
          <p:nvPr/>
        </p:nvSpPr>
        <p:spPr>
          <a:xfrm>
            <a:off x="725313" y="1529231"/>
            <a:ext cx="8371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Muestra los CIF de la derecha que NO existen en la izquierda.</a:t>
            </a:r>
          </a:p>
        </p:txBody>
      </p:sp>
      <p:pic>
        <p:nvPicPr>
          <p:cNvPr id="48" name="Imagen 47" descr="Tabla&#10;&#10;El contenido generado por IA puede ser incorrecto.">
            <a:extLst>
              <a:ext uri="{FF2B5EF4-FFF2-40B4-BE49-F238E27FC236}">
                <a16:creationId xmlns:a16="http://schemas.microsoft.com/office/drawing/2014/main" id="{639EF022-724F-2DDA-1137-E695C637D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23" y="2671900"/>
            <a:ext cx="4243305" cy="1239617"/>
          </a:xfrm>
          <a:prstGeom prst="rect">
            <a:avLst/>
          </a:prstGeom>
        </p:spPr>
      </p:pic>
      <p:pic>
        <p:nvPicPr>
          <p:cNvPr id="50" name="Imagen 49" descr="Tabla&#10;&#10;El contenido generado por IA puede ser incorrecto.">
            <a:extLst>
              <a:ext uri="{FF2B5EF4-FFF2-40B4-BE49-F238E27FC236}">
                <a16:creationId xmlns:a16="http://schemas.microsoft.com/office/drawing/2014/main" id="{F13F45E8-8172-39FE-DA97-6870D6110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256" y="2721208"/>
            <a:ext cx="4272466" cy="1141002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59E35D3E-52FE-A702-4D26-A2423AE1B742}"/>
              </a:ext>
            </a:extLst>
          </p:cNvPr>
          <p:cNvGrpSpPr/>
          <p:nvPr/>
        </p:nvGrpSpPr>
        <p:grpSpPr>
          <a:xfrm>
            <a:off x="5727173" y="4223386"/>
            <a:ext cx="737654" cy="473587"/>
            <a:chOff x="8586966" y="2507154"/>
            <a:chExt cx="1171710" cy="757806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F2F03B11-0820-6210-908B-05645195A9E6}"/>
                </a:ext>
              </a:extLst>
            </p:cNvPr>
            <p:cNvSpPr/>
            <p:nvPr/>
          </p:nvSpPr>
          <p:spPr>
            <a:xfrm>
              <a:off x="8586966" y="2537317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3C5A4A6-C1A7-2488-EE75-B256241AA3C6}"/>
                </a:ext>
              </a:extLst>
            </p:cNvPr>
            <p:cNvSpPr/>
            <p:nvPr/>
          </p:nvSpPr>
          <p:spPr>
            <a:xfrm>
              <a:off x="9021022" y="2507154"/>
              <a:ext cx="737654" cy="72764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7683D26E-110C-CE1F-FFFE-31852CC2EBFF}"/>
                </a:ext>
              </a:extLst>
            </p:cNvPr>
            <p:cNvSpPr/>
            <p:nvPr/>
          </p:nvSpPr>
          <p:spPr>
            <a:xfrm>
              <a:off x="9001187" y="2622024"/>
              <a:ext cx="323434" cy="5286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B67341BD-1819-668C-A159-9E654186E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958" y="5160237"/>
            <a:ext cx="4704083" cy="79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08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FE8B-D2FD-5718-2691-1E9A9BD1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6211-88BE-1326-75EC-56789572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Combinar - </a:t>
            </a:r>
            <a:r>
              <a:rPr lang="es-ES" dirty="0"/>
              <a:t>EXTERNA DERECHA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610731-BF82-6495-C012-6766DA9EC30A}"/>
              </a:ext>
            </a:extLst>
          </p:cNvPr>
          <p:cNvSpPr txBox="1"/>
          <p:nvPr/>
        </p:nvSpPr>
        <p:spPr>
          <a:xfrm>
            <a:off x="2821193" y="427551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EXTERNA DERECHA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5319DE-A17A-9946-348C-B23715D8BB74}"/>
              </a:ext>
            </a:extLst>
          </p:cNvPr>
          <p:cNvSpPr txBox="1"/>
          <p:nvPr/>
        </p:nvSpPr>
        <p:spPr>
          <a:xfrm>
            <a:off x="725313" y="1529231"/>
            <a:ext cx="8371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Muestra los CIF de la derecha que NO existen en la izquierda.</a:t>
            </a:r>
          </a:p>
        </p:txBody>
      </p:sp>
      <p:pic>
        <p:nvPicPr>
          <p:cNvPr id="48" name="Imagen 47" descr="Tabla&#10;&#10;El contenido generado por IA puede ser incorrecto.">
            <a:extLst>
              <a:ext uri="{FF2B5EF4-FFF2-40B4-BE49-F238E27FC236}">
                <a16:creationId xmlns:a16="http://schemas.microsoft.com/office/drawing/2014/main" id="{0F9CE4FD-742F-B689-BE0F-82201318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23" y="2671900"/>
            <a:ext cx="4243305" cy="1239617"/>
          </a:xfrm>
          <a:prstGeom prst="rect">
            <a:avLst/>
          </a:prstGeom>
        </p:spPr>
      </p:pic>
      <p:pic>
        <p:nvPicPr>
          <p:cNvPr id="50" name="Imagen 49" descr="Tabla&#10;&#10;El contenido generado por IA puede ser incorrecto.">
            <a:extLst>
              <a:ext uri="{FF2B5EF4-FFF2-40B4-BE49-F238E27FC236}">
                <a16:creationId xmlns:a16="http://schemas.microsoft.com/office/drawing/2014/main" id="{BBCACF1D-7275-5ABF-E2DC-683F40D73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256" y="2721208"/>
            <a:ext cx="4272466" cy="1141002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7AE653A5-3A3F-F343-F42A-65FBAAA7C6DB}"/>
              </a:ext>
            </a:extLst>
          </p:cNvPr>
          <p:cNvGrpSpPr/>
          <p:nvPr/>
        </p:nvGrpSpPr>
        <p:grpSpPr>
          <a:xfrm>
            <a:off x="5727173" y="4223386"/>
            <a:ext cx="737654" cy="473587"/>
            <a:chOff x="8586966" y="2507154"/>
            <a:chExt cx="1171710" cy="757806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2BAC29A8-65E3-78F5-CA9A-8F117A1A91A8}"/>
                </a:ext>
              </a:extLst>
            </p:cNvPr>
            <p:cNvSpPr/>
            <p:nvPr/>
          </p:nvSpPr>
          <p:spPr>
            <a:xfrm>
              <a:off x="8586966" y="2537317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62494221-75D3-E1BE-2E8C-BAFC456F9941}"/>
                </a:ext>
              </a:extLst>
            </p:cNvPr>
            <p:cNvSpPr/>
            <p:nvPr/>
          </p:nvSpPr>
          <p:spPr>
            <a:xfrm>
              <a:off x="9021022" y="2507154"/>
              <a:ext cx="737654" cy="72764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5FA6CB0-729E-DED6-B8B6-0BA13B9017C1}"/>
                </a:ext>
              </a:extLst>
            </p:cNvPr>
            <p:cNvSpPr/>
            <p:nvPr/>
          </p:nvSpPr>
          <p:spPr>
            <a:xfrm>
              <a:off x="9001187" y="2622024"/>
              <a:ext cx="323434" cy="5286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8FAF4EA8-6595-E978-E144-654431CEE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349" y="5166848"/>
            <a:ext cx="5005302" cy="106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01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35A2-3DB2-7FEA-9378-88C252F9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8AE9C-58A8-D0AD-B714-5C32D4261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Combinar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AEE9C81-9332-D55B-A63A-FB46E61A88C7}"/>
              </a:ext>
            </a:extLst>
          </p:cNvPr>
          <p:cNvSpPr txBox="1"/>
          <p:nvPr/>
        </p:nvSpPr>
        <p:spPr>
          <a:xfrm>
            <a:off x="5380338" y="1104443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Externa Izquierda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8AAED0-CB42-7DFE-4A26-45B677AFCFB3}"/>
              </a:ext>
            </a:extLst>
          </p:cNvPr>
          <p:cNvSpPr txBox="1"/>
          <p:nvPr/>
        </p:nvSpPr>
        <p:spPr>
          <a:xfrm>
            <a:off x="9206868" y="1229107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Externa Derecha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2C571A8-39FC-A940-20DF-720EC1AADB72}"/>
              </a:ext>
            </a:extLst>
          </p:cNvPr>
          <p:cNvSpPr txBox="1"/>
          <p:nvPr/>
        </p:nvSpPr>
        <p:spPr>
          <a:xfrm>
            <a:off x="5288746" y="2920381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Externa Completa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D1F5709-0FBB-9C47-5ADC-341187E0C89C}"/>
              </a:ext>
            </a:extLst>
          </p:cNvPr>
          <p:cNvSpPr txBox="1"/>
          <p:nvPr/>
        </p:nvSpPr>
        <p:spPr>
          <a:xfrm>
            <a:off x="8639306" y="2954668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Interna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BCD8E37-D1AF-F458-304C-5EE974B6761C}"/>
              </a:ext>
            </a:extLst>
          </p:cNvPr>
          <p:cNvSpPr txBox="1"/>
          <p:nvPr/>
        </p:nvSpPr>
        <p:spPr>
          <a:xfrm>
            <a:off x="5296644" y="491487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Anti Izquierda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561FBCE-D576-7C33-6F9C-E7CF2D938C49}"/>
              </a:ext>
            </a:extLst>
          </p:cNvPr>
          <p:cNvGrpSpPr/>
          <p:nvPr/>
        </p:nvGrpSpPr>
        <p:grpSpPr>
          <a:xfrm>
            <a:off x="9629776" y="4221329"/>
            <a:ext cx="863578" cy="681381"/>
            <a:chOff x="7603598" y="1575818"/>
            <a:chExt cx="1171710" cy="757806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893753D6-3057-D6F8-E58D-1E9E1B73352F}"/>
                </a:ext>
              </a:extLst>
            </p:cNvPr>
            <p:cNvSpPr/>
            <p:nvPr/>
          </p:nvSpPr>
          <p:spPr>
            <a:xfrm>
              <a:off x="7603598" y="1605981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10665DB5-4A53-DDA4-3A48-CA3C0A2577B1}"/>
                </a:ext>
              </a:extLst>
            </p:cNvPr>
            <p:cNvSpPr/>
            <p:nvPr/>
          </p:nvSpPr>
          <p:spPr>
            <a:xfrm>
              <a:off x="8037654" y="1575818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AFEE641-CCF7-2725-AE08-0977CDE68A63}"/>
                </a:ext>
              </a:extLst>
            </p:cNvPr>
            <p:cNvSpPr/>
            <p:nvPr/>
          </p:nvSpPr>
          <p:spPr>
            <a:xfrm>
              <a:off x="8017819" y="1690688"/>
              <a:ext cx="323434" cy="5286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D615633-16BE-826D-B58F-414D0EDF6804}"/>
              </a:ext>
            </a:extLst>
          </p:cNvPr>
          <p:cNvGrpSpPr/>
          <p:nvPr/>
        </p:nvGrpSpPr>
        <p:grpSpPr>
          <a:xfrm>
            <a:off x="5712875" y="4316165"/>
            <a:ext cx="803760" cy="519898"/>
            <a:chOff x="7603598" y="1575818"/>
            <a:chExt cx="1171710" cy="757806"/>
          </a:xfrm>
          <a:solidFill>
            <a:schemeClr val="accent1">
              <a:lumMod val="75000"/>
            </a:schemeClr>
          </a:solidFill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489A145F-D162-FAB6-B7B2-4351CF20010A}"/>
                </a:ext>
              </a:extLst>
            </p:cNvPr>
            <p:cNvSpPr/>
            <p:nvPr/>
          </p:nvSpPr>
          <p:spPr>
            <a:xfrm>
              <a:off x="7603598" y="1605981"/>
              <a:ext cx="737654" cy="727643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02393308-50A2-30DA-3488-F95323306AB9}"/>
                </a:ext>
              </a:extLst>
            </p:cNvPr>
            <p:cNvSpPr/>
            <p:nvPr/>
          </p:nvSpPr>
          <p:spPr>
            <a:xfrm>
              <a:off x="8037654" y="1575818"/>
              <a:ext cx="737654" cy="727643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86A461C1-2902-E7B1-5C6B-AB4AEE1C7335}"/>
                </a:ext>
              </a:extLst>
            </p:cNvPr>
            <p:cNvSpPr/>
            <p:nvPr/>
          </p:nvSpPr>
          <p:spPr>
            <a:xfrm>
              <a:off x="8017819" y="1690688"/>
              <a:ext cx="323434" cy="528637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E48BB85-E5C1-520C-DB44-0FA8810767FD}"/>
              </a:ext>
            </a:extLst>
          </p:cNvPr>
          <p:cNvGrpSpPr/>
          <p:nvPr/>
        </p:nvGrpSpPr>
        <p:grpSpPr>
          <a:xfrm>
            <a:off x="6184557" y="2392745"/>
            <a:ext cx="516379" cy="457473"/>
            <a:chOff x="7603598" y="1575818"/>
            <a:chExt cx="1171710" cy="757806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999A5B1E-2E00-6F6C-D4CF-23F694BBC840}"/>
                </a:ext>
              </a:extLst>
            </p:cNvPr>
            <p:cNvSpPr/>
            <p:nvPr/>
          </p:nvSpPr>
          <p:spPr>
            <a:xfrm>
              <a:off x="7603598" y="1605981"/>
              <a:ext cx="737654" cy="7276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40C73235-5808-D4CE-A2B1-3F4AB29B3671}"/>
                </a:ext>
              </a:extLst>
            </p:cNvPr>
            <p:cNvSpPr/>
            <p:nvPr/>
          </p:nvSpPr>
          <p:spPr>
            <a:xfrm>
              <a:off x="8037654" y="1575818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589DC597-685F-F1F1-4EBF-A20CB946AD06}"/>
                </a:ext>
              </a:extLst>
            </p:cNvPr>
            <p:cNvSpPr/>
            <p:nvPr/>
          </p:nvSpPr>
          <p:spPr>
            <a:xfrm>
              <a:off x="8017819" y="1690688"/>
              <a:ext cx="323434" cy="52863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A14B04C-0563-4E29-25E7-5D391F84C961}"/>
              </a:ext>
            </a:extLst>
          </p:cNvPr>
          <p:cNvSpPr txBox="1"/>
          <p:nvPr/>
        </p:nvSpPr>
        <p:spPr>
          <a:xfrm>
            <a:off x="8446296" y="4960603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Anti Derecha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E0A0D79-914B-74BD-515F-982546811DCE}"/>
              </a:ext>
            </a:extLst>
          </p:cNvPr>
          <p:cNvGrpSpPr/>
          <p:nvPr/>
        </p:nvGrpSpPr>
        <p:grpSpPr>
          <a:xfrm>
            <a:off x="9965560" y="2380071"/>
            <a:ext cx="625998" cy="511310"/>
            <a:chOff x="10006321" y="5696635"/>
            <a:chExt cx="433077" cy="439264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5FE9A836-B161-7938-3418-6714EC1E6E3B}"/>
                </a:ext>
              </a:extLst>
            </p:cNvPr>
            <p:cNvSpPr/>
            <p:nvPr/>
          </p:nvSpPr>
          <p:spPr>
            <a:xfrm>
              <a:off x="10006321" y="5714119"/>
              <a:ext cx="272645" cy="4217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7430BC9C-C23D-7245-2DD0-9350D2BC62B1}"/>
                </a:ext>
              </a:extLst>
            </p:cNvPr>
            <p:cNvSpPr/>
            <p:nvPr/>
          </p:nvSpPr>
          <p:spPr>
            <a:xfrm>
              <a:off x="10166753" y="5696635"/>
              <a:ext cx="272645" cy="4217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9DF696D0-E98B-3073-C121-E2441836DF13}"/>
                </a:ext>
              </a:extLst>
            </p:cNvPr>
            <p:cNvSpPr/>
            <p:nvPr/>
          </p:nvSpPr>
          <p:spPr>
            <a:xfrm>
              <a:off x="10159422" y="5763220"/>
              <a:ext cx="119545" cy="30642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8A458567-6C4E-7D78-6239-33079949F3D4}"/>
              </a:ext>
            </a:extLst>
          </p:cNvPr>
          <p:cNvGrpSpPr/>
          <p:nvPr/>
        </p:nvGrpSpPr>
        <p:grpSpPr>
          <a:xfrm>
            <a:off x="5807898" y="5964763"/>
            <a:ext cx="893038" cy="659970"/>
            <a:chOff x="7603598" y="1575818"/>
            <a:chExt cx="1171710" cy="757806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6EF441-E1F2-EDE5-AF8B-5733C6D24131}"/>
                </a:ext>
              </a:extLst>
            </p:cNvPr>
            <p:cNvSpPr/>
            <p:nvPr/>
          </p:nvSpPr>
          <p:spPr>
            <a:xfrm>
              <a:off x="7603598" y="1605981"/>
              <a:ext cx="737654" cy="7276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56F27161-B6DA-8557-F96B-A66522B014C6}"/>
                </a:ext>
              </a:extLst>
            </p:cNvPr>
            <p:cNvSpPr/>
            <p:nvPr/>
          </p:nvSpPr>
          <p:spPr>
            <a:xfrm>
              <a:off x="8037654" y="1575818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031B85A0-938B-B6CD-6D93-7517FE27965F}"/>
                </a:ext>
              </a:extLst>
            </p:cNvPr>
            <p:cNvSpPr/>
            <p:nvPr/>
          </p:nvSpPr>
          <p:spPr>
            <a:xfrm>
              <a:off x="8017819" y="1690688"/>
              <a:ext cx="323434" cy="5286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6B0D1A6-25F1-AADE-2653-E70C194C2B63}"/>
              </a:ext>
            </a:extLst>
          </p:cNvPr>
          <p:cNvGrpSpPr/>
          <p:nvPr/>
        </p:nvGrpSpPr>
        <p:grpSpPr>
          <a:xfrm>
            <a:off x="9470260" y="5991032"/>
            <a:ext cx="990599" cy="699337"/>
            <a:chOff x="8586966" y="2507154"/>
            <a:chExt cx="1171710" cy="757806"/>
          </a:xfrm>
        </p:grpSpPr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914EE8F0-1846-D7BB-9D54-1A2A30D4F8B6}"/>
                </a:ext>
              </a:extLst>
            </p:cNvPr>
            <p:cNvSpPr/>
            <p:nvPr/>
          </p:nvSpPr>
          <p:spPr>
            <a:xfrm>
              <a:off x="8586966" y="2537317"/>
              <a:ext cx="737654" cy="72764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7697646F-C4AB-8D65-CE24-A8C515508BF7}"/>
                </a:ext>
              </a:extLst>
            </p:cNvPr>
            <p:cNvSpPr/>
            <p:nvPr/>
          </p:nvSpPr>
          <p:spPr>
            <a:xfrm>
              <a:off x="9021022" y="2507154"/>
              <a:ext cx="737654" cy="72764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9E86A62C-FAF8-E0D0-4A39-8BB8DF65941A}"/>
                </a:ext>
              </a:extLst>
            </p:cNvPr>
            <p:cNvSpPr/>
            <p:nvPr/>
          </p:nvSpPr>
          <p:spPr>
            <a:xfrm>
              <a:off x="9001187" y="2622024"/>
              <a:ext cx="323434" cy="5286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45" name="Abrir llave 44">
            <a:extLst>
              <a:ext uri="{FF2B5EF4-FFF2-40B4-BE49-F238E27FC236}">
                <a16:creationId xmlns:a16="http://schemas.microsoft.com/office/drawing/2014/main" id="{067CE7B8-E316-38D1-4BA4-3C22E8F7E477}"/>
              </a:ext>
            </a:extLst>
          </p:cNvPr>
          <p:cNvSpPr/>
          <p:nvPr/>
        </p:nvSpPr>
        <p:spPr>
          <a:xfrm>
            <a:off x="4297847" y="997393"/>
            <a:ext cx="990600" cy="573678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D85B5F87-3686-EA69-D2E9-D57A4D526B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16"/>
          <a:stretch>
            <a:fillRect/>
          </a:stretch>
        </p:blipFill>
        <p:spPr>
          <a:xfrm>
            <a:off x="79662" y="2746593"/>
            <a:ext cx="2129713" cy="716907"/>
          </a:xfrm>
          <a:prstGeom prst="rect">
            <a:avLst/>
          </a:prstGeom>
        </p:spPr>
      </p:pic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AEC48C09-24CA-A544-149C-5D1FB5669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25645"/>
          <a:stretch>
            <a:fillRect/>
          </a:stretch>
        </p:blipFill>
        <p:spPr>
          <a:xfrm>
            <a:off x="2513994" y="2743245"/>
            <a:ext cx="1996036" cy="716907"/>
          </a:xfrm>
          <a:prstGeom prst="rect">
            <a:avLst/>
          </a:prstGeom>
        </p:spPr>
      </p:pic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29ED2A61-8DF9-3965-4D7C-5BF7D6C8C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581" y="1587557"/>
            <a:ext cx="3478032" cy="708103"/>
          </a:xfrm>
          <a:prstGeom prst="rect">
            <a:avLst/>
          </a:prstGeom>
        </p:spPr>
      </p:pic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5177878C-0106-C0E1-05FE-D1CCC209C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4581" y="1615450"/>
            <a:ext cx="3377238" cy="716907"/>
          </a:xfrm>
          <a:prstGeom prst="rect">
            <a:avLst/>
          </a:prstGeom>
        </p:spPr>
      </p:pic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E02805F3-2453-B1BB-47BE-34CF72F9B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089" y="3298977"/>
            <a:ext cx="3176462" cy="948198"/>
          </a:xfrm>
          <a:prstGeom prst="rect">
            <a:avLst/>
          </a:prstGeom>
        </p:spPr>
      </p:pic>
      <p:pic>
        <p:nvPicPr>
          <p:cNvPr id="46" name="Imagen 4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D9A02EB-2823-D1CF-18B7-1898C3223E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2613" y="3351900"/>
            <a:ext cx="3819495" cy="612286"/>
          </a:xfrm>
          <a:prstGeom prst="rect">
            <a:avLst/>
          </a:prstGeom>
        </p:spPr>
      </p:pic>
      <p:pic>
        <p:nvPicPr>
          <p:cNvPr id="47" name="Imagen 46" descr="Tabla&#10;&#10;El contenido generado por IA puede ser incorrecto.">
            <a:extLst>
              <a:ext uri="{FF2B5EF4-FFF2-40B4-BE49-F238E27FC236}">
                <a16:creationId xmlns:a16="http://schemas.microsoft.com/office/drawing/2014/main" id="{C60F3448-0370-8562-55D5-76F815AD15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039" y="5226252"/>
            <a:ext cx="2534311" cy="708748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2820B52C-F47C-A76F-8284-342C6337B2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6614" y="5414958"/>
            <a:ext cx="2956906" cy="49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7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F7F16C5-AAFA-E783-76FB-973ADFAE6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79" y="2193925"/>
            <a:ext cx="11802140" cy="1325563"/>
          </a:xfrm>
        </p:spPr>
        <p:txBody>
          <a:bodyPr/>
          <a:lstStyle/>
          <a:p>
            <a:pPr algn="ctr"/>
            <a:r>
              <a:rPr lang="es-ES" dirty="0"/>
              <a:t>Anular dinamizaciones, Dinamizar y Transponer</a:t>
            </a:r>
          </a:p>
        </p:txBody>
      </p:sp>
    </p:spTree>
    <p:extLst>
      <p:ext uri="{BB962C8B-B14F-4D97-AF65-F5344CB8AC3E}">
        <p14:creationId xmlns:p14="http://schemas.microsoft.com/office/powerpoint/2010/main" val="3170442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Primeras Transformaciones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76731-9820-79AC-8963-2258F235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7543800" cy="514187"/>
          </a:xfrm>
        </p:spPr>
        <p:txBody>
          <a:bodyPr/>
          <a:lstStyle/>
          <a:p>
            <a:pPr marL="0" indent="0">
              <a:buNone/>
            </a:pPr>
            <a:r>
              <a:rPr lang="es-CO" b="1" dirty="0"/>
              <a:t>Anular dinamización de columnas (</a:t>
            </a:r>
            <a:r>
              <a:rPr lang="es-CO" b="1" dirty="0" err="1"/>
              <a:t>Unpivot</a:t>
            </a:r>
            <a:r>
              <a:rPr lang="es-CO" b="1" dirty="0"/>
              <a:t>)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6A65FE6-47B5-16A0-7836-463E7B78F241}"/>
              </a:ext>
            </a:extLst>
          </p:cNvPr>
          <p:cNvCxnSpPr>
            <a:cxnSpLocks/>
          </p:cNvCxnSpPr>
          <p:nvPr/>
        </p:nvCxnSpPr>
        <p:spPr>
          <a:xfrm flipV="1">
            <a:off x="5347214" y="5411250"/>
            <a:ext cx="435401" cy="540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FDCCB75-9BBF-1BCF-BC08-12C035CAEFF1}"/>
              </a:ext>
            </a:extLst>
          </p:cNvPr>
          <p:cNvSpPr txBox="1"/>
          <p:nvPr/>
        </p:nvSpPr>
        <p:spPr>
          <a:xfrm>
            <a:off x="3382688" y="5776604"/>
            <a:ext cx="1903696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Esta estructura no tiene cabida en </a:t>
            </a:r>
            <a:r>
              <a:rPr lang="es-ES" sz="1600" dirty="0" err="1">
                <a:solidFill>
                  <a:schemeClr val="bg1"/>
                </a:solidFill>
              </a:rPr>
              <a:t>Power</a:t>
            </a:r>
            <a:r>
              <a:rPr lang="es-ES" sz="1600" dirty="0">
                <a:solidFill>
                  <a:schemeClr val="bg1"/>
                </a:solidFill>
              </a:rPr>
              <a:t> BI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473D584-6504-998C-8DAE-590ECFE91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543" y="5113822"/>
            <a:ext cx="3960590" cy="1325563"/>
          </a:xfrm>
          <a:prstGeom prst="rect">
            <a:avLst/>
          </a:prstGeom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3B5DE6CB-8B98-4A70-9013-4D4924ADF229}"/>
              </a:ext>
            </a:extLst>
          </p:cNvPr>
          <p:cNvCxnSpPr>
            <a:cxnSpLocks/>
          </p:cNvCxnSpPr>
          <p:nvPr/>
        </p:nvCxnSpPr>
        <p:spPr>
          <a:xfrm>
            <a:off x="7164760" y="4896756"/>
            <a:ext cx="2060836" cy="1546997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EB04B2F-4B82-FAC8-3063-DCCFABF0D912}"/>
              </a:ext>
            </a:extLst>
          </p:cNvPr>
          <p:cNvCxnSpPr>
            <a:cxnSpLocks/>
          </p:cNvCxnSpPr>
          <p:nvPr/>
        </p:nvCxnSpPr>
        <p:spPr>
          <a:xfrm flipH="1">
            <a:off x="6936870" y="4819459"/>
            <a:ext cx="1319171" cy="1260453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E4E377-B1AB-F5DB-6EF5-7E6D52BA905F}"/>
              </a:ext>
            </a:extLst>
          </p:cNvPr>
          <p:cNvSpPr txBox="1"/>
          <p:nvPr/>
        </p:nvSpPr>
        <p:spPr>
          <a:xfrm>
            <a:off x="838201" y="1924927"/>
            <a:ext cx="105155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Convierte </a:t>
            </a:r>
            <a:r>
              <a:rPr lang="es-ES" b="1" dirty="0"/>
              <a:t>varias columnas que representan lo mismo</a:t>
            </a:r>
            <a:r>
              <a:rPr lang="es-ES" dirty="0"/>
              <a:t> (por ejemplo: </a:t>
            </a:r>
            <a:r>
              <a:rPr lang="es-ES" i="1" dirty="0"/>
              <a:t>2019, 2020, 2021…</a:t>
            </a:r>
            <a:r>
              <a:rPr lang="es-ES" dirty="0"/>
              <a:t>) en </a:t>
            </a:r>
            <a:r>
              <a:rPr lang="es-ES" b="1" dirty="0"/>
              <a:t>dos columnas</a:t>
            </a:r>
            <a:r>
              <a:rPr lang="es-ES" dirty="0"/>
              <a:t>:</a:t>
            </a:r>
          </a:p>
          <a:p>
            <a:r>
              <a:rPr lang="es-ES" dirty="0"/>
              <a:t>	- Una columna llamada Atributo ( en nuestro ejemplo Año)</a:t>
            </a:r>
          </a:p>
          <a:p>
            <a:r>
              <a:rPr lang="es-ES" dirty="0"/>
              <a:t>	- Una columna llamada Valor ( en nuestro ejemplo – ventas por año)</a:t>
            </a:r>
          </a:p>
          <a:p>
            <a:r>
              <a:rPr lang="es-ES" dirty="0"/>
              <a:t>	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A89DED2-7472-ADF3-E846-A0CDB5092428}"/>
              </a:ext>
            </a:extLst>
          </p:cNvPr>
          <p:cNvSpPr txBox="1"/>
          <p:nvPr/>
        </p:nvSpPr>
        <p:spPr>
          <a:xfrm>
            <a:off x="896095" y="3420917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¿Qué ganamos al hacerlo?</a:t>
            </a:r>
            <a:br>
              <a:rPr lang="es-ES" dirty="0"/>
            </a:br>
            <a:r>
              <a:rPr lang="es-ES" dirty="0"/>
              <a:t>-  Puedes filtrar por Año con </a:t>
            </a:r>
            <a:r>
              <a:rPr lang="es-ES" dirty="0" err="1"/>
              <a:t>segmentadores</a:t>
            </a:r>
            <a:br>
              <a:rPr lang="es-ES" dirty="0"/>
            </a:br>
            <a:r>
              <a:rPr lang="es-ES" dirty="0"/>
              <a:t>-  Puedes hacer gráficos por tiempo fácilmente</a:t>
            </a:r>
            <a:br>
              <a:rPr lang="es-ES" dirty="0"/>
            </a:br>
            <a:r>
              <a:rPr lang="es-ES" dirty="0"/>
              <a:t>-  Puedes sumar, comparar y calcular medidas sin crear columnas nuevas cada año</a:t>
            </a:r>
          </a:p>
        </p:txBody>
      </p:sp>
    </p:spTree>
    <p:extLst>
      <p:ext uri="{BB962C8B-B14F-4D97-AF65-F5344CB8AC3E}">
        <p14:creationId xmlns:p14="http://schemas.microsoft.com/office/powerpoint/2010/main" val="2811788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1882-0CC1-C1D4-4B94-3429EDDB6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58834-5C3F-5A6A-1983-B8F225C9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Primeras Transformaciones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59FA0F-63E5-1293-E475-988DFB473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7543800" cy="514187"/>
          </a:xfrm>
        </p:spPr>
        <p:txBody>
          <a:bodyPr/>
          <a:lstStyle/>
          <a:p>
            <a:pPr marL="0" indent="0">
              <a:buNone/>
            </a:pPr>
            <a:r>
              <a:rPr lang="es-CO" b="1" dirty="0"/>
              <a:t>Anular dinamización de columnas (</a:t>
            </a:r>
            <a:r>
              <a:rPr lang="es-CO" b="1" dirty="0" err="1"/>
              <a:t>Unpivot</a:t>
            </a:r>
            <a:r>
              <a:rPr lang="es-CO" b="1" dirty="0"/>
              <a:t>)</a:t>
            </a: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6B52375-0006-6043-E5AB-1AEC12B43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19" y="2081964"/>
            <a:ext cx="5091075" cy="417525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BB41FBF-4BC1-34E9-4D06-EF4A59ECDB2F}"/>
              </a:ext>
            </a:extLst>
          </p:cNvPr>
          <p:cNvSpPr/>
          <p:nvPr/>
        </p:nvSpPr>
        <p:spPr>
          <a:xfrm>
            <a:off x="5553886" y="5143500"/>
            <a:ext cx="2227634" cy="1750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D30B60-6822-2C66-0C94-5B508BE8AD0C}"/>
              </a:ext>
            </a:extLst>
          </p:cNvPr>
          <p:cNvSpPr txBox="1"/>
          <p:nvPr/>
        </p:nvSpPr>
        <p:spPr>
          <a:xfrm>
            <a:off x="923925" y="2151727"/>
            <a:ext cx="2513296" cy="255454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La columna que contiene los datos del campo cliente es “Día”, esta está perfectamente estructurada.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Nos posicionamos en ella, botón derecho y elegimos  “Anulación de dinamización de otras columnas”</a:t>
            </a:r>
          </a:p>
        </p:txBody>
      </p:sp>
    </p:spTree>
    <p:extLst>
      <p:ext uri="{BB962C8B-B14F-4D97-AF65-F5344CB8AC3E}">
        <p14:creationId xmlns:p14="http://schemas.microsoft.com/office/powerpoint/2010/main" val="467653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Primeras Transformaciones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76731-9820-79AC-8963-2258F235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7543800" cy="514187"/>
          </a:xfrm>
        </p:spPr>
        <p:txBody>
          <a:bodyPr/>
          <a:lstStyle/>
          <a:p>
            <a:pPr marL="0" indent="0">
              <a:buNone/>
            </a:pPr>
            <a:r>
              <a:rPr lang="es-CO" b="1" dirty="0"/>
              <a:t>Dinamizar  -&gt; </a:t>
            </a:r>
            <a:r>
              <a:rPr lang="es-ES" b="1" dirty="0"/>
              <a:t>Columna dinámica (</a:t>
            </a:r>
            <a:r>
              <a:rPr lang="es-ES" b="1" dirty="0" err="1"/>
              <a:t>Pivot</a:t>
            </a:r>
            <a:r>
              <a:rPr lang="es-ES" b="1" dirty="0"/>
              <a:t>)</a:t>
            </a:r>
            <a:endParaRPr lang="es-CO" b="1" dirty="0"/>
          </a:p>
        </p:txBody>
      </p:sp>
      <p:pic>
        <p:nvPicPr>
          <p:cNvPr id="12" name="Imagen 1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E6F9AC5-9074-6CE7-C408-29F8D5AA15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746" r="-746"/>
          <a:stretch>
            <a:fillRect/>
          </a:stretch>
        </p:blipFill>
        <p:spPr>
          <a:xfrm>
            <a:off x="982097" y="2635176"/>
            <a:ext cx="5246954" cy="1340325"/>
          </a:xfrm>
          <a:prstGeom prst="rect">
            <a:avLst/>
          </a:prstGeom>
        </p:spPr>
      </p:pic>
      <p:pic>
        <p:nvPicPr>
          <p:cNvPr id="16" name="Imagen 1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A5BC311-A106-F33F-41AE-CB9DC92E1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148" y="4222824"/>
            <a:ext cx="4980852" cy="2497114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C77B3E6B-1135-5D3C-73EC-03A3B0D2008B}"/>
              </a:ext>
            </a:extLst>
          </p:cNvPr>
          <p:cNvSpPr/>
          <p:nvPr/>
        </p:nvSpPr>
        <p:spPr>
          <a:xfrm>
            <a:off x="3303757" y="3120549"/>
            <a:ext cx="1573044" cy="404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763B238-278B-9E8E-DCAE-977F089CDD7C}"/>
              </a:ext>
            </a:extLst>
          </p:cNvPr>
          <p:cNvSpPr txBox="1"/>
          <p:nvPr/>
        </p:nvSpPr>
        <p:spPr>
          <a:xfrm>
            <a:off x="7251300" y="2879205"/>
            <a:ext cx="4427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1- Seleccionar columna con las categorías</a:t>
            </a:r>
          </a:p>
          <a:p>
            <a:r>
              <a:rPr lang="es-ES" dirty="0"/>
              <a:t>2- Columna dinámica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12A13E-E200-C056-76DA-014DCC07E536}"/>
              </a:ext>
            </a:extLst>
          </p:cNvPr>
          <p:cNvSpPr txBox="1"/>
          <p:nvPr/>
        </p:nvSpPr>
        <p:spPr>
          <a:xfrm>
            <a:off x="7251300" y="4292718"/>
            <a:ext cx="4391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3- Ventana emergente</a:t>
            </a:r>
          </a:p>
          <a:p>
            <a:r>
              <a:rPr lang="es-ES" dirty="0"/>
              <a:t>         - Columna : Valor ( tiene los valores)</a:t>
            </a:r>
          </a:p>
          <a:p>
            <a:r>
              <a:rPr lang="es-ES" dirty="0"/>
              <a:t>         - Opciones avanzadas: No agregar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BB51A74-D9F4-EE3A-B05F-75987C8C9AF2}"/>
              </a:ext>
            </a:extLst>
          </p:cNvPr>
          <p:cNvSpPr txBox="1"/>
          <p:nvPr/>
        </p:nvSpPr>
        <p:spPr>
          <a:xfrm>
            <a:off x="658678" y="1786533"/>
            <a:ext cx="11020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Convierte los valores de una columna (por ejemplo: </a:t>
            </a:r>
            <a:r>
              <a:rPr lang="es-ES" i="1" dirty="0"/>
              <a:t>Categoría</a:t>
            </a:r>
            <a:r>
              <a:rPr lang="es-ES" dirty="0"/>
              <a:t>, </a:t>
            </a:r>
            <a:r>
              <a:rPr lang="es-ES" i="1" dirty="0"/>
              <a:t>Tipo</a:t>
            </a:r>
            <a:r>
              <a:rPr lang="es-ES" dirty="0"/>
              <a:t>, </a:t>
            </a:r>
            <a:r>
              <a:rPr lang="es-ES" i="1" dirty="0"/>
              <a:t>Año</a:t>
            </a:r>
            <a:r>
              <a:rPr lang="es-ES" dirty="0"/>
              <a:t>, </a:t>
            </a:r>
            <a:r>
              <a:rPr lang="es-ES" i="1" dirty="0"/>
              <a:t>Asignatura</a:t>
            </a:r>
            <a:r>
              <a:rPr lang="es-ES" dirty="0"/>
              <a:t>) en </a:t>
            </a:r>
            <a:r>
              <a:rPr lang="es-ES" b="1" dirty="0"/>
              <a:t>nuevas columnas</a:t>
            </a:r>
            <a:r>
              <a:rPr lang="es-ES" dirty="0"/>
              <a:t>, y coloca los datos numéricos en esas columnas.</a:t>
            </a:r>
          </a:p>
        </p:txBody>
      </p:sp>
    </p:spTree>
    <p:extLst>
      <p:ext uri="{BB962C8B-B14F-4D97-AF65-F5344CB8AC3E}">
        <p14:creationId xmlns:p14="http://schemas.microsoft.com/office/powerpoint/2010/main" val="2508814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B7E2C3A-5D23-6EC2-FD3C-B65E58F5C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40" y="2300250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Conexión a un libro y a una carpeta</a:t>
            </a:r>
          </a:p>
        </p:txBody>
      </p:sp>
    </p:spTree>
    <p:extLst>
      <p:ext uri="{BB962C8B-B14F-4D97-AF65-F5344CB8AC3E}">
        <p14:creationId xmlns:p14="http://schemas.microsoft.com/office/powerpoint/2010/main" val="2681266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Conexión a una carpeta con varios libros Excel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94F612-1458-F3FA-332B-4AEC118A3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24584"/>
            <a:ext cx="10205589" cy="378594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2E766A9-3051-2897-A824-350383427D81}"/>
              </a:ext>
            </a:extLst>
          </p:cNvPr>
          <p:cNvSpPr txBox="1"/>
          <p:nvPr/>
        </p:nvSpPr>
        <p:spPr>
          <a:xfrm>
            <a:off x="838200" y="1461304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Este es un caso típico, tenemos una carpeta con varios libros, el diario, las ventas.</a:t>
            </a:r>
          </a:p>
          <a:p>
            <a:r>
              <a:rPr lang="es-ES" sz="1800" dirty="0"/>
              <a:t>Todos tienen la misma estructura.</a:t>
            </a:r>
          </a:p>
        </p:txBody>
      </p:sp>
    </p:spTree>
    <p:extLst>
      <p:ext uri="{BB962C8B-B14F-4D97-AF65-F5344CB8AC3E}">
        <p14:creationId xmlns:p14="http://schemas.microsoft.com/office/powerpoint/2010/main" val="3319456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Conexión a una carpeta con varios libros Excel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AF5F8F4-F4A0-F14E-B2C8-ACF29410B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961678"/>
            <a:ext cx="3641401" cy="3423626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9260F74-ED15-D61B-1B1B-C53A510FBE0E}"/>
              </a:ext>
            </a:extLst>
          </p:cNvPr>
          <p:cNvSpPr/>
          <p:nvPr/>
        </p:nvSpPr>
        <p:spPr>
          <a:xfrm>
            <a:off x="2140312" y="3101810"/>
            <a:ext cx="710475" cy="141397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C1AF53-03BC-E97B-E438-ABDF97AE8032}"/>
              </a:ext>
            </a:extLst>
          </p:cNvPr>
          <p:cNvSpPr txBox="1"/>
          <p:nvPr/>
        </p:nvSpPr>
        <p:spPr>
          <a:xfrm>
            <a:off x="3103768" y="2023573"/>
            <a:ext cx="4617832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Nos conectamos a una carpeta.</a:t>
            </a:r>
          </a:p>
          <a:p>
            <a:r>
              <a:rPr lang="es-ES" sz="1600" dirty="0">
                <a:solidFill>
                  <a:schemeClr val="bg1"/>
                </a:solidFill>
              </a:rPr>
              <a:t>Debemos indicar la ruta donde se encuentra la carpeta.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4CB0F9F-F196-44F5-B9CA-016B6A80C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443" y="2731797"/>
            <a:ext cx="4353658" cy="21017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53A76F6-3EF5-06B9-D111-FB02677BF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613" y="4038600"/>
            <a:ext cx="3232535" cy="2426162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9260F74-ED15-D61B-1B1B-C53A510FBE0E}"/>
              </a:ext>
            </a:extLst>
          </p:cNvPr>
          <p:cNvSpPr/>
          <p:nvPr/>
        </p:nvSpPr>
        <p:spPr>
          <a:xfrm>
            <a:off x="8559901" y="6195957"/>
            <a:ext cx="710475" cy="141397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1192A4-295B-256F-ACAB-DD83C70D8A5F}"/>
              </a:ext>
            </a:extLst>
          </p:cNvPr>
          <p:cNvSpPr txBox="1"/>
          <p:nvPr/>
        </p:nvSpPr>
        <p:spPr>
          <a:xfrm>
            <a:off x="8249094" y="4853319"/>
            <a:ext cx="364140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Indicamos la opción de Transformar datos.</a:t>
            </a:r>
          </a:p>
        </p:txBody>
      </p:sp>
    </p:spTree>
    <p:extLst>
      <p:ext uri="{BB962C8B-B14F-4D97-AF65-F5344CB8AC3E}">
        <p14:creationId xmlns:p14="http://schemas.microsoft.com/office/powerpoint/2010/main" val="645785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Conexión a una carpeta con varios libros Excel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C1AF53-03BC-E97B-E438-ABDF97AE8032}"/>
              </a:ext>
            </a:extLst>
          </p:cNvPr>
          <p:cNvSpPr txBox="1"/>
          <p:nvPr/>
        </p:nvSpPr>
        <p:spPr>
          <a:xfrm>
            <a:off x="8791945" y="1662809"/>
            <a:ext cx="2513296" cy="1323439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Elegimos los ficheros extensión .xlsx, filtrando ese campo si detectamos ficheros con otra extensión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1192A4-295B-256F-ACAB-DD83C70D8A5F}"/>
              </a:ext>
            </a:extLst>
          </p:cNvPr>
          <p:cNvSpPr txBox="1"/>
          <p:nvPr/>
        </p:nvSpPr>
        <p:spPr>
          <a:xfrm>
            <a:off x="8919527" y="3466273"/>
            <a:ext cx="2513296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Nos quedamos con la columna  “Content “ y “</a:t>
            </a:r>
            <a:r>
              <a:rPr lang="es-ES" sz="1600" dirty="0" err="1">
                <a:solidFill>
                  <a:schemeClr val="bg1"/>
                </a:solidFill>
              </a:rPr>
              <a:t>Name</a:t>
            </a:r>
            <a:r>
              <a:rPr lang="es-ES" sz="1600" dirty="0">
                <a:solidFill>
                  <a:schemeClr val="bg1"/>
                </a:solidFill>
              </a:rPr>
              <a:t>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DA195FD-EE7F-7165-3A52-1A2622EB4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5446"/>
            <a:ext cx="7677150" cy="710942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9260F74-ED15-D61B-1B1B-C53A510FBE0E}"/>
              </a:ext>
            </a:extLst>
          </p:cNvPr>
          <p:cNvSpPr/>
          <p:nvPr/>
        </p:nvSpPr>
        <p:spPr>
          <a:xfrm>
            <a:off x="2454637" y="2191909"/>
            <a:ext cx="710475" cy="467317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B04F6EE-6DD0-0672-F871-AD51631CF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45689"/>
            <a:ext cx="3787657" cy="1105011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9260F74-ED15-D61B-1B1B-C53A510FBE0E}"/>
              </a:ext>
            </a:extLst>
          </p:cNvPr>
          <p:cNvSpPr/>
          <p:nvPr/>
        </p:nvSpPr>
        <p:spPr>
          <a:xfrm flipH="1">
            <a:off x="1676399" y="2757385"/>
            <a:ext cx="273413" cy="417950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F07611-E37C-9C31-0A05-0A85359DF44B}"/>
              </a:ext>
            </a:extLst>
          </p:cNvPr>
          <p:cNvSpPr txBox="1"/>
          <p:nvPr/>
        </p:nvSpPr>
        <p:spPr>
          <a:xfrm>
            <a:off x="1048833" y="3466273"/>
            <a:ext cx="2513296" cy="2062103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Activamos estas flechas y el programa anexara de forma automática todos los años.</a:t>
            </a:r>
          </a:p>
          <a:p>
            <a:r>
              <a:rPr lang="es-ES" sz="1600" dirty="0">
                <a:solidFill>
                  <a:schemeClr val="bg1"/>
                </a:solidFill>
              </a:rPr>
              <a:t>Cuando introduzcamos un nuevo ejercicio sus datos se volcarán de forma automática.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AA92736-F96E-9566-7FCC-62DFBC8DC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659" y="2958369"/>
            <a:ext cx="3687684" cy="2636958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AA5DFB8-09BA-BF67-8027-A12177814AD3}"/>
              </a:ext>
            </a:extLst>
          </p:cNvPr>
          <p:cNvSpPr txBox="1"/>
          <p:nvPr/>
        </p:nvSpPr>
        <p:spPr>
          <a:xfrm>
            <a:off x="4207408" y="4394998"/>
            <a:ext cx="2513296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Nos pide un archivo de ejemplo</a:t>
            </a:r>
          </a:p>
        </p:txBody>
      </p:sp>
    </p:spTree>
    <p:extLst>
      <p:ext uri="{BB962C8B-B14F-4D97-AF65-F5344CB8AC3E}">
        <p14:creationId xmlns:p14="http://schemas.microsoft.com/office/powerpoint/2010/main" val="3984330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Conexión a una carpeta con varios libros Excel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A19C410-D80C-584F-4DD6-7AD517948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03" y="1838040"/>
            <a:ext cx="9134475" cy="427540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7AB2892-A7D0-93D2-AD84-5BDC1114135B}"/>
              </a:ext>
            </a:extLst>
          </p:cNvPr>
          <p:cNvSpPr/>
          <p:nvPr/>
        </p:nvSpPr>
        <p:spPr>
          <a:xfrm>
            <a:off x="629303" y="2659226"/>
            <a:ext cx="710475" cy="1093624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C1AF53-03BC-E97B-E438-ABDF97AE8032}"/>
              </a:ext>
            </a:extLst>
          </p:cNvPr>
          <p:cNvSpPr txBox="1"/>
          <p:nvPr/>
        </p:nvSpPr>
        <p:spPr>
          <a:xfrm>
            <a:off x="5754404" y="2400889"/>
            <a:ext cx="2513296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De forma automática él ha realizado todos estos pasos por nosotros.</a:t>
            </a:r>
          </a:p>
        </p:txBody>
      </p:sp>
    </p:spTree>
    <p:extLst>
      <p:ext uri="{BB962C8B-B14F-4D97-AF65-F5344CB8AC3E}">
        <p14:creationId xmlns:p14="http://schemas.microsoft.com/office/powerpoint/2010/main" val="387516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Conexión a una carpeta con un libro con varias hojas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76EA65-9636-7733-36A2-C447B1C16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04" y="1847850"/>
            <a:ext cx="3422542" cy="3810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438F864-CB52-0C0D-2DFC-BD648399B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588" y="2692290"/>
            <a:ext cx="4266261" cy="19790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204F2BA-F766-6A57-2727-222A70E51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878" y="4762500"/>
            <a:ext cx="5823922" cy="18053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7AB2892-A7D0-93D2-AD84-5BDC1114135B}"/>
              </a:ext>
            </a:extLst>
          </p:cNvPr>
          <p:cNvSpPr/>
          <p:nvPr/>
        </p:nvSpPr>
        <p:spPr>
          <a:xfrm rot="10800000" flipV="1">
            <a:off x="6758603" y="4181820"/>
            <a:ext cx="489922" cy="85380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9244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Conexión a una carpeta con un libro con varias hojas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7F0FF27-AD21-06F2-287D-540AEE666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936217"/>
            <a:ext cx="11364802" cy="72301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1C1AF53-03BC-E97B-E438-ABDF97AE8032}"/>
              </a:ext>
            </a:extLst>
          </p:cNvPr>
          <p:cNvSpPr txBox="1"/>
          <p:nvPr/>
        </p:nvSpPr>
        <p:spPr>
          <a:xfrm>
            <a:off x="342899" y="2396924"/>
            <a:ext cx="4448175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En este caso vamos a pinchar en la palabra “</a:t>
            </a:r>
            <a:r>
              <a:rPr lang="es-ES" sz="1600" dirty="0" err="1">
                <a:solidFill>
                  <a:schemeClr val="bg1"/>
                </a:solidFill>
              </a:rPr>
              <a:t>Binary</a:t>
            </a:r>
            <a:r>
              <a:rPr lang="es-ES" sz="1600" dirty="0">
                <a:solidFill>
                  <a:schemeClr val="bg1"/>
                </a:solidFill>
              </a:rPr>
              <a:t>”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3F3E972-53BB-A1B7-0021-A86178BFB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9" y="2673923"/>
            <a:ext cx="7925906" cy="201005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CDAC2B8-2105-4B6F-664D-22F779EAEFA0}"/>
              </a:ext>
            </a:extLst>
          </p:cNvPr>
          <p:cNvSpPr txBox="1"/>
          <p:nvPr/>
        </p:nvSpPr>
        <p:spPr>
          <a:xfrm>
            <a:off x="4695825" y="4545479"/>
            <a:ext cx="241935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En “</a:t>
            </a:r>
            <a:r>
              <a:rPr lang="es-ES" sz="1600" dirty="0" err="1">
                <a:solidFill>
                  <a:schemeClr val="bg1"/>
                </a:solidFill>
              </a:rPr>
              <a:t>kind</a:t>
            </a:r>
            <a:r>
              <a:rPr lang="es-ES" sz="1600" dirty="0">
                <a:solidFill>
                  <a:schemeClr val="bg1"/>
                </a:solidFill>
              </a:rPr>
              <a:t>” filtramos por  “</a:t>
            </a:r>
            <a:r>
              <a:rPr lang="es-ES" sz="1600" dirty="0" err="1">
                <a:solidFill>
                  <a:schemeClr val="bg1"/>
                </a:solidFill>
              </a:rPr>
              <a:t>Sheet</a:t>
            </a:r>
            <a:r>
              <a:rPr lang="es-ES" sz="1600" dirty="0">
                <a:solidFill>
                  <a:schemeClr val="bg1"/>
                </a:solidFill>
              </a:rPr>
              <a:t>”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B8F010C-29B2-A508-0B58-FF59858A7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986" y="4679945"/>
            <a:ext cx="3562847" cy="114316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85D2FF7-3ABE-C38D-5F98-6FCD9256F51B}"/>
              </a:ext>
            </a:extLst>
          </p:cNvPr>
          <p:cNvSpPr txBox="1"/>
          <p:nvPr/>
        </p:nvSpPr>
        <p:spPr>
          <a:xfrm>
            <a:off x="2874290" y="5293504"/>
            <a:ext cx="3833567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Nos quedamos con estas dos columnas y pinchamos en las “flechitas “ de “Data”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59394F6-76E9-0DDB-9B5C-08565E1BC1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632" y="3843773"/>
            <a:ext cx="3546449" cy="2899462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93265D5B-A66A-AF94-E5BB-EC421FE29F2E}"/>
              </a:ext>
            </a:extLst>
          </p:cNvPr>
          <p:cNvSpPr txBox="1"/>
          <p:nvPr/>
        </p:nvSpPr>
        <p:spPr>
          <a:xfrm>
            <a:off x="5905500" y="6226195"/>
            <a:ext cx="3833567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Ahora quitaremos la primera fila, los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 y promovemos encabezados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590ED99-F236-4770-D8A8-DCDD52B3B2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9067" y="3484125"/>
            <a:ext cx="2308159" cy="32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81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Conexión a una carpeta con un libro con varias hojas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CEF0FD6-A2CB-1344-DE15-2AD42868B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47850"/>
            <a:ext cx="9925050" cy="41621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AF5FB1D-06FD-B474-EC57-57419D943579}"/>
              </a:ext>
            </a:extLst>
          </p:cNvPr>
          <p:cNvSpPr txBox="1"/>
          <p:nvPr/>
        </p:nvSpPr>
        <p:spPr>
          <a:xfrm>
            <a:off x="6438900" y="3097912"/>
            <a:ext cx="2513296" cy="1323439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Podemos ver y consultar todos los pasos que hemos realizado hasta llegar al resultado final</a:t>
            </a:r>
          </a:p>
          <a:p>
            <a:endParaRPr lang="es-E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27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Conector a Texto y CSV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14D97CB-4A45-CBD9-E160-2817BAF8B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437" y="1304377"/>
            <a:ext cx="4566404" cy="3429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E7BAD0E-7968-7E1E-DB85-ED8A77A75327}"/>
              </a:ext>
            </a:extLst>
          </p:cNvPr>
          <p:cNvSpPr txBox="1"/>
          <p:nvPr/>
        </p:nvSpPr>
        <p:spPr>
          <a:xfrm>
            <a:off x="6326842" y="2053485"/>
            <a:ext cx="3810579" cy="1323439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Comprobaremos que efectivamente nuestro fichero está separado por “;”.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Tenemos que conocer muy bien nuestros datos ya que hace un muestreo de las 200 primeras filas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508E455-BBD4-4FFB-EE75-4AA5C6DA3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26" y="1633769"/>
            <a:ext cx="1301320" cy="359046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75DF011-FDF9-FC7C-583C-E9360B1EDD80}"/>
              </a:ext>
            </a:extLst>
          </p:cNvPr>
          <p:cNvSpPr txBox="1"/>
          <p:nvPr/>
        </p:nvSpPr>
        <p:spPr>
          <a:xfrm>
            <a:off x="1846878" y="3290499"/>
            <a:ext cx="2664755" cy="338554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Elegimos este conector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ACA9B8E-150D-A20E-5FA6-40819AA7105F}"/>
              </a:ext>
            </a:extLst>
          </p:cNvPr>
          <p:cNvSpPr/>
          <p:nvPr/>
        </p:nvSpPr>
        <p:spPr>
          <a:xfrm>
            <a:off x="7049386" y="4396933"/>
            <a:ext cx="534105" cy="249495"/>
          </a:xfrm>
          <a:prstGeom prst="rect">
            <a:avLst/>
          </a:prstGeom>
          <a:noFill/>
          <a:ln>
            <a:solidFill>
              <a:srgbClr val="436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AE505B1-1D69-7AFA-1F57-6BCE24A1A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884" y="3725194"/>
            <a:ext cx="4153172" cy="276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125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Conector SharePoint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76731-9820-79AC-8963-2258F235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7543800" cy="514187"/>
          </a:xfrm>
          <a:noFill/>
        </p:spPr>
        <p:txBody>
          <a:bodyPr/>
          <a:lstStyle/>
          <a:p>
            <a:pPr marL="0" indent="0">
              <a:buNone/>
            </a:pPr>
            <a:r>
              <a:rPr lang="es-CO" dirty="0"/>
              <a:t>Listas y </a:t>
            </a:r>
            <a:r>
              <a:rPr lang="es-CO" b="1" dirty="0"/>
              <a:t>Carpetas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15B2AF-E44A-DAB2-FF65-7FBAB39F0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65" y="1741779"/>
            <a:ext cx="4390289" cy="40866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3641F5B-5798-C05C-D5C9-B48C0B73D1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337" t="22232" r="7569" b="23074"/>
          <a:stretch/>
        </p:blipFill>
        <p:spPr>
          <a:xfrm>
            <a:off x="1190624" y="3429000"/>
            <a:ext cx="3554795" cy="1219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DB9CA84-ADCB-772B-F58D-2E3E7C1FA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" y="2957751"/>
            <a:ext cx="6410325" cy="47124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AE99914-952A-D5E6-EC22-2F37716348BB}"/>
              </a:ext>
            </a:extLst>
          </p:cNvPr>
          <p:cNvSpPr txBox="1"/>
          <p:nvPr/>
        </p:nvSpPr>
        <p:spPr>
          <a:xfrm>
            <a:off x="7600950" y="2962752"/>
            <a:ext cx="2513296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Tengo que poner la URL hasta el sitio principal.</a:t>
            </a:r>
          </a:p>
          <a:p>
            <a:r>
              <a:rPr lang="es-ES" sz="1600" dirty="0">
                <a:solidFill>
                  <a:schemeClr val="bg1"/>
                </a:solidFill>
              </a:rPr>
              <a:t>Esta URL es incorrecta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75DF011-FDF9-FC7C-583C-E9360B1EDD80}"/>
              </a:ext>
            </a:extLst>
          </p:cNvPr>
          <p:cNvSpPr txBox="1"/>
          <p:nvPr/>
        </p:nvSpPr>
        <p:spPr>
          <a:xfrm>
            <a:off x="4324265" y="3955645"/>
            <a:ext cx="2513296" cy="338554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Ahora es correcta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0974943-E38E-F4A9-2DF8-16E443671E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122" y="3913145"/>
            <a:ext cx="3029373" cy="36200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707B38C-A31D-EE7F-A035-E232CA983CB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75" t="12861" r="4079" b="5670"/>
          <a:stretch/>
        </p:blipFill>
        <p:spPr>
          <a:xfrm>
            <a:off x="4960955" y="4352926"/>
            <a:ext cx="4621196" cy="16764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E7BAD0E-7968-7E1E-DB85-ED8A77A75327}"/>
              </a:ext>
            </a:extLst>
          </p:cNvPr>
          <p:cNvSpPr txBox="1"/>
          <p:nvPr/>
        </p:nvSpPr>
        <p:spPr>
          <a:xfrm>
            <a:off x="6117751" y="5385837"/>
            <a:ext cx="3464400" cy="338554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Debemos introducir nuestras Claves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ACA9B8E-150D-A20E-5FA6-40819AA7105F}"/>
              </a:ext>
            </a:extLst>
          </p:cNvPr>
          <p:cNvSpPr/>
          <p:nvPr/>
        </p:nvSpPr>
        <p:spPr>
          <a:xfrm>
            <a:off x="2114550" y="2343150"/>
            <a:ext cx="1171575" cy="241547"/>
          </a:xfrm>
          <a:prstGeom prst="rect">
            <a:avLst/>
          </a:prstGeom>
          <a:noFill/>
          <a:ln>
            <a:solidFill>
              <a:srgbClr val="4365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1799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Conector SharePoint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76731-9820-79AC-8963-2258F235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7543800" cy="514187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Listas y </a:t>
            </a:r>
            <a:r>
              <a:rPr lang="es-CO" b="1" dirty="0"/>
              <a:t>Carpetas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E99914-952A-D5E6-EC22-2F37716348BB}"/>
              </a:ext>
            </a:extLst>
          </p:cNvPr>
          <p:cNvSpPr txBox="1"/>
          <p:nvPr/>
        </p:nvSpPr>
        <p:spPr>
          <a:xfrm>
            <a:off x="746156" y="1775905"/>
            <a:ext cx="396003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Me muestra los documentos que se encuentran dentro de mi sitio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E7BAD0E-7968-7E1E-DB85-ED8A77A75327}"/>
              </a:ext>
            </a:extLst>
          </p:cNvPr>
          <p:cNvSpPr txBox="1"/>
          <p:nvPr/>
        </p:nvSpPr>
        <p:spPr>
          <a:xfrm>
            <a:off x="4839352" y="4432799"/>
            <a:ext cx="2513295" cy="1569660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En “</a:t>
            </a:r>
            <a:r>
              <a:rPr lang="es-ES" sz="1600" dirty="0" err="1">
                <a:solidFill>
                  <a:schemeClr val="bg1"/>
                </a:solidFill>
              </a:rPr>
              <a:t>kind</a:t>
            </a:r>
            <a:r>
              <a:rPr lang="es-ES" sz="1600" dirty="0">
                <a:solidFill>
                  <a:schemeClr val="bg1"/>
                </a:solidFill>
              </a:rPr>
              <a:t>” filtramos por  Table.</a:t>
            </a:r>
          </a:p>
          <a:p>
            <a:r>
              <a:rPr lang="es-ES" sz="1600" dirty="0">
                <a:solidFill>
                  <a:schemeClr val="bg1"/>
                </a:solidFill>
              </a:rPr>
              <a:t>Nos quedamos solo con “Data” y expandimos pinchando en las “flechitas”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ADA63B-538C-CCC6-DE66-8F4169548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14" y="2409330"/>
            <a:ext cx="3960032" cy="299909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EF840FD-B32A-4972-CC02-ABB0AF2CC9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35" t="6840" r="4424" b="21816"/>
          <a:stretch/>
        </p:blipFill>
        <p:spPr>
          <a:xfrm>
            <a:off x="1533917" y="3751716"/>
            <a:ext cx="5612926" cy="52392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75DF011-FDF9-FC7C-583C-E9360B1EDD80}"/>
              </a:ext>
            </a:extLst>
          </p:cNvPr>
          <p:cNvSpPr txBox="1"/>
          <p:nvPr/>
        </p:nvSpPr>
        <p:spPr>
          <a:xfrm>
            <a:off x="4959951" y="1768530"/>
            <a:ext cx="6393849" cy="1815882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1ºPulsamos en Transformar datos.</a:t>
            </a:r>
          </a:p>
          <a:p>
            <a:endParaRPr lang="es-ES" sz="1600" dirty="0">
              <a:solidFill>
                <a:schemeClr val="bg1"/>
              </a:solidFill>
            </a:endParaRPr>
          </a:p>
          <a:p>
            <a:r>
              <a:rPr lang="es-ES" sz="1600" dirty="0">
                <a:solidFill>
                  <a:schemeClr val="bg1"/>
                </a:solidFill>
              </a:rPr>
              <a:t>2ºEn la columna “</a:t>
            </a:r>
            <a:r>
              <a:rPr lang="es-ES" sz="1600" dirty="0" err="1">
                <a:solidFill>
                  <a:schemeClr val="bg1"/>
                </a:solidFill>
              </a:rPr>
              <a:t>Name</a:t>
            </a:r>
            <a:r>
              <a:rPr lang="es-ES" sz="1600" dirty="0">
                <a:solidFill>
                  <a:schemeClr val="bg1"/>
                </a:solidFill>
              </a:rPr>
              <a:t>” filtramos por el documento que necesitamos.</a:t>
            </a:r>
          </a:p>
          <a:p>
            <a:endParaRPr lang="es-ES" sz="1600" dirty="0">
              <a:solidFill>
                <a:schemeClr val="bg1"/>
              </a:solidFill>
            </a:endParaRPr>
          </a:p>
          <a:p>
            <a:r>
              <a:rPr lang="es-ES" sz="1600" dirty="0">
                <a:solidFill>
                  <a:schemeClr val="bg1"/>
                </a:solidFill>
              </a:rPr>
              <a:t>3º Nos quedamos solo  con la columna “Content” y pinchamos en la palabra “</a:t>
            </a:r>
            <a:r>
              <a:rPr lang="es-ES" sz="1600" dirty="0" err="1">
                <a:solidFill>
                  <a:schemeClr val="bg1"/>
                </a:solidFill>
              </a:rPr>
              <a:t>Binary</a:t>
            </a:r>
            <a:r>
              <a:rPr lang="es-ES" sz="1600" dirty="0">
                <a:solidFill>
                  <a:schemeClr val="bg1"/>
                </a:solidFill>
              </a:rPr>
              <a:t>”</a:t>
            </a:r>
            <a:br>
              <a:rPr lang="es-ES" sz="1600" dirty="0">
                <a:solidFill>
                  <a:schemeClr val="bg1"/>
                </a:solidFill>
              </a:rPr>
            </a:br>
            <a:endParaRPr lang="es-ES" sz="1600" dirty="0">
              <a:solidFill>
                <a:schemeClr val="bg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7CA184C-0D04-947E-6A9B-1260117B8A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540" t="2402"/>
          <a:stretch/>
        </p:blipFill>
        <p:spPr>
          <a:xfrm>
            <a:off x="7352648" y="3238500"/>
            <a:ext cx="2600586" cy="31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151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Conector SharePoint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76731-9820-79AC-8963-2258F235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7543800" cy="514187"/>
          </a:xfrm>
        </p:spPr>
        <p:txBody>
          <a:bodyPr/>
          <a:lstStyle/>
          <a:p>
            <a:pPr marL="0" indent="0">
              <a:buNone/>
            </a:pPr>
            <a:r>
              <a:rPr lang="es-CO" b="1" dirty="0"/>
              <a:t>Listas </a:t>
            </a:r>
            <a:r>
              <a:rPr lang="es-CO" dirty="0"/>
              <a:t>y Carpetas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4ED11C-3494-469B-9DF4-954D5F872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41" y="1942919"/>
            <a:ext cx="3521947" cy="348138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AE99914-952A-D5E6-EC22-2F37716348BB}"/>
              </a:ext>
            </a:extLst>
          </p:cNvPr>
          <p:cNvSpPr txBox="1"/>
          <p:nvPr/>
        </p:nvSpPr>
        <p:spPr>
          <a:xfrm>
            <a:off x="2498814" y="2197561"/>
            <a:ext cx="2513296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Nos muestra todas las listas que tenemos y elegimos la buscada.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04E4FB8-0EB2-6A26-FA1C-B42A55A2F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110" y="2659226"/>
            <a:ext cx="4988143" cy="1819509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E7BAD0E-7968-7E1E-DB85-ED8A77A75327}"/>
              </a:ext>
            </a:extLst>
          </p:cNvPr>
          <p:cNvSpPr txBox="1"/>
          <p:nvPr/>
        </p:nvSpPr>
        <p:spPr>
          <a:xfrm>
            <a:off x="6249533" y="4123509"/>
            <a:ext cx="2513296" cy="1323439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Ahora solo tendríamos que limpiar los datos, eliminar columnas que no nos aportan valor analítico….</a:t>
            </a:r>
          </a:p>
        </p:txBody>
      </p:sp>
    </p:spTree>
    <p:extLst>
      <p:ext uri="{BB962C8B-B14F-4D97-AF65-F5344CB8AC3E}">
        <p14:creationId xmlns:p14="http://schemas.microsoft.com/office/powerpoint/2010/main" val="443060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FA4F691-DC6C-DB90-ADF1-B2F53CFD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81" y="2449107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Conexión OneDrive</a:t>
            </a:r>
          </a:p>
        </p:txBody>
      </p:sp>
    </p:spTree>
    <p:extLst>
      <p:ext uri="{BB962C8B-B14F-4D97-AF65-F5344CB8AC3E}">
        <p14:creationId xmlns:p14="http://schemas.microsoft.com/office/powerpoint/2010/main" val="2512655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Conector OneDrive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76731-9820-79AC-8963-2258F235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7543800" cy="514187"/>
          </a:xfrm>
        </p:spPr>
        <p:txBody>
          <a:bodyPr/>
          <a:lstStyle/>
          <a:p>
            <a:pPr marL="0" indent="0">
              <a:buNone/>
            </a:pPr>
            <a:r>
              <a:rPr lang="es-CO" b="1" dirty="0"/>
              <a:t>No hay conector nativo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E99914-952A-D5E6-EC22-2F37716348BB}"/>
              </a:ext>
            </a:extLst>
          </p:cNvPr>
          <p:cNvSpPr txBox="1"/>
          <p:nvPr/>
        </p:nvSpPr>
        <p:spPr>
          <a:xfrm>
            <a:off x="5910759" y="1795923"/>
            <a:ext cx="3628352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Partimos de un formulario de una encuesta y  vemos las respuestas en formato Excel.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C28A99A-6476-BB43-5E5D-5AFA297AB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3" y="1869201"/>
            <a:ext cx="4992703" cy="32743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71DF722-A7EB-4B8B-AC52-F46B33E08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350" y="2757103"/>
            <a:ext cx="4721551" cy="3002674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E7BAD0E-7968-7E1E-DB85-ED8A77A75327}"/>
              </a:ext>
            </a:extLst>
          </p:cNvPr>
          <p:cNvSpPr txBox="1"/>
          <p:nvPr/>
        </p:nvSpPr>
        <p:spPr>
          <a:xfrm>
            <a:off x="8170253" y="3506351"/>
            <a:ext cx="3628352" cy="1077218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Obtenemos una URL que vamos a copiar .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Como no hay un conector nativo nos vamos a conectar a una WEB</a:t>
            </a:r>
          </a:p>
        </p:txBody>
      </p:sp>
    </p:spTree>
    <p:extLst>
      <p:ext uri="{BB962C8B-B14F-4D97-AF65-F5344CB8AC3E}">
        <p14:creationId xmlns:p14="http://schemas.microsoft.com/office/powerpoint/2010/main" val="1993092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1509F-9737-29DC-E618-19794C41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Conector OneDrive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76731-9820-79AC-8963-2258F235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7543800" cy="514187"/>
          </a:xfrm>
        </p:spPr>
        <p:txBody>
          <a:bodyPr/>
          <a:lstStyle/>
          <a:p>
            <a:pPr marL="0" indent="0">
              <a:buNone/>
            </a:pPr>
            <a:r>
              <a:rPr lang="es-CO" b="1" dirty="0"/>
              <a:t>No hay conector nativo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E99914-952A-D5E6-EC22-2F37716348BB}"/>
              </a:ext>
            </a:extLst>
          </p:cNvPr>
          <p:cNvSpPr txBox="1"/>
          <p:nvPr/>
        </p:nvSpPr>
        <p:spPr>
          <a:xfrm>
            <a:off x="5910759" y="1795923"/>
            <a:ext cx="2513296" cy="1077218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Partimos de un formulario de una encuesta y  vemos las respuestas en formato Excel.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E7BAD0E-7968-7E1E-DB85-ED8A77A75327}"/>
              </a:ext>
            </a:extLst>
          </p:cNvPr>
          <p:cNvSpPr txBox="1"/>
          <p:nvPr/>
        </p:nvSpPr>
        <p:spPr>
          <a:xfrm>
            <a:off x="1080633" y="4170954"/>
            <a:ext cx="2513296" cy="1323439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Obtenemos una URL que vamos a copiar .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Como no hay un conector nativo nos vamos a conectar a una WEB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A1B3A-4EFB-5000-9361-D380F7858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80" y="2547489"/>
            <a:ext cx="4262970" cy="15859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CAF8F4-FF08-6827-644C-56436B3AD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3" y="2032962"/>
            <a:ext cx="3012241" cy="125252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E2B740-B644-8EEC-6721-E10706BB2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904" y="2659226"/>
            <a:ext cx="5512401" cy="415394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4D64DAF-DD64-3982-70B8-3C0A3023A36A}"/>
              </a:ext>
            </a:extLst>
          </p:cNvPr>
          <p:cNvSpPr txBox="1"/>
          <p:nvPr/>
        </p:nvSpPr>
        <p:spPr>
          <a:xfrm>
            <a:off x="5633583" y="5108838"/>
            <a:ext cx="2513296" cy="830997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Transformamos los datos y hacemos nuestras composiciones</a:t>
            </a:r>
          </a:p>
        </p:txBody>
      </p:sp>
    </p:spTree>
    <p:extLst>
      <p:ext uri="{BB962C8B-B14F-4D97-AF65-F5344CB8AC3E}">
        <p14:creationId xmlns:p14="http://schemas.microsoft.com/office/powerpoint/2010/main" val="4286127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715B4-DDA0-ED00-C2F9-1FAA70737C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Modelo de datos </a:t>
            </a:r>
          </a:p>
        </p:txBody>
      </p:sp>
    </p:spTree>
    <p:extLst>
      <p:ext uri="{BB962C8B-B14F-4D97-AF65-F5344CB8AC3E}">
        <p14:creationId xmlns:p14="http://schemas.microsoft.com/office/powerpoint/2010/main" val="3428562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91900-49BB-84DD-C424-83FFA8DC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de datos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20B9F24-BFDC-B346-C968-55CFECBC5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8071" y="1873109"/>
            <a:ext cx="5656308" cy="3730511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CDE5BE7-7F2A-9D0D-2D7C-E48B34412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873109"/>
            <a:ext cx="5288800" cy="373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67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91900-49BB-84DD-C424-83FFA8DC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Modelado de datos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45CBAA-8C02-9790-3586-F73D00E03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Pasos clave: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Cargar tabla de datos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Relacionar tabla de datos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Transformar </a:t>
            </a:r>
            <a:r>
              <a:rPr lang="es-ES"/>
              <a:t>los datos  (DAX)</a:t>
            </a:r>
          </a:p>
          <a:p>
            <a:pPr marL="914400" lvl="1" indent="-457200">
              <a:buFont typeface="+mj-lt"/>
              <a:buAutoNum type="arabicPeriod"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7647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5D701-E056-B7BB-7841-29D6F956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30DF74-9819-5537-2296-B1C83BF01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504"/>
            <a:ext cx="10515600" cy="4351338"/>
          </a:xfrm>
        </p:spPr>
        <p:txBody>
          <a:bodyPr/>
          <a:lstStyle/>
          <a:p>
            <a:r>
              <a:rPr lang="es-ES" sz="1800" b="1" i="0" u="none" strike="noStrike" baseline="0" dirty="0">
                <a:latin typeface="Arial" panose="020B0604020202020204" pitchFamily="34" charset="0"/>
              </a:rPr>
              <a:t>Vista Modelo: </a:t>
            </a:r>
            <a:endParaRPr lang="es-ES" sz="1800" b="0" i="0" u="none" strike="noStrike" baseline="0" dirty="0">
              <a:latin typeface="Arial" panose="020B0604020202020204" pitchFamily="34" charset="0"/>
            </a:endParaRPr>
          </a:p>
          <a:p>
            <a:r>
              <a:rPr lang="es-ES" sz="1800" b="0" i="0" u="none" strike="noStrike" baseline="0" dirty="0">
                <a:latin typeface="Arial" panose="020B0604020202020204" pitchFamily="34" charset="0"/>
              </a:rPr>
              <a:t>1.Opciones de visualización de la vista modelo.</a:t>
            </a:r>
          </a:p>
          <a:p>
            <a:endParaRPr lang="es-ES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s-ES" sz="1800" b="0" i="0" u="none" strike="noStrike" baseline="0" dirty="0">
              <a:solidFill>
                <a:srgbClr val="00475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solidFill>
                <a:srgbClr val="00475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s-ES" sz="1800" b="0" i="0" u="none" strike="noStrike" baseline="0" dirty="0">
              <a:solidFill>
                <a:srgbClr val="00475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s-ES" sz="1800" b="0" i="0" u="none" strike="noStrike" baseline="0" dirty="0">
              <a:solidFill>
                <a:srgbClr val="004751"/>
              </a:solidFill>
              <a:latin typeface="Arial" panose="020B0604020202020204" pitchFamily="34" charset="0"/>
            </a:endParaRPr>
          </a:p>
          <a:p>
            <a:r>
              <a:rPr lang="es-ES" sz="1800" b="0" i="0" u="none" strike="noStrike" baseline="0" dirty="0">
                <a:latin typeface="Arial" panose="020B0604020202020204" pitchFamily="34" charset="0"/>
              </a:rPr>
              <a:t>2.Opciones de configuración de las relaciones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BBCC9B7-DF76-B0AD-961F-CF8B94156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673" y="1472698"/>
            <a:ext cx="638255" cy="173254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5E0B2D-71F4-9192-80B5-35AB66EA6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854" y="4309434"/>
            <a:ext cx="6152147" cy="233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74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F0D7-3851-A12C-EE13-F224C5AA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4AA2D-FB33-A3DB-7B10-0A3D668C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MODELAR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55FDAB-F7A8-A312-3083-D172BD23F27B}"/>
              </a:ext>
            </a:extLst>
          </p:cNvPr>
          <p:cNvSpPr txBox="1"/>
          <p:nvPr/>
        </p:nvSpPr>
        <p:spPr>
          <a:xfrm>
            <a:off x="717884" y="1480677"/>
            <a:ext cx="102584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Modelos dimensionales -&gt;</a:t>
            </a:r>
            <a:endParaRPr lang="es-E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Se basan en </a:t>
            </a:r>
            <a:r>
              <a:rPr lang="es-ES" b="1" dirty="0"/>
              <a:t>tablas de hechos</a:t>
            </a:r>
            <a:r>
              <a:rPr lang="es-ES" dirty="0"/>
              <a:t> y </a:t>
            </a:r>
            <a:r>
              <a:rPr lang="es-ES" b="1" dirty="0"/>
              <a:t>tablas de dimensiones</a:t>
            </a:r>
            <a:r>
              <a:rPr lang="es-E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Suelen tener </a:t>
            </a:r>
            <a:r>
              <a:rPr lang="es-ES" b="1" dirty="0"/>
              <a:t>pocas tablas y pocas relaciones</a:t>
            </a:r>
            <a:r>
              <a:rPr lang="es-ES" dirty="0"/>
              <a:t>, claras y bien definidas.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Están diseñados para </a:t>
            </a:r>
            <a:r>
              <a:rPr lang="es-ES" b="1" dirty="0"/>
              <a:t>análisis, </a:t>
            </a:r>
            <a:r>
              <a:rPr lang="es-ES" b="1" dirty="0" err="1"/>
              <a:t>KPIs</a:t>
            </a:r>
            <a:r>
              <a:rPr lang="es-ES" b="1" dirty="0"/>
              <a:t> y cuadros de mando</a:t>
            </a:r>
            <a:r>
              <a:rPr lang="es-E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Ofrecen </a:t>
            </a:r>
            <a:r>
              <a:rPr lang="es-ES" b="1" dirty="0"/>
              <a:t>mejor rendimiento</a:t>
            </a:r>
            <a:r>
              <a:rPr lang="es-ES" dirty="0"/>
              <a:t>, claridad y facilidad de uso en </a:t>
            </a:r>
            <a:r>
              <a:rPr lang="es-ES" dirty="0" err="1"/>
              <a:t>Power</a:t>
            </a:r>
            <a:r>
              <a:rPr lang="es-ES" dirty="0"/>
              <a:t> BI.</a:t>
            </a:r>
            <a:r>
              <a:rPr lang="es-ES" b="1" dirty="0"/>
              <a:t>	</a:t>
            </a:r>
          </a:p>
          <a:p>
            <a:endParaRPr lang="es-E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305828-548D-9B87-96B5-9211E2686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377" y="3630553"/>
            <a:ext cx="3836034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0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95FE-B778-BE11-A24D-425CA908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F13C0-D99E-A84E-0A15-FDC81BA8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816523-C6CF-738C-36B7-9934BBA9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8566916" cy="514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Tabla de hechos y tabla de dimensiones</a:t>
            </a:r>
            <a:endParaRPr lang="es-CO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A6EA38B-9310-4E1F-7C05-9E7542E93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246685"/>
              </p:ext>
            </p:extLst>
          </p:nvPr>
        </p:nvGraphicFramePr>
        <p:xfrm>
          <a:off x="1460499" y="1847850"/>
          <a:ext cx="9807576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3788">
                  <a:extLst>
                    <a:ext uri="{9D8B030D-6E8A-4147-A177-3AD203B41FA5}">
                      <a16:colId xmlns:a16="http://schemas.microsoft.com/office/drawing/2014/main" val="2709750878"/>
                    </a:ext>
                  </a:extLst>
                </a:gridCol>
                <a:gridCol w="4903788">
                  <a:extLst>
                    <a:ext uri="{9D8B030D-6E8A-4147-A177-3AD203B41FA5}">
                      <a16:colId xmlns:a16="http://schemas.microsoft.com/office/drawing/2014/main" val="22223719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Tabla de hechos (Eventos)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Tabla de Dimensiones (Segmentar)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020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Almacena los hechos o muestras que ocurren en el tiempo: ventas, compras..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Define las entidades que filtran los hechos: fechas, productos, lugares, personas</a:t>
                      </a:r>
                    </a:p>
                    <a:p>
                      <a:pPr algn="ctr"/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142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Almacena valores numéricos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Fechas asociadas al hecho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Ningún atributo descriptivo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Tienen una columna de clave única para cada registro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Resto de columnas son descriptivas (atributos)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226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Pueden contener gran cantidad de filas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Suelen tener un número pequeño de filas (comparado con la tabla de hechos)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Sirven para agrupar y filtrar los hechos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400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3693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1FB4A-11E0-08CF-FFB4-5DC9C49F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DEFE2-044A-B6FB-D6C7-51336B46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MODELAR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ECC593-9E66-9654-4C62-8B2CD83C5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668" y="2137531"/>
            <a:ext cx="4915648" cy="366789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0535F93-5928-96A8-4907-5278A6D5510D}"/>
              </a:ext>
            </a:extLst>
          </p:cNvPr>
          <p:cNvSpPr txBox="1"/>
          <p:nvPr/>
        </p:nvSpPr>
        <p:spPr>
          <a:xfrm>
            <a:off x="387303" y="1690688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es-ES" b="1" dirty="0"/>
              <a:t>ESTRELLA: (EFICIENTE PARA ANALISIS)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8A50BDD-1A73-3F15-85DF-D5C55DBDEA12}"/>
              </a:ext>
            </a:extLst>
          </p:cNvPr>
          <p:cNvSpPr/>
          <p:nvPr/>
        </p:nvSpPr>
        <p:spPr>
          <a:xfrm>
            <a:off x="8662737" y="986589"/>
            <a:ext cx="1507958" cy="89033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>
                <a:ln>
                  <a:solidFill>
                    <a:schemeClr val="tx1"/>
                  </a:solidFill>
                </a:ln>
              </a:rPr>
              <a:t>Dim</a:t>
            </a:r>
            <a:r>
              <a:rPr lang="es-ES" dirty="0">
                <a:ln>
                  <a:solidFill>
                    <a:schemeClr val="tx1"/>
                  </a:solidFill>
                </a:ln>
              </a:rPr>
              <a:t> Calendario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8D49C8E-4059-2B77-197F-5ED4A344BF79}"/>
              </a:ext>
            </a:extLst>
          </p:cNvPr>
          <p:cNvSpPr/>
          <p:nvPr/>
        </p:nvSpPr>
        <p:spPr>
          <a:xfrm>
            <a:off x="6689557" y="2137531"/>
            <a:ext cx="1515979" cy="100672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>
                <a:ln>
                  <a:solidFill>
                    <a:schemeClr val="tx1"/>
                  </a:solidFill>
                </a:ln>
              </a:rPr>
              <a:t>Dim</a:t>
            </a:r>
            <a:endParaRPr lang="es-ES" dirty="0">
              <a:ln>
                <a:solidFill>
                  <a:schemeClr val="tx1"/>
                </a:solidFill>
              </a:ln>
            </a:endParaRPr>
          </a:p>
          <a:p>
            <a:pPr algn="ctr"/>
            <a:r>
              <a:rPr lang="es-ES" dirty="0">
                <a:ln>
                  <a:solidFill>
                    <a:schemeClr val="tx1"/>
                  </a:solidFill>
                </a:ln>
              </a:rPr>
              <a:t>Tiendas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EC8AB1-7EC0-C3D8-E19A-FF6DB3DAEC0D}"/>
              </a:ext>
            </a:extLst>
          </p:cNvPr>
          <p:cNvSpPr/>
          <p:nvPr/>
        </p:nvSpPr>
        <p:spPr>
          <a:xfrm>
            <a:off x="6611778" y="4070605"/>
            <a:ext cx="1515979" cy="100672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>
                <a:ln>
                  <a:solidFill>
                    <a:schemeClr val="tx1"/>
                  </a:solidFill>
                </a:ln>
              </a:rPr>
              <a:t>Dim</a:t>
            </a:r>
            <a:endParaRPr lang="es-ES" dirty="0">
              <a:ln>
                <a:solidFill>
                  <a:schemeClr val="tx1"/>
                </a:solidFill>
              </a:ln>
            </a:endParaRPr>
          </a:p>
          <a:p>
            <a:pPr algn="ctr"/>
            <a:r>
              <a:rPr lang="es-ES" dirty="0">
                <a:ln>
                  <a:solidFill>
                    <a:schemeClr val="tx1"/>
                  </a:solidFill>
                </a:ln>
              </a:rPr>
              <a:t>Vendedores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09F85B-C27F-4816-55E8-58F851A0B6D0}"/>
              </a:ext>
            </a:extLst>
          </p:cNvPr>
          <p:cNvSpPr/>
          <p:nvPr/>
        </p:nvSpPr>
        <p:spPr>
          <a:xfrm>
            <a:off x="10258925" y="2232906"/>
            <a:ext cx="1515979" cy="100672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>
                <a:ln>
                  <a:solidFill>
                    <a:schemeClr val="tx1"/>
                  </a:solidFill>
                </a:ln>
              </a:rPr>
              <a:t>Dim</a:t>
            </a:r>
            <a:endParaRPr lang="es-ES" dirty="0">
              <a:ln>
                <a:solidFill>
                  <a:schemeClr val="tx1"/>
                </a:solidFill>
              </a:ln>
            </a:endParaRPr>
          </a:p>
          <a:p>
            <a:pPr algn="ctr"/>
            <a:r>
              <a:rPr lang="es-ES" dirty="0">
                <a:ln>
                  <a:solidFill>
                    <a:schemeClr val="tx1"/>
                  </a:solidFill>
                </a:ln>
              </a:rPr>
              <a:t>Clientes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05FD30-2F0F-722C-FE8F-6F6557206886}"/>
              </a:ext>
            </a:extLst>
          </p:cNvPr>
          <p:cNvSpPr/>
          <p:nvPr/>
        </p:nvSpPr>
        <p:spPr>
          <a:xfrm>
            <a:off x="10387262" y="4070605"/>
            <a:ext cx="1515979" cy="100672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>
                <a:ln>
                  <a:solidFill>
                    <a:schemeClr val="tx1"/>
                  </a:solidFill>
                </a:ln>
              </a:rPr>
              <a:t>Dim</a:t>
            </a:r>
            <a:endParaRPr lang="es-ES" dirty="0">
              <a:ln>
                <a:solidFill>
                  <a:schemeClr val="tx1"/>
                </a:solidFill>
              </a:ln>
            </a:endParaRPr>
          </a:p>
          <a:p>
            <a:pPr algn="ctr"/>
            <a:r>
              <a:rPr lang="es-ES" dirty="0">
                <a:ln>
                  <a:solidFill>
                    <a:schemeClr val="tx1"/>
                  </a:solidFill>
                </a:ln>
              </a:rPr>
              <a:t>Productos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5870B61-5503-98D4-8BD3-FD98D6932FCF}"/>
              </a:ext>
            </a:extLst>
          </p:cNvPr>
          <p:cNvSpPr/>
          <p:nvPr/>
        </p:nvSpPr>
        <p:spPr>
          <a:xfrm>
            <a:off x="8526378" y="2925639"/>
            <a:ext cx="1515979" cy="100672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>
                <a:ln>
                  <a:solidFill>
                    <a:schemeClr val="tx1"/>
                  </a:solidFill>
                </a:ln>
              </a:rPr>
              <a:t>Fact</a:t>
            </a:r>
            <a:endParaRPr lang="es-ES" dirty="0">
              <a:ln>
                <a:solidFill>
                  <a:schemeClr val="tx1"/>
                </a:solidFill>
              </a:ln>
            </a:endParaRPr>
          </a:p>
          <a:p>
            <a:pPr algn="ctr"/>
            <a:r>
              <a:rPr lang="es-ES" dirty="0">
                <a:ln>
                  <a:solidFill>
                    <a:schemeClr val="tx1"/>
                  </a:solidFill>
                </a:ln>
              </a:rPr>
              <a:t>Ventas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A3EA752-2682-DBD5-5C29-08CCF454C677}"/>
              </a:ext>
            </a:extLst>
          </p:cNvPr>
          <p:cNvCxnSpPr>
            <a:stCxn id="3" idx="2"/>
          </p:cNvCxnSpPr>
          <p:nvPr/>
        </p:nvCxnSpPr>
        <p:spPr>
          <a:xfrm>
            <a:off x="9416716" y="1876926"/>
            <a:ext cx="0" cy="104871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0D7EA076-377C-B4A8-513B-263612EA32F6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7786436" y="2805363"/>
            <a:ext cx="401052" cy="10788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A146FE2F-083A-EF56-D869-224A24CCBF38}"/>
              </a:ext>
            </a:extLst>
          </p:cNvPr>
          <p:cNvCxnSpPr>
            <a:stCxn id="7" idx="3"/>
            <a:endCxn id="12" idx="2"/>
          </p:cNvCxnSpPr>
          <p:nvPr/>
        </p:nvCxnSpPr>
        <p:spPr>
          <a:xfrm flipV="1">
            <a:off x="8127757" y="3932361"/>
            <a:ext cx="1156611" cy="6416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C68B75A0-EF55-DA70-B13D-DFE72D467200}"/>
              </a:ext>
            </a:extLst>
          </p:cNvPr>
          <p:cNvCxnSpPr>
            <a:stCxn id="8" idx="2"/>
          </p:cNvCxnSpPr>
          <p:nvPr/>
        </p:nvCxnSpPr>
        <p:spPr>
          <a:xfrm rot="5400000">
            <a:off x="10348724" y="2933261"/>
            <a:ext cx="361825" cy="9745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32238980-D6BB-5DAD-E5AA-45D62A069200}"/>
              </a:ext>
            </a:extLst>
          </p:cNvPr>
          <p:cNvCxnSpPr>
            <a:stCxn id="11" idx="1"/>
          </p:cNvCxnSpPr>
          <p:nvPr/>
        </p:nvCxnSpPr>
        <p:spPr>
          <a:xfrm rot="10800000">
            <a:off x="9825790" y="3932362"/>
            <a:ext cx="561473" cy="6416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05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8108-02C8-6BF2-43E3-0F9B39FC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CA119-8556-266B-37BF-712EAC91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MODELAR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DD5BEF-2DF6-7B78-B756-6CCD889222AE}"/>
              </a:ext>
            </a:extLst>
          </p:cNvPr>
          <p:cNvSpPr txBox="1"/>
          <p:nvPr/>
        </p:nvSpPr>
        <p:spPr>
          <a:xfrm>
            <a:off x="300790" y="1690688"/>
            <a:ext cx="11053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s-ES" dirty="0"/>
              <a:t>Tiene </a:t>
            </a:r>
            <a:r>
              <a:rPr lang="es-ES" b="1" dirty="0"/>
              <a:t>pocas tablas y relaciones directas</a:t>
            </a:r>
            <a:r>
              <a:rPr lang="es-ES" dirty="0"/>
              <a:t> con la tabla de hechos.</a:t>
            </a:r>
            <a:r>
              <a:rPr lang="es-ES" b="1" dirty="0"/>
              <a:t>	</a:t>
            </a:r>
          </a:p>
          <a:p>
            <a:pPr marL="1200150" lvl="2" indent="-285750">
              <a:buFontTx/>
              <a:buChar char="-"/>
            </a:pPr>
            <a:r>
              <a:rPr lang="es-ES" b="1" dirty="0"/>
              <a:t>Mejor rendimiento</a:t>
            </a:r>
            <a:r>
              <a:rPr lang="es-ES" dirty="0"/>
              <a:t>: menos relaciones → menos cruces al calcular medidas.</a:t>
            </a:r>
          </a:p>
          <a:p>
            <a:pPr marL="1200150" lvl="2" indent="-285750">
              <a:buFontTx/>
              <a:buChar char="-"/>
            </a:pPr>
            <a:r>
              <a:rPr lang="es-ES" b="1" dirty="0"/>
              <a:t>Mejor experiencia para el usuario</a:t>
            </a:r>
            <a:r>
              <a:rPr lang="es-ES" dirty="0"/>
              <a:t>: campos claros, jerarquías sencillas y modelos fáciles de entender.</a:t>
            </a:r>
            <a:endParaRPr lang="es-ES" b="1" dirty="0"/>
          </a:p>
          <a:p>
            <a:endParaRPr lang="es-ES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EA7F6F-95E2-9A28-D777-69BE4352A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075" y="3164912"/>
            <a:ext cx="4460079" cy="332796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7FA21E7-E27B-7718-329A-56F6E3D0D6D8}"/>
              </a:ext>
            </a:extLst>
          </p:cNvPr>
          <p:cNvSpPr txBox="1"/>
          <p:nvPr/>
        </p:nvSpPr>
        <p:spPr>
          <a:xfrm>
            <a:off x="196016" y="1321356"/>
            <a:ext cx="79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es-ES" b="1" dirty="0"/>
              <a:t>Modelo en ESTRELLA: (EFICIENTE PARA ANALISIS)</a:t>
            </a:r>
          </a:p>
        </p:txBody>
      </p:sp>
    </p:spTree>
    <p:extLst>
      <p:ext uri="{BB962C8B-B14F-4D97-AF65-F5344CB8AC3E}">
        <p14:creationId xmlns:p14="http://schemas.microsoft.com/office/powerpoint/2010/main" val="292665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C4A6E-A592-9160-A3E1-FB59B492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C9C6E-EBFB-BBCB-A69D-C3E015DF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Relaciones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66A724-3874-D4E6-3C9F-E74341693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333663"/>
            <a:ext cx="8566916" cy="514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Cardinalidad</a:t>
            </a:r>
            <a:endParaRPr lang="es-CO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AED4492-1BBA-67F5-F5B3-6B309370D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999" y="1847850"/>
            <a:ext cx="3291265" cy="367626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7820D78-153A-77BF-023B-544B30F7D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012" y="1847850"/>
            <a:ext cx="3532829" cy="39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633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8A89-93A7-709D-2513-E9D1B2B3D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B94AC-3E95-2F11-9F08-FFB1536A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MODELAR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E21DCE2-B7B6-3D8E-A745-19936975B687}"/>
              </a:ext>
            </a:extLst>
          </p:cNvPr>
          <p:cNvSpPr txBox="1"/>
          <p:nvPr/>
        </p:nvSpPr>
        <p:spPr>
          <a:xfrm>
            <a:off x="782052" y="1614001"/>
            <a:ext cx="102584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Modelos planos</a:t>
            </a:r>
          </a:p>
          <a:p>
            <a:endParaRPr lang="es-E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Toda la información se concentra en </a:t>
            </a:r>
            <a:r>
              <a:rPr lang="es-ES" b="1" dirty="0"/>
              <a:t>una única tabla</a:t>
            </a:r>
            <a:r>
              <a:rPr lang="es-ES" dirty="0"/>
              <a:t> (“tabla sábana”).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Cada registro contiene todos los campos, lo que genera </a:t>
            </a:r>
            <a:r>
              <a:rPr lang="es-ES" b="1" dirty="0"/>
              <a:t>mucha información duplicada</a:t>
            </a:r>
            <a:r>
              <a:rPr lang="es-E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Son </a:t>
            </a:r>
            <a:r>
              <a:rPr lang="es-ES" b="1" dirty="0"/>
              <a:t>poco eficientes</a:t>
            </a:r>
            <a:r>
              <a:rPr lang="es-ES" dirty="0"/>
              <a:t> y difíciles de mantener.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/>
              <a:t>No son recomendables</a:t>
            </a:r>
            <a:r>
              <a:rPr lang="es-ES" dirty="0"/>
              <a:t> para informes de inteligencia de negocio. </a:t>
            </a:r>
          </a:p>
          <a:p>
            <a:endParaRPr lang="es-ES" b="1" dirty="0"/>
          </a:p>
          <a:p>
            <a:r>
              <a:rPr lang="es-ES" b="1" dirty="0"/>
              <a:t>	</a:t>
            </a:r>
          </a:p>
          <a:p>
            <a:endParaRPr lang="es-ES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D6A9EF-6186-22E6-FB14-3523A92EA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43" y="4235477"/>
            <a:ext cx="11442685" cy="11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7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ULO 0 · Introducción a Power BI.pptx" id="{65BD4C35-1C06-4272-99E2-96EB760F5024}" vid="{974E947F-1462-4E1E-A299-BBE6A57F8E9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LANBIDE</Template>
  <TotalTime>4055</TotalTime>
  <Words>1947</Words>
  <Application>Microsoft Office PowerPoint</Application>
  <PresentationFormat>Widescreen</PresentationFormat>
  <Paragraphs>256</Paragraphs>
  <Slides>50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Aptos</vt:lpstr>
      <vt:lpstr>Arial</vt:lpstr>
      <vt:lpstr>Calibri</vt:lpstr>
      <vt:lpstr>Segoe Fluent Icons</vt:lpstr>
      <vt:lpstr>Segoe UI</vt:lpstr>
      <vt:lpstr>Tema de Office</vt:lpstr>
      <vt:lpstr>Power Query</vt:lpstr>
      <vt:lpstr>El "Motor" de Power BI: Power Query (ETL)</vt:lpstr>
      <vt:lpstr>El "Motor" de Power BI: Power Query (ETL)</vt:lpstr>
      <vt:lpstr>¿Cómo me conecto a mis datos?</vt:lpstr>
      <vt:lpstr>¿Cómo me conecto a mis datos?</vt:lpstr>
      <vt:lpstr>¿Cómo me conecto a los datos?(2)</vt:lpstr>
      <vt:lpstr>¿Cómo me conecto a los datos?(3)</vt:lpstr>
      <vt:lpstr>Obtener datos- origen</vt:lpstr>
      <vt:lpstr>¿Cómo trae Power BI los datos?</vt:lpstr>
      <vt:lpstr>Power Query</vt:lpstr>
      <vt:lpstr>Power Query – Operaciones posibles</vt:lpstr>
      <vt:lpstr>Power Query – Operaciones posibles</vt:lpstr>
      <vt:lpstr>Combinar y Anexar</vt:lpstr>
      <vt:lpstr>Anexar</vt:lpstr>
      <vt:lpstr>Combinar - EXTERNA IZQUIERDA (la más usada)</vt:lpstr>
      <vt:lpstr>Combinar - INTERNA</vt:lpstr>
      <vt:lpstr>Combinar - EXTERNA COMPLETA</vt:lpstr>
      <vt:lpstr>Combinar - ANTI IZQUIERDA</vt:lpstr>
      <vt:lpstr>Combinar - ANTI DERECHA</vt:lpstr>
      <vt:lpstr>Combinar - EXTERNA DERECHA</vt:lpstr>
      <vt:lpstr>Combinar</vt:lpstr>
      <vt:lpstr>Anular dinamizaciones, Dinamizar y Transponer</vt:lpstr>
      <vt:lpstr>Primeras Transformaciones</vt:lpstr>
      <vt:lpstr>Primeras Transformaciones</vt:lpstr>
      <vt:lpstr>Primeras Transformaciones</vt:lpstr>
      <vt:lpstr>Conexión a un libro y a una carpeta</vt:lpstr>
      <vt:lpstr>Conexión a una carpeta con varios libros Excel</vt:lpstr>
      <vt:lpstr>Conexión a una carpeta con varios libros Excel</vt:lpstr>
      <vt:lpstr>Conexión a una carpeta con varios libros Excel</vt:lpstr>
      <vt:lpstr>Conexión a una carpeta con varios libros Excel</vt:lpstr>
      <vt:lpstr>Conexión a una carpeta con un libro con varias hojas</vt:lpstr>
      <vt:lpstr>Conexión a una carpeta con un libro con varias hojas</vt:lpstr>
      <vt:lpstr>Conexión a una carpeta con un libro con varias hojas</vt:lpstr>
      <vt:lpstr>Conector a Texto y CSV</vt:lpstr>
      <vt:lpstr>Conector SharePoint</vt:lpstr>
      <vt:lpstr>Conector SharePoint</vt:lpstr>
      <vt:lpstr>Conector SharePoint</vt:lpstr>
      <vt:lpstr>Conexión OneDrive</vt:lpstr>
      <vt:lpstr>Conector OneDrive</vt:lpstr>
      <vt:lpstr>Conector OneDrive</vt:lpstr>
      <vt:lpstr>Modelo de datos </vt:lpstr>
      <vt:lpstr>Modelo de datos</vt:lpstr>
      <vt:lpstr>Modelado de datos</vt:lpstr>
      <vt:lpstr>MODELAR</vt:lpstr>
      <vt:lpstr>MODELAR</vt:lpstr>
      <vt:lpstr>MODELAR</vt:lpstr>
      <vt:lpstr>MODELAR</vt:lpstr>
      <vt:lpstr>MODELAR</vt:lpstr>
      <vt:lpstr>Relaciones</vt:lpstr>
      <vt:lpstr>MODELAR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Nagore Landa</dc:creator>
  <cp:lastModifiedBy>iozalla</cp:lastModifiedBy>
  <cp:revision>142</cp:revision>
  <dcterms:created xsi:type="dcterms:W3CDTF">2026-01-05T20:32:10Z</dcterms:created>
  <dcterms:modified xsi:type="dcterms:W3CDTF">2026-09-18T07:31:42Z</dcterms:modified>
</cp:coreProperties>
</file>