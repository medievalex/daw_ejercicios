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1" r:id="rId4"/>
    <p:sldId id="268" r:id="rId5"/>
    <p:sldId id="272" r:id="rId6"/>
    <p:sldId id="273" r:id="rId7"/>
    <p:sldId id="274" r:id="rId8"/>
    <p:sldId id="265" r:id="rId9"/>
    <p:sldId id="270" r:id="rId10"/>
    <p:sldId id="271" r:id="rId11"/>
    <p:sldId id="269" r:id="rId12"/>
    <p:sldId id="275" r:id="rId13"/>
    <p:sldId id="276" r:id="rId14"/>
    <p:sldId id="291" r:id="rId15"/>
    <p:sldId id="277" r:id="rId16"/>
    <p:sldId id="279" r:id="rId17"/>
    <p:sldId id="280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6072C-72BC-56E1-CA77-7BF2DA987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E06A63-D600-B157-EFC3-E13586D34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E9C923-DF4C-2F71-DC82-8D13B1CD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1E2D45-BC41-91A4-0FCF-E9E75B2B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9FDBF9-265C-99B3-0200-D15D7037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74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0C6FC-3B67-514A-0F34-BBDB93F8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17549-2BDE-9DE3-6823-509C7988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5F8BF-7176-7373-4E43-A24D1EA0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Fluent Icons" panose="050A0102010101010101" pitchFamily="18" charset="0"/>
              </a:defRPr>
            </a:lvl1pPr>
          </a:lstStyle>
          <a:p>
            <a:r>
              <a:rPr lang="pt-BR" dirty="0"/>
              <a:t>Curso Power BI – Módulo  X</a:t>
            </a:r>
            <a:endParaRPr lang="es-ES" dirty="0">
              <a:latin typeface="Segoe Fluent Icons" panose="050A0102010101010101" pitchFamily="18" charset="0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714CD-3919-DE01-E2B7-3992A938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D7B16-2863-1F34-2B74-DE898059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63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D4F71-3E90-948C-3986-7E91912B5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D9B4B-3D48-13A2-A89E-AE418EF00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2E8E6B-C609-C672-7419-BBAAD376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C07F4-CD3B-6F94-7254-BFC2F64AC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73582-AB75-004D-4B49-6432AFD1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385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6A4E9-EC48-B281-FBD0-CF9C64EE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3C0252-84B2-3CEA-3073-69D146F23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5AB6E2-8ADB-DFE2-B84F-A2EA450B9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356F7F-82E7-6B73-B924-7DED3481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14DF9F-BEE3-9E87-B3A4-675148E2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4C121C-9372-6924-DCDC-A94D5F1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173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1F346-EB2D-E108-9DC3-735EEA24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D1C308-AEFD-7BB7-056A-42234AE27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5E010B-D4BF-AF4B-BB0A-B48353CC0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AE15B5-D482-9E40-046B-F80E60D19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C3CBB1-889A-8C63-9766-A103A1DCB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641538-DB66-981B-D951-F1BB5FDB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A69E32-8AAD-5D5E-7FC9-AC639BBF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A3F558-28CC-33A2-E280-073FC287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210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F5FF9-C9C2-4788-613A-83B3A402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D16CDF-F355-C7AB-D94B-87C37993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9BD725-5FEC-3617-7772-3C78630C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1F3F34-6BAB-389E-68D5-7189B993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86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B0520D-C8C9-8752-03AA-CE54BD43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212411-29E2-458B-F597-4BD7182E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3956DD-605F-DDBE-5C14-A02C57D1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7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A6284-EDFD-B428-F128-7E3F94C2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E785DE-8B33-3BE0-0E22-DC2BA616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A3AC9F-25EF-DE82-3213-4171BE893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F4B9F7-A923-89AA-FF37-ED63B107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DB2D4-FC99-1FC5-C313-1809FC8A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4E7AB9-9FFC-FD96-C255-AD1D5003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16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A8523-F6D0-50EF-A284-9D8663DB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AC99A5-868A-9B01-B436-718EA9435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60C752-1FDC-B244-811E-6B5618F10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CC2D83-F9E8-C3D7-C22C-8DFA99EB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49BFDA-00B4-235C-C1F1-AB25086E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7FB064-6B24-CE2A-056F-D95BD605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4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F8EFC-3A14-AD38-E26D-9711CC0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DC153A-6AC0-1503-1245-E38A9931D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8875AF-F61E-E658-75D1-1C966643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35DD9E-353D-36FB-BE5A-8DAB2484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3147D-F5EA-FB18-A2AB-E58CF939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925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1CF8DC-1CEA-2F42-90C3-8133E5999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A96F93-C982-62C9-0900-8063191B6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3DBAC3-2EED-11AB-ADF0-A3B2BA7C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1BE6FA-45F6-9116-D6E1-0E074385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D9A8FF-43DA-D5C8-E4D4-0F2BC92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578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16E7D4-7161-F8FD-BDEC-87C1F465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2B8B59-BF68-1897-4B0D-3EB455DF6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E339F5-1EB0-D641-AE3D-889ADFD29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9D551-3550-482D-8E4E-B6565499D366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8447B-7272-2EF0-9CF1-0E8334F50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EF5AA-5BBF-6AEE-D880-4A6A2D05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5FDAE-A1A0-4C75-A20B-D9E0E6C12A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2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s-es/power-platform/products/power-bi/downloads" TargetMode="External"/><Relationship Id="rId2" Type="http://schemas.openxmlformats.org/officeDocument/2006/relationships/hyperlink" Target="https://www.microsoft.com/es-es/download/details.aspx?id=5849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5B81A-6274-8200-A72C-2A9757EEB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Análisis de datos con </a:t>
            </a:r>
            <a:r>
              <a:rPr lang="es-CO" dirty="0" err="1"/>
              <a:t>Power</a:t>
            </a:r>
            <a:r>
              <a:rPr lang="es-CO" dirty="0"/>
              <a:t> BI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20E805-29E2-0E7E-1822-F1E70DDAC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Introducción al Business </a:t>
            </a:r>
            <a:r>
              <a:rPr lang="es-ES" dirty="0" err="1"/>
              <a:t>Intelligence</a:t>
            </a:r>
            <a:r>
              <a:rPr lang="es-ES" dirty="0"/>
              <a:t> y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409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4EB18-147D-790C-6816-A7C6E968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</a:t>
            </a:r>
            <a:r>
              <a:rPr lang="es-ES" dirty="0" err="1"/>
              <a:t>Power</a:t>
            </a:r>
            <a:r>
              <a:rPr lang="es-ES" dirty="0"/>
              <a:t> BI?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32EE92-36C3-43FD-EDE3-204F7A7DE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800" dirty="0" err="1"/>
              <a:t>Power</a:t>
            </a:r>
            <a:r>
              <a:rPr lang="es-ES" sz="1800" dirty="0"/>
              <a:t> BI no es una sola aplicación.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 err="1"/>
              <a:t>Power</a:t>
            </a:r>
            <a:r>
              <a:rPr lang="es-ES" sz="1800" dirty="0"/>
              <a:t> BI es un </a:t>
            </a:r>
            <a:r>
              <a:rPr lang="es-ES" sz="1800" b="1" dirty="0"/>
              <a:t>conjunto de aplicaciones de inteligencia de negocio</a:t>
            </a:r>
            <a:r>
              <a:rPr lang="es-ES" sz="1800" dirty="0"/>
              <a:t> creada por Microsoft que permite:</a:t>
            </a:r>
          </a:p>
          <a:p>
            <a:pPr marL="0" indent="0">
              <a:buNone/>
            </a:pPr>
            <a:endParaRPr lang="es-ES" sz="1800" dirty="0"/>
          </a:p>
          <a:p>
            <a:r>
              <a:rPr lang="es-ES" sz="1800" dirty="0"/>
              <a:t>Conectar a diferentes fuentes de datos</a:t>
            </a:r>
          </a:p>
          <a:p>
            <a:r>
              <a:rPr lang="es-ES" sz="1800" dirty="0"/>
              <a:t>Analizar la información</a:t>
            </a:r>
          </a:p>
          <a:p>
            <a:r>
              <a:rPr lang="es-ES" sz="1800" dirty="0"/>
              <a:t>Visualizar los resultados</a:t>
            </a:r>
          </a:p>
          <a:p>
            <a:r>
              <a:rPr lang="es-ES" sz="1800" dirty="0"/>
              <a:t>Compartir informes y </a:t>
            </a:r>
            <a:r>
              <a:rPr lang="es-ES" sz="1800" dirty="0" err="1"/>
              <a:t>dashboards</a:t>
            </a:r>
            <a:endParaRPr lang="es-ES" sz="1800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1B5AC-B5E6-839B-EAA6-F575BED1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250B-EC8F-FB9B-0F91-D38740A2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Microsoft </a:t>
            </a:r>
            <a:r>
              <a:rPr lang="es-ES" dirty="0" err="1"/>
              <a:t>Power</a:t>
            </a:r>
            <a:r>
              <a:rPr lang="es-ES" dirty="0"/>
              <a:t> BI </a:t>
            </a: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2E71E09E-3BD2-BF75-B11E-7D55874D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04634"/>
            <a:ext cx="4254877" cy="45997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EBB67C7-6938-257A-C271-A8961A5ED109}"/>
              </a:ext>
            </a:extLst>
          </p:cNvPr>
          <p:cNvSpPr txBox="1"/>
          <p:nvPr/>
        </p:nvSpPr>
        <p:spPr>
          <a:xfrm>
            <a:off x="838200" y="1450704"/>
            <a:ext cx="1107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Power</a:t>
            </a:r>
            <a:r>
              <a:rPr lang="es-ES" dirty="0"/>
              <a:t> BI es una herramienta muy usada en empresas para analizar datos</a:t>
            </a:r>
          </a:p>
        </p:txBody>
      </p:sp>
      <p:pic>
        <p:nvPicPr>
          <p:cNvPr id="6" name="Imagen 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5BCF76A-C682-D18E-3414-A22D14F67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04634"/>
            <a:ext cx="2495898" cy="77163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E623362-4C68-0CF6-7DD8-7A40AB92D082}"/>
              </a:ext>
            </a:extLst>
          </p:cNvPr>
          <p:cNvCxnSpPr>
            <a:cxnSpLocks/>
          </p:cNvCxnSpPr>
          <p:nvPr/>
        </p:nvCxnSpPr>
        <p:spPr>
          <a:xfrm flipH="1">
            <a:off x="4257675" y="2776267"/>
            <a:ext cx="1981200" cy="5003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70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45CCA-A50A-8891-83FE-863106E1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Antecedentes al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7F6EE-E171-7472-5F1A-B69E43FF6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1800" dirty="0"/>
              <a:t>Durante años, Microsoft trabajó en inteligencia de negocio con:</a:t>
            </a:r>
          </a:p>
          <a:p>
            <a:r>
              <a:rPr lang="es-ES" sz="1800" dirty="0"/>
              <a:t>Bases de datos (SQL Server)</a:t>
            </a:r>
          </a:p>
          <a:p>
            <a:r>
              <a:rPr lang="es-ES" sz="1800" dirty="0"/>
              <a:t>Informes y análisis (servicios de SQL Server)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/>
              <a:t>Después, ese análisis empezó a acercarse a Excel, porque era la herramienta que más usaban los usuarios.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/>
              <a:t>Con el tiempo, Microsoft fue añadiendo a Excel herramientas nuevas:</a:t>
            </a:r>
          </a:p>
          <a:p>
            <a:r>
              <a:rPr lang="es-ES" sz="1800" b="1" dirty="0" err="1"/>
              <a:t>Power</a:t>
            </a:r>
            <a:r>
              <a:rPr lang="es-ES" sz="1800" b="1" dirty="0"/>
              <a:t> </a:t>
            </a:r>
            <a:r>
              <a:rPr lang="es-ES" sz="1800" b="1" dirty="0" err="1"/>
              <a:t>Query</a:t>
            </a:r>
            <a:r>
              <a:rPr lang="es-ES" sz="1800" dirty="0"/>
              <a:t> → para preparar y limpiar datos</a:t>
            </a:r>
          </a:p>
          <a:p>
            <a:r>
              <a:rPr lang="es-ES" sz="1800" b="1" dirty="0" err="1"/>
              <a:t>Power</a:t>
            </a:r>
            <a:r>
              <a:rPr lang="es-ES" sz="1800" b="1" dirty="0"/>
              <a:t> </a:t>
            </a:r>
            <a:r>
              <a:rPr lang="es-ES" sz="1800" b="1" dirty="0" err="1"/>
              <a:t>Pivot</a:t>
            </a:r>
            <a:r>
              <a:rPr lang="es-ES" sz="1800" dirty="0"/>
              <a:t> → para crear modelos de datos</a:t>
            </a:r>
          </a:p>
          <a:p>
            <a:r>
              <a:rPr lang="es-ES" sz="1800" b="1" dirty="0" err="1"/>
              <a:t>Power</a:t>
            </a:r>
            <a:r>
              <a:rPr lang="es-ES" sz="1800" b="1" dirty="0"/>
              <a:t> View</a:t>
            </a:r>
            <a:r>
              <a:rPr lang="es-ES" sz="1800" dirty="0"/>
              <a:t> → para crear gráficos</a:t>
            </a:r>
          </a:p>
          <a:p>
            <a:r>
              <a:rPr lang="es-ES" sz="1800" b="1" dirty="0" err="1"/>
              <a:t>Power</a:t>
            </a:r>
            <a:r>
              <a:rPr lang="es-ES" sz="1800" b="1" dirty="0"/>
              <a:t> </a:t>
            </a:r>
            <a:r>
              <a:rPr lang="es-ES" sz="1800" b="1" dirty="0" err="1"/>
              <a:t>Map</a:t>
            </a:r>
            <a:r>
              <a:rPr lang="es-ES" sz="1800" dirty="0"/>
              <a:t> → para mapas</a:t>
            </a:r>
          </a:p>
          <a:p>
            <a:endParaRPr lang="es-E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s-ES" sz="1800" dirty="0"/>
              <a:t>Finalmente en 2015 , Microsoft decidió </a:t>
            </a:r>
            <a:r>
              <a:rPr lang="es-ES" sz="1800" b="1" dirty="0"/>
              <a:t>unir todo en una sola herramienta</a:t>
            </a:r>
            <a:r>
              <a:rPr lang="es-ES" sz="1800" dirty="0"/>
              <a:t>, más potente y más orientada al análisis de negocio -&gt; Lanza </a:t>
            </a:r>
            <a:r>
              <a:rPr lang="es-ES" sz="1800" dirty="0" err="1"/>
              <a:t>Power</a:t>
            </a:r>
            <a:r>
              <a:rPr lang="es-ES" sz="1800" dirty="0"/>
              <a:t> BI</a:t>
            </a:r>
          </a:p>
          <a:p>
            <a:pPr marL="0" indent="0">
              <a:buNone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08063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9E0FC-03DC-87B3-CD86-57AA4643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del ecosistema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D11A49-BE5F-94C0-57E0-AA9306730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2478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ES" sz="1400" b="1" dirty="0" err="1"/>
              <a:t>Power</a:t>
            </a:r>
            <a:r>
              <a:rPr lang="es-ES" sz="1400" b="1" dirty="0"/>
              <a:t> BI Desktop  </a:t>
            </a:r>
            <a:r>
              <a:rPr lang="es-ES" sz="1700" dirty="0"/>
              <a:t>: </a:t>
            </a:r>
            <a:r>
              <a:rPr lang="es-ES" sz="1800" dirty="0"/>
              <a:t>La herramienta principal de trabajo.  </a:t>
            </a:r>
          </a:p>
          <a:p>
            <a:pPr marL="457200" lvl="1" indent="0"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1- Conectar a los datos</a:t>
            </a:r>
          </a:p>
          <a:p>
            <a:pPr lvl="1"/>
            <a:r>
              <a:rPr lang="es-ES" sz="1400" dirty="0"/>
              <a:t>2- Extracción, transformación y carga (ETL) de datos </a:t>
            </a:r>
          </a:p>
          <a:p>
            <a:pPr lvl="1"/>
            <a:r>
              <a:rPr lang="es-ES" sz="1400" dirty="0"/>
              <a:t>3- Crear el modelo de datos</a:t>
            </a:r>
          </a:p>
          <a:p>
            <a:pPr lvl="1"/>
            <a:r>
              <a:rPr lang="es-ES" sz="1400" dirty="0"/>
              <a:t>4- Diseñar Informes y </a:t>
            </a:r>
            <a:r>
              <a:rPr lang="es-ES" sz="1400" dirty="0" err="1"/>
              <a:t>dashboards</a:t>
            </a:r>
            <a:endParaRPr lang="es-ES" sz="1400" dirty="0"/>
          </a:p>
          <a:p>
            <a:pPr marL="457200" lvl="1" indent="0">
              <a:buNone/>
            </a:pPr>
            <a:endParaRPr lang="es-ES" sz="1400" dirty="0"/>
          </a:p>
          <a:p>
            <a:pPr marL="457200" lvl="1" indent="0">
              <a:buNone/>
            </a:pPr>
            <a:r>
              <a:rPr lang="es-ES" sz="1400" dirty="0"/>
              <a:t>Se instala en el ordenador </a:t>
            </a:r>
          </a:p>
          <a:p>
            <a:pPr marL="457200" lvl="1" indent="0">
              <a:buNone/>
            </a:pPr>
            <a:r>
              <a:rPr lang="es-ES" sz="1400" dirty="0"/>
              <a:t>Es gratuita</a:t>
            </a:r>
          </a:p>
          <a:p>
            <a:pPr marL="457200" lvl="1" indent="0">
              <a:buNone/>
            </a:pPr>
            <a:endParaRPr lang="es-ES" sz="1400" dirty="0"/>
          </a:p>
          <a:p>
            <a:r>
              <a:rPr lang="es-ES" sz="1400" b="1" dirty="0" err="1"/>
              <a:t>Power</a:t>
            </a:r>
            <a:r>
              <a:rPr lang="es-ES" sz="1400" b="1" dirty="0"/>
              <a:t> BI </a:t>
            </a:r>
            <a:r>
              <a:rPr lang="es-ES" sz="1400" b="1" dirty="0" err="1"/>
              <a:t>Service</a:t>
            </a:r>
            <a:r>
              <a:rPr lang="es-ES" sz="1400" b="1" dirty="0"/>
              <a:t> (Online) : </a:t>
            </a:r>
            <a:r>
              <a:rPr lang="es-ES" sz="1400" dirty="0"/>
              <a:t>La plataforma web de </a:t>
            </a:r>
            <a:r>
              <a:rPr lang="es-ES" sz="1400" dirty="0" err="1"/>
              <a:t>Power</a:t>
            </a:r>
            <a:r>
              <a:rPr lang="es-ES" sz="1400" dirty="0"/>
              <a:t> BI (en la nube).</a:t>
            </a:r>
            <a:endParaRPr lang="es-ES" sz="1400" b="1" dirty="0"/>
          </a:p>
          <a:p>
            <a:pPr marL="457200" lvl="1" indent="0"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Publicar informes creados en Desktop</a:t>
            </a:r>
          </a:p>
          <a:p>
            <a:pPr lvl="1"/>
            <a:r>
              <a:rPr lang="es-ES" sz="1400" dirty="0"/>
              <a:t>Compartir </a:t>
            </a:r>
            <a:r>
              <a:rPr lang="es-ES" sz="1400" dirty="0" err="1"/>
              <a:t>dashboards</a:t>
            </a:r>
            <a:endParaRPr lang="es-ES" sz="1400" dirty="0"/>
          </a:p>
          <a:p>
            <a:pPr lvl="1"/>
            <a:r>
              <a:rPr lang="es-ES" sz="1400" dirty="0"/>
              <a:t>Colaborar con otras personas</a:t>
            </a:r>
          </a:p>
          <a:p>
            <a:pPr lvl="1"/>
            <a:r>
              <a:rPr lang="es-ES" sz="1400" dirty="0"/>
              <a:t>Programar actualizaciones</a:t>
            </a:r>
          </a:p>
          <a:p>
            <a:pPr marL="457200" lvl="1" indent="0" defTabSz="447675">
              <a:lnSpc>
                <a:spcPct val="100000"/>
              </a:lnSpc>
              <a:buNone/>
            </a:pPr>
            <a:r>
              <a:rPr lang="es-ES" sz="1400" dirty="0"/>
              <a:t>Ideal para trabajo en equipo.</a:t>
            </a:r>
          </a:p>
          <a:p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232351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7206-A7CC-B36F-4A5D-1266D09D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E35F4-2D99-3172-BB8B-568CABFF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del ecosistema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51798-7F73-963B-1975-7048E990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2478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s-ES" sz="1400" b="1" dirty="0" err="1"/>
              <a:t>Power</a:t>
            </a:r>
            <a:r>
              <a:rPr lang="es-ES" sz="1400" b="1" dirty="0"/>
              <a:t> BI Mobile</a:t>
            </a:r>
            <a:r>
              <a:rPr lang="es-ES" sz="1700" dirty="0"/>
              <a:t>: </a:t>
            </a:r>
            <a:r>
              <a:rPr lang="es-ES" sz="1400" dirty="0"/>
              <a:t>La app móvil de </a:t>
            </a:r>
            <a:r>
              <a:rPr lang="es-ES" sz="1400" dirty="0" err="1"/>
              <a:t>Power</a:t>
            </a:r>
            <a:r>
              <a:rPr lang="es-ES" sz="1400" dirty="0"/>
              <a:t> BI.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Ver informes desde el móvil o la Tablet</a:t>
            </a:r>
          </a:p>
          <a:p>
            <a:pPr lvl="1"/>
            <a:r>
              <a:rPr lang="es-ES" sz="1400" dirty="0"/>
              <a:t>Consultar datos de forma rápida</a:t>
            </a:r>
          </a:p>
          <a:p>
            <a:pPr marL="457200" lvl="1" indent="0">
              <a:buNone/>
            </a:pPr>
            <a:endParaRPr lang="es-ES" sz="1400" dirty="0"/>
          </a:p>
          <a:p>
            <a:pPr marL="457200" lvl="1" indent="0">
              <a:buNone/>
            </a:pPr>
            <a:r>
              <a:rPr lang="es-ES" sz="1400" dirty="0"/>
              <a:t>No se crean informes aquí, </a:t>
            </a:r>
            <a:r>
              <a:rPr lang="es-ES" sz="1400" b="1" dirty="0"/>
              <a:t>solo se visualizan</a:t>
            </a:r>
            <a:r>
              <a:rPr lang="es-ES" sz="1400" dirty="0"/>
              <a:t>.</a:t>
            </a:r>
          </a:p>
          <a:p>
            <a:pPr marL="457200" lvl="1" indent="0">
              <a:buNone/>
            </a:pPr>
            <a:endParaRPr lang="es-ES" sz="1400" dirty="0"/>
          </a:p>
          <a:p>
            <a:r>
              <a:rPr lang="es-ES" sz="1400" b="1" dirty="0" err="1"/>
              <a:t>Power</a:t>
            </a:r>
            <a:r>
              <a:rPr lang="es-ES" sz="1400" b="1" dirty="0"/>
              <a:t> BI Gateway: </a:t>
            </a:r>
            <a:r>
              <a:rPr lang="es-ES" sz="1400" dirty="0"/>
              <a:t>Un conector entre datos locales y la nube.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Un conector entre datos locales y la nube.</a:t>
            </a:r>
          </a:p>
          <a:p>
            <a:pPr lvl="1"/>
            <a:r>
              <a:rPr lang="es-ES" sz="1400" dirty="0"/>
              <a:t>Mantener los datos actualizados automáticamente</a:t>
            </a:r>
          </a:p>
          <a:p>
            <a:pPr marL="457200" lvl="1" indent="0">
              <a:buNone/>
            </a:pPr>
            <a:endParaRPr lang="es-ES" sz="1400" dirty="0"/>
          </a:p>
          <a:p>
            <a:r>
              <a:rPr lang="es-ES" sz="1400" b="1" dirty="0" err="1"/>
              <a:t>Power</a:t>
            </a:r>
            <a:r>
              <a:rPr lang="es-ES" sz="1400" b="1" dirty="0"/>
              <a:t> BI </a:t>
            </a:r>
            <a:r>
              <a:rPr lang="es-ES" sz="1400" b="1" dirty="0" err="1"/>
              <a:t>Report</a:t>
            </a:r>
            <a:r>
              <a:rPr lang="es-ES" sz="1400" b="1" dirty="0"/>
              <a:t> </a:t>
            </a:r>
            <a:r>
              <a:rPr lang="es-ES" sz="1400" b="1" dirty="0" err="1"/>
              <a:t>Builder</a:t>
            </a:r>
            <a:r>
              <a:rPr lang="es-ES" sz="1400" b="1" dirty="0"/>
              <a:t> : </a:t>
            </a:r>
            <a:r>
              <a:rPr lang="es-ES" sz="1400" dirty="0"/>
              <a:t>Herramienta para informes paginados.</a:t>
            </a:r>
            <a:endParaRPr lang="es-ES" sz="14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Crear informes tipo PDF o listados</a:t>
            </a:r>
          </a:p>
          <a:p>
            <a:pPr lvl="1"/>
            <a:r>
              <a:rPr lang="es-ES" sz="1400" dirty="0"/>
              <a:t>Informes muy detallados y estructurados</a:t>
            </a:r>
          </a:p>
          <a:p>
            <a:pPr marL="457200" lvl="1" indent="0">
              <a:buNone/>
            </a:pPr>
            <a:endParaRPr lang="es-ES" sz="1400" dirty="0"/>
          </a:p>
          <a:p>
            <a:pPr marL="457200" lvl="1" indent="0">
              <a:buNone/>
            </a:pPr>
            <a:r>
              <a:rPr lang="es-ES" sz="1400" dirty="0"/>
              <a:t> No es para </a:t>
            </a:r>
            <a:r>
              <a:rPr lang="es-ES" sz="1400" dirty="0" err="1"/>
              <a:t>dashboards</a:t>
            </a:r>
            <a:r>
              <a:rPr lang="es-ES" sz="1400" dirty="0"/>
              <a:t> interactivos.</a:t>
            </a:r>
          </a:p>
          <a:p>
            <a:pPr marL="0" indent="0">
              <a:buNone/>
            </a:pP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192951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E1A3-3D4D-B7B3-1520-0545AB05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778F5-BD0D-AACC-3266-10D05FDA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del ecosistema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528F5C-76B7-730A-830C-21B3114F2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2478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 err="1"/>
              <a:t>Power</a:t>
            </a:r>
            <a:r>
              <a:rPr lang="es-ES" sz="1400" b="1" dirty="0"/>
              <a:t> BI </a:t>
            </a:r>
            <a:r>
              <a:rPr lang="es-ES" sz="1400" b="1" dirty="0" err="1"/>
              <a:t>Visuals</a:t>
            </a:r>
            <a:r>
              <a:rPr lang="es-ES" sz="1400" b="1" dirty="0"/>
              <a:t> Marketplace</a:t>
            </a:r>
            <a:r>
              <a:rPr lang="es-ES" sz="1700" dirty="0"/>
              <a:t>: </a:t>
            </a:r>
            <a:r>
              <a:rPr lang="es-ES" sz="1400" dirty="0"/>
              <a:t>Biblioteca de gráficos adicionales.</a:t>
            </a:r>
          </a:p>
          <a:p>
            <a:pPr marL="447675" indent="-85725">
              <a:lnSpc>
                <a:spcPct val="100000"/>
              </a:lnSpc>
              <a:buNone/>
            </a:pPr>
            <a:r>
              <a:rPr lang="es-ES" sz="1400" dirty="0"/>
              <a:t>Para qué sirve:</a:t>
            </a:r>
          </a:p>
          <a:p>
            <a:pPr lvl="1"/>
            <a:r>
              <a:rPr lang="es-ES" sz="1400" dirty="0"/>
              <a:t>Añadir visuales especiales</a:t>
            </a:r>
          </a:p>
          <a:p>
            <a:pPr lvl="1"/>
            <a:r>
              <a:rPr lang="es-ES" sz="1400" dirty="0"/>
              <a:t>Usar gráficos creados por Microsoft o la comunidad</a:t>
            </a:r>
          </a:p>
          <a:p>
            <a:pPr marL="457200" lvl="1" indent="0">
              <a:buNone/>
            </a:pPr>
            <a:endParaRPr lang="es-ES" sz="1400" dirty="0"/>
          </a:p>
          <a:p>
            <a:pPr marL="457200" lvl="1" indent="0">
              <a:buNone/>
            </a:pPr>
            <a:r>
              <a:rPr lang="es-ES" sz="1400" dirty="0"/>
              <a:t>Opcional, no imprescindible para empezar.</a:t>
            </a:r>
          </a:p>
          <a:p>
            <a:pPr marL="0" indent="0">
              <a:buNone/>
            </a:pPr>
            <a:endParaRPr lang="es-ES" sz="1400" b="1" dirty="0"/>
          </a:p>
        </p:txBody>
      </p:sp>
    </p:spTree>
    <p:extLst>
      <p:ext uri="{BB962C8B-B14F-4D97-AF65-F5344CB8AC3E}">
        <p14:creationId xmlns:p14="http://schemas.microsoft.com/office/powerpoint/2010/main" val="297562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934F5-2638-79D0-74FD-FB1FE7BA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natural de trabajo en </a:t>
            </a:r>
            <a:r>
              <a:rPr lang="es-ES" dirty="0" err="1"/>
              <a:t>Power</a:t>
            </a:r>
            <a:r>
              <a:rPr lang="es-ES" dirty="0"/>
              <a:t> BI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08880C9-C879-A392-2B6C-6FEE59801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535" y="1557338"/>
            <a:ext cx="85090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6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7035-DAE6-AF5F-09A5-12C7CBC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C685A-B24F-56CD-2647-D7F9181E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es-ES" dirty="0"/>
              <a:t>Inteligencia de negocio	……a un precio asequible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FE2C4-61D0-D8EF-1D8F-7406CC57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sz="1700" dirty="0"/>
              <a:t>PBI Desktop es de uso gratuito, </a:t>
            </a:r>
            <a:r>
              <a:rPr lang="es-ES" sz="1700" dirty="0"/>
              <a:t>pagas solo cuando estés </a:t>
            </a:r>
            <a:r>
              <a:rPr lang="es-ES" sz="1700" dirty="0" err="1"/>
              <a:t>list</a:t>
            </a:r>
            <a:r>
              <a:rPr lang="es-ES" sz="1700" dirty="0"/>
              <a:t>@ para compartir y escalar. </a:t>
            </a:r>
          </a:p>
          <a:p>
            <a:pPr marL="0" indent="0">
              <a:buNone/>
            </a:pPr>
            <a:r>
              <a:rPr lang="es-ES" sz="1700" b="1" dirty="0"/>
              <a:t>Se actualiza todos los meses</a:t>
            </a:r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072487-E8D1-F889-5754-FB76BAD4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3756"/>
            <a:ext cx="10153650" cy="427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1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A03EB56-8A2F-5079-0CE0-CC4AA89A6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075" y="1256506"/>
            <a:ext cx="9382125" cy="530612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47E230F-1982-EF81-2E1D-C163A15A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es-ES" dirty="0"/>
              <a:t>Inteligencia de negocio	……a un precio asequible</a:t>
            </a:r>
          </a:p>
        </p:txBody>
      </p:sp>
    </p:spTree>
    <p:extLst>
      <p:ext uri="{BB962C8B-B14F-4D97-AF65-F5344CB8AC3E}">
        <p14:creationId xmlns:p14="http://schemas.microsoft.com/office/powerpoint/2010/main" val="223246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2420B-7973-45B1-1A5F-C0643287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¿Cuáles son las claves del éxito de </a:t>
            </a:r>
            <a:r>
              <a:rPr lang="es-ES" dirty="0" err="1"/>
              <a:t>Power</a:t>
            </a:r>
            <a:r>
              <a:rPr lang="es-ES" dirty="0"/>
              <a:t> BI?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979BDC-7FD2-C688-CF48-06C4936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800" dirty="0"/>
              <a:t>Crear una herramienta de INTELIGENCIA DE NEGOCIO avanzada PARA TODAS LAS PERSONAS.</a:t>
            </a:r>
          </a:p>
          <a:p>
            <a:pPr marL="0" indent="0">
              <a:buNone/>
            </a:pPr>
            <a:r>
              <a:rPr lang="es-ES" sz="1800" dirty="0"/>
              <a:t>Permite analizar datos y compartir información sin necesidad de ser </a:t>
            </a:r>
            <a:r>
              <a:rPr lang="es-ES" sz="1800" dirty="0" err="1"/>
              <a:t>expert</a:t>
            </a:r>
            <a:r>
              <a:rPr lang="es-ES" sz="1800" dirty="0"/>
              <a:t>@ en programación.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endParaRPr lang="es-ES" sz="1800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61203B8-6E74-BF92-B5B9-C95CCE15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92" y="2762553"/>
            <a:ext cx="5882171" cy="341441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F4889F-CF28-38FA-CD72-86797CC4E0C8}"/>
              </a:ext>
            </a:extLst>
          </p:cNvPr>
          <p:cNvSpPr txBox="1"/>
          <p:nvPr/>
        </p:nvSpPr>
        <p:spPr>
          <a:xfrm>
            <a:off x="3161489" y="6410605"/>
            <a:ext cx="60943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latin typeface="Segoe UI" panose="020B0502040204020203" pitchFamily="34" charset="0"/>
                <a:cs typeface="Segoe UI" panose="020B0502040204020203" pitchFamily="34" charset="0"/>
              </a:rPr>
              <a:t>Fuente : https://www.microsoft.com/es-es/power-platform/products/power-bi#Product-overview</a:t>
            </a:r>
          </a:p>
        </p:txBody>
      </p:sp>
    </p:spTree>
    <p:extLst>
      <p:ext uri="{BB962C8B-B14F-4D97-AF65-F5344CB8AC3E}">
        <p14:creationId xmlns:p14="http://schemas.microsoft.com/office/powerpoint/2010/main" val="85201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CBEC-28D8-C6C9-D4B3-12E7F7C8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76212B9-95D1-04EF-B3A1-72050661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BI: Inteligencia de negocio para </a:t>
            </a:r>
            <a:r>
              <a:rPr lang="es-ES" dirty="0" err="1"/>
              <a:t>tod@s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882E39-91D5-1B47-4576-D06AFC6F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700" dirty="0"/>
              <a:t>Acceso rápido a múltiples fuentes de datos</a:t>
            </a:r>
          </a:p>
          <a:p>
            <a:r>
              <a:rPr lang="es-ES" sz="1800" dirty="0"/>
              <a:t>Transformación y modelado de datos de forma sencilla</a:t>
            </a:r>
          </a:p>
          <a:p>
            <a:r>
              <a:rPr lang="es-ES" sz="1800" dirty="0"/>
              <a:t>Visualización clara e interactiva de la información, con métricas y gráficos visuales</a:t>
            </a:r>
          </a:p>
          <a:p>
            <a:r>
              <a:rPr lang="es-ES" sz="1800" dirty="0"/>
              <a:t>Análisis avanzado para apoyar decisiones</a:t>
            </a:r>
          </a:p>
          <a:p>
            <a:r>
              <a:rPr lang="es-ES" sz="1800" dirty="0"/>
              <a:t>Opción de compartir y visualizar en diferentes dispositivos</a:t>
            </a:r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3798521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0862-0834-561A-0487-B1A701FE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E31193D-E556-A396-AC36-7D68FB0D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es-ES" dirty="0"/>
              <a:t>Acceso rápido a múltiples fuentes de datos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6747B6-CA3F-44FF-7B9D-0101C1051CCD}"/>
              </a:ext>
            </a:extLst>
          </p:cNvPr>
          <p:cNvSpPr txBox="1"/>
          <p:nvPr/>
        </p:nvSpPr>
        <p:spPr>
          <a:xfrm>
            <a:off x="989587" y="2545793"/>
            <a:ext cx="3650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Posibilidad de conectarse a diferentes orígenes de datos </a:t>
            </a:r>
          </a:p>
        </p:txBody>
      </p:sp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C63237A-93CE-ADD1-BB88-DAFC2D8FB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48" y="1611778"/>
            <a:ext cx="5175573" cy="495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06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0C4B7-8522-7EAE-DB16-B7EA8411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Power</a:t>
            </a:r>
            <a:r>
              <a:rPr lang="es-ES" dirty="0"/>
              <a:t> BI Desktop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9F347A-38D3-7661-3366-B3801360B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67" y="1298072"/>
            <a:ext cx="9075823" cy="53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6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934F7-101B-A1DE-B5B8-C40AEFE3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me descargo </a:t>
            </a:r>
            <a:r>
              <a:rPr lang="es-ES" dirty="0" err="1"/>
              <a:t>Power</a:t>
            </a:r>
            <a:r>
              <a:rPr lang="es-ES" dirty="0"/>
              <a:t> BI Desktop?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928AD-DBF0-483A-4E00-723DCED7D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1"/>
            <a:ext cx="10515600" cy="4351338"/>
          </a:xfrm>
        </p:spPr>
        <p:txBody>
          <a:bodyPr/>
          <a:lstStyle/>
          <a:p>
            <a:r>
              <a:rPr lang="es-ES" sz="1400" dirty="0"/>
              <a:t>1- </a:t>
            </a:r>
            <a:r>
              <a:rPr lang="es-ES" sz="1400" b="1" dirty="0"/>
              <a:t>Web de Microsoft (archivo .exe)</a:t>
            </a:r>
            <a:r>
              <a:rPr lang="es-ES" sz="1400" dirty="0"/>
              <a:t> : Las actualizaciones son </a:t>
            </a:r>
            <a:r>
              <a:rPr lang="es-ES" sz="1400" b="1" dirty="0"/>
              <a:t>manuales</a:t>
            </a:r>
            <a:r>
              <a:rPr lang="es-ES" sz="1400" dirty="0"/>
              <a:t>:</a:t>
            </a:r>
            <a:endParaRPr lang="es-ES" sz="14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s-ES" sz="1400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https://www.microsoft.com/es-es/download/details.aspx?id=58494</a:t>
            </a:r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pPr lvl="1"/>
            <a:endParaRPr lang="es-ES" sz="1400" dirty="0">
              <a:solidFill>
                <a:srgbClr val="467886"/>
              </a:solidFill>
            </a:endParaRPr>
          </a:p>
          <a:p>
            <a:r>
              <a:rPr lang="es-ES" sz="1400" dirty="0"/>
              <a:t> 2- </a:t>
            </a:r>
            <a:r>
              <a:rPr lang="es-ES" sz="1400" b="1" dirty="0"/>
              <a:t>Microsoft store </a:t>
            </a:r>
            <a:r>
              <a:rPr lang="es-ES" sz="1400" dirty="0"/>
              <a:t>: Las actualizaciones son </a:t>
            </a:r>
            <a:r>
              <a:rPr lang="es-ES" sz="1400" b="1" dirty="0"/>
              <a:t>automáticas</a:t>
            </a:r>
            <a:r>
              <a:rPr lang="es-ES" sz="1400" dirty="0"/>
              <a:t>. Siempre tendrás la versión más reciente. (Recomendado)</a:t>
            </a:r>
          </a:p>
          <a:p>
            <a:pPr marL="714375" indent="-266700"/>
            <a:r>
              <a:rPr lang="es-ES" sz="14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https://www.microsoft.com/es-es/power-platform/products/power-bi/downloads</a:t>
            </a:r>
            <a:endParaRPr lang="es-ES" sz="1400" dirty="0">
              <a:solidFill>
                <a:srgbClr val="467886"/>
              </a:solidFill>
            </a:endParaRPr>
          </a:p>
          <a:p>
            <a:endParaRPr lang="es-ES" sz="1400" dirty="0">
              <a:solidFill>
                <a:srgbClr val="467886"/>
              </a:solidFill>
            </a:endParaRPr>
          </a:p>
          <a:p>
            <a:endParaRPr lang="es-ES" dirty="0"/>
          </a:p>
        </p:txBody>
      </p:sp>
      <p:pic>
        <p:nvPicPr>
          <p:cNvPr id="5" name="Imagen 4" descr="Interfaz de usuario gráfica, Texto, Aplicación, Word&#10;&#10;El contenido generado por IA puede ser incorrecto.">
            <a:extLst>
              <a:ext uri="{FF2B5EF4-FFF2-40B4-BE49-F238E27FC236}">
                <a16:creationId xmlns:a16="http://schemas.microsoft.com/office/drawing/2014/main" id="{6A60127A-A193-89AB-CB02-0EC78A5C2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711" y="2200473"/>
            <a:ext cx="6170577" cy="1755583"/>
          </a:xfrm>
          <a:prstGeom prst="rect">
            <a:avLst/>
          </a:prstGeom>
        </p:spPr>
      </p:pic>
      <p:pic>
        <p:nvPicPr>
          <p:cNvPr id="9" name="Imagen 8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2DE906C2-8F21-12B1-5D7D-B7E48743D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711" y="4681615"/>
            <a:ext cx="4971239" cy="206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16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32D01-44AE-1C3F-6942-F8B75303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Desktop(1)</a:t>
            </a: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8FCAC99-BA38-50C9-7CF8-0F39D222B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77" y="1764758"/>
            <a:ext cx="8355797" cy="397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98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3329-3027-F9D2-131A-419B0E5B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AB52A-0B36-4C8D-44CD-963D349A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Desktop(2)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033B49-9FF4-29E2-27A4-F23D2C84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98" y="1699955"/>
            <a:ext cx="2274800" cy="132556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94DF8B3-415D-41DE-45D6-8A71BF27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723" y="1542735"/>
            <a:ext cx="6307225" cy="51359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322812D-4D02-91BF-2633-92F454AFB1F6}"/>
              </a:ext>
            </a:extLst>
          </p:cNvPr>
          <p:cNvSpPr txBox="1"/>
          <p:nvPr/>
        </p:nvSpPr>
        <p:spPr>
          <a:xfrm>
            <a:off x="1521974" y="3134968"/>
            <a:ext cx="2408150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Configuramos aspectos que van a afectar a todos los informes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D009957-E511-7692-07BB-9B2C5BEF3DBE}"/>
              </a:ext>
            </a:extLst>
          </p:cNvPr>
          <p:cNvCxnSpPr>
            <a:cxnSpLocks/>
          </p:cNvCxnSpPr>
          <p:nvPr/>
        </p:nvCxnSpPr>
        <p:spPr>
          <a:xfrm flipH="1">
            <a:off x="3930124" y="2097832"/>
            <a:ext cx="1092922" cy="1037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9A8AAF-C886-C778-D9BE-2E0EE40D991D}"/>
              </a:ext>
            </a:extLst>
          </p:cNvPr>
          <p:cNvSpPr txBox="1"/>
          <p:nvPr/>
        </p:nvSpPr>
        <p:spPr>
          <a:xfrm>
            <a:off x="1521974" y="5158045"/>
            <a:ext cx="2189075" cy="107721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Configuramos aspectos que van a afectar al informe actual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6395D62-8B94-2EE1-0B0C-AF24C45B40FA}"/>
              </a:ext>
            </a:extLst>
          </p:cNvPr>
          <p:cNvCxnSpPr>
            <a:cxnSpLocks/>
          </p:cNvCxnSpPr>
          <p:nvPr/>
        </p:nvCxnSpPr>
        <p:spPr>
          <a:xfrm flipH="1">
            <a:off x="3711049" y="4899397"/>
            <a:ext cx="1311997" cy="499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569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36BB-4862-7B77-9875-25139371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24650-DD81-4470-8EA6-C5993AE8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F8161A-2CE6-D2B6-B147-3E3CE02A54B5}"/>
              </a:ext>
            </a:extLst>
          </p:cNvPr>
          <p:cNvSpPr txBox="1"/>
          <p:nvPr/>
        </p:nvSpPr>
        <p:spPr>
          <a:xfrm>
            <a:off x="9080825" y="587341"/>
            <a:ext cx="1339737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Cinta Opciones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FDF47F4-8017-3E13-4063-5D721F75F204}"/>
              </a:ext>
            </a:extLst>
          </p:cNvPr>
          <p:cNvCxnSpPr>
            <a:cxnSpLocks/>
          </p:cNvCxnSpPr>
          <p:nvPr/>
        </p:nvCxnSpPr>
        <p:spPr>
          <a:xfrm flipH="1">
            <a:off x="8582025" y="1027906"/>
            <a:ext cx="431996" cy="445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68BBB96-2BAE-7394-3E79-F917576289DC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7F515A7-B0BE-2B77-1707-94149AC7D202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EFA230D-E764-6B2C-D9F4-16C29579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1" y="1562101"/>
            <a:ext cx="10256052" cy="521367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E7625C1-EC99-6A2D-6A6A-2294C4161903}"/>
              </a:ext>
            </a:extLst>
          </p:cNvPr>
          <p:cNvSpPr/>
          <p:nvPr/>
        </p:nvSpPr>
        <p:spPr>
          <a:xfrm>
            <a:off x="759201" y="1562101"/>
            <a:ext cx="9420794" cy="839737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449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BE26-F0B7-0DD7-9476-137174E7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48A7E-98E3-FB43-2E88-C1ECACD9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67547A-3C94-FAD7-F220-89600C13259B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0F9EDD6-AAA4-FB5E-D2C1-D30B3A762FB2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065DD48-D972-B811-89A6-058CD02B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1" y="1562101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E42343F-3180-435E-17C4-34EF29C9F02C}"/>
              </a:ext>
            </a:extLst>
          </p:cNvPr>
          <p:cNvSpPr/>
          <p:nvPr/>
        </p:nvSpPr>
        <p:spPr>
          <a:xfrm>
            <a:off x="9876658" y="2294924"/>
            <a:ext cx="945222" cy="1874013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1A8C2D-FD73-8730-427E-13E4334481BC}"/>
              </a:ext>
            </a:extLst>
          </p:cNvPr>
          <p:cNvSpPr txBox="1"/>
          <p:nvPr/>
        </p:nvSpPr>
        <p:spPr>
          <a:xfrm>
            <a:off x="7901017" y="2672467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D91383E-64D2-76DB-9F2C-3D9E6814D0F2}"/>
              </a:ext>
            </a:extLst>
          </p:cNvPr>
          <p:cNvCxnSpPr>
            <a:cxnSpLocks/>
          </p:cNvCxnSpPr>
          <p:nvPr/>
        </p:nvCxnSpPr>
        <p:spPr>
          <a:xfrm>
            <a:off x="9248158" y="3081299"/>
            <a:ext cx="641030" cy="345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608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7CFE-D26F-08A9-0157-ADE21C7E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6306D-00B8-398A-2745-FB4D2E4E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A9B4BB-9AD7-1DF0-E13B-DC055E7A4B37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C8FC7E5-C843-3275-C705-E4BA2824435D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246BA85-3859-DACB-9BB0-BC1A9BC6F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1" y="1562101"/>
            <a:ext cx="10256052" cy="52136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E2E4A73-F363-2189-0C99-81DC2E3DB23D}"/>
              </a:ext>
            </a:extLst>
          </p:cNvPr>
          <p:cNvSpPr txBox="1"/>
          <p:nvPr/>
        </p:nvSpPr>
        <p:spPr>
          <a:xfrm>
            <a:off x="10277581" y="4050033"/>
            <a:ext cx="1790487" cy="1323439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Se accede a los datos  a incluir en los visuales, a su formato y otras propiedades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70052B-4389-5E55-1D4C-53DBF11E8F01}"/>
              </a:ext>
            </a:extLst>
          </p:cNvPr>
          <p:cNvSpPr/>
          <p:nvPr/>
        </p:nvSpPr>
        <p:spPr>
          <a:xfrm>
            <a:off x="10821025" y="2401838"/>
            <a:ext cx="267023" cy="1325563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14083A5-74C7-BA80-E653-E8E5EA0A38BE}"/>
              </a:ext>
            </a:extLst>
          </p:cNvPr>
          <p:cNvCxnSpPr>
            <a:cxnSpLocks/>
          </p:cNvCxnSpPr>
          <p:nvPr/>
        </p:nvCxnSpPr>
        <p:spPr>
          <a:xfrm>
            <a:off x="11135673" y="3727401"/>
            <a:ext cx="294868" cy="322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6943-1782-B0AC-A7B5-A85B9EF2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C8251-C5CB-3A6E-D2A4-3C33809E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1BB870-B229-6AF6-ABE3-44346EF642F9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B682284-EF2A-CB3D-0CDE-7DA2F2FD05B6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D62C6E1-D656-FC8F-1CCB-800B6339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1" y="1562101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6D48536-DA4F-1C6A-76F8-BFE194047A45}"/>
              </a:ext>
            </a:extLst>
          </p:cNvPr>
          <p:cNvSpPr/>
          <p:nvPr/>
        </p:nvSpPr>
        <p:spPr>
          <a:xfrm>
            <a:off x="714753" y="2284312"/>
            <a:ext cx="461994" cy="1144688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1761C5D-6A42-9C7B-2DC2-528FD57ADFFD}"/>
              </a:ext>
            </a:extLst>
          </p:cNvPr>
          <p:cNvCxnSpPr>
            <a:cxnSpLocks/>
          </p:cNvCxnSpPr>
          <p:nvPr/>
        </p:nvCxnSpPr>
        <p:spPr>
          <a:xfrm>
            <a:off x="1066800" y="2412899"/>
            <a:ext cx="571500" cy="92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F965C6-B240-F292-111E-09FD6B632EDF}"/>
              </a:ext>
            </a:extLst>
          </p:cNvPr>
          <p:cNvSpPr txBox="1"/>
          <p:nvPr/>
        </p:nvSpPr>
        <p:spPr>
          <a:xfrm>
            <a:off x="1635532" y="2383124"/>
            <a:ext cx="118978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Vista Informe</a:t>
            </a:r>
          </a:p>
        </p:txBody>
      </p:sp>
    </p:spTree>
    <p:extLst>
      <p:ext uri="{BB962C8B-B14F-4D97-AF65-F5344CB8AC3E}">
        <p14:creationId xmlns:p14="http://schemas.microsoft.com/office/powerpoint/2010/main" val="282244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AC41-685A-E5E8-1486-D98591AA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75861-5682-A365-3E73-7B00ACC6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6922AD-DF8D-AEBB-FF65-914023E129E7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D5A218F-7076-C929-4276-5E7CA4055441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20C5D3C8-FC61-8F42-C916-58B8DE4B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1" y="1562101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3135E43-6FD7-1009-9586-396FF6515652}"/>
              </a:ext>
            </a:extLst>
          </p:cNvPr>
          <p:cNvSpPr/>
          <p:nvPr/>
        </p:nvSpPr>
        <p:spPr>
          <a:xfrm>
            <a:off x="714753" y="2284312"/>
            <a:ext cx="461994" cy="1144688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EF8568C-F2DE-B405-5AD8-6CE0E3C89969}"/>
              </a:ext>
            </a:extLst>
          </p:cNvPr>
          <p:cNvCxnSpPr>
            <a:cxnSpLocks/>
          </p:cNvCxnSpPr>
          <p:nvPr/>
        </p:nvCxnSpPr>
        <p:spPr>
          <a:xfrm>
            <a:off x="971550" y="2628900"/>
            <a:ext cx="1847507" cy="564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E229B39-93EF-F2BE-5727-E8725C954F7A}"/>
              </a:ext>
            </a:extLst>
          </p:cNvPr>
          <p:cNvSpPr txBox="1"/>
          <p:nvPr/>
        </p:nvSpPr>
        <p:spPr>
          <a:xfrm>
            <a:off x="2836594" y="3097470"/>
            <a:ext cx="1440278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Vista Datos Tabla</a:t>
            </a:r>
          </a:p>
        </p:txBody>
      </p:sp>
    </p:spTree>
    <p:extLst>
      <p:ext uri="{BB962C8B-B14F-4D97-AF65-F5344CB8AC3E}">
        <p14:creationId xmlns:p14="http://schemas.microsoft.com/office/powerpoint/2010/main" val="1338178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672B-0B9F-D764-EACD-559E1AB8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A49DF-6132-0309-02DB-FB292CE7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735777-7FBC-6736-0DBF-DBAD54AB5B04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F986EC3-CD8C-84E0-728F-09225E49314E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7BA6FFAB-0695-AE55-F57C-4F602A27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3" y="1552576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013326D-2047-BC85-D1BB-7CF4CB0BBA1E}"/>
              </a:ext>
            </a:extLst>
          </p:cNvPr>
          <p:cNvSpPr/>
          <p:nvPr/>
        </p:nvSpPr>
        <p:spPr>
          <a:xfrm>
            <a:off x="714753" y="2284312"/>
            <a:ext cx="461994" cy="1144688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A6154D5-BABE-E0F6-CF38-B6ADC9818112}"/>
              </a:ext>
            </a:extLst>
          </p:cNvPr>
          <p:cNvCxnSpPr>
            <a:cxnSpLocks/>
          </p:cNvCxnSpPr>
          <p:nvPr/>
        </p:nvCxnSpPr>
        <p:spPr>
          <a:xfrm>
            <a:off x="945750" y="2856656"/>
            <a:ext cx="1386262" cy="825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CCE752-29BE-53E8-7C11-9FE0A89ADDD7}"/>
              </a:ext>
            </a:extLst>
          </p:cNvPr>
          <p:cNvSpPr txBox="1"/>
          <p:nvPr/>
        </p:nvSpPr>
        <p:spPr>
          <a:xfrm>
            <a:off x="1738876" y="3704766"/>
            <a:ext cx="1440278" cy="338554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Vista Modelo</a:t>
            </a:r>
          </a:p>
        </p:txBody>
      </p:sp>
    </p:spTree>
    <p:extLst>
      <p:ext uri="{BB962C8B-B14F-4D97-AF65-F5344CB8AC3E}">
        <p14:creationId xmlns:p14="http://schemas.microsoft.com/office/powerpoint/2010/main" val="652134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C1B3-7B50-BC36-1EDB-1B6B5D83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628DE-FC5D-E9E5-6C7C-EEF28FF05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4EDFE9-0D06-3565-519F-548294DB8373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212DD6B-0223-D90C-6DD3-D0BE2EE0833C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464F3E9-A721-3779-A872-F8DC808E9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3" y="1552576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D19C320-4C99-3BBB-E235-DED614598FEC}"/>
              </a:ext>
            </a:extLst>
          </p:cNvPr>
          <p:cNvSpPr/>
          <p:nvPr/>
        </p:nvSpPr>
        <p:spPr>
          <a:xfrm>
            <a:off x="714753" y="2284312"/>
            <a:ext cx="461994" cy="1144688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C913E2C-00D8-FF29-533E-A1FBC27004C2}"/>
              </a:ext>
            </a:extLst>
          </p:cNvPr>
          <p:cNvCxnSpPr>
            <a:cxnSpLocks/>
          </p:cNvCxnSpPr>
          <p:nvPr/>
        </p:nvCxnSpPr>
        <p:spPr>
          <a:xfrm>
            <a:off x="904875" y="3087231"/>
            <a:ext cx="742950" cy="732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699F9F8-B984-13D6-844C-D75CB0F3A423}"/>
              </a:ext>
            </a:extLst>
          </p:cNvPr>
          <p:cNvSpPr txBox="1"/>
          <p:nvPr/>
        </p:nvSpPr>
        <p:spPr>
          <a:xfrm>
            <a:off x="1647825" y="3643692"/>
            <a:ext cx="1534680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Vista Consultas </a:t>
            </a:r>
            <a:r>
              <a:rPr lang="es-ES" sz="1600" dirty="0" err="1">
                <a:solidFill>
                  <a:schemeClr val="bg1"/>
                </a:solidFill>
              </a:rPr>
              <a:t>Dax</a:t>
            </a:r>
            <a:endParaRPr lang="es-E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46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54DF-4048-B9ED-7249-85273BC0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EB201-9D1B-A540-C8FB-02DB8878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Interfaz </a:t>
            </a:r>
            <a:r>
              <a:rPr lang="es-ES" dirty="0" err="1"/>
              <a:t>Power</a:t>
            </a:r>
            <a:r>
              <a:rPr lang="es-ES" dirty="0"/>
              <a:t> BI Desktop(3)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9144E7-4FB1-E642-4C43-6178939CEA29}"/>
              </a:ext>
            </a:extLst>
          </p:cNvPr>
          <p:cNvSpPr txBox="1"/>
          <p:nvPr/>
        </p:nvSpPr>
        <p:spPr>
          <a:xfrm>
            <a:off x="8202960" y="2502456"/>
            <a:ext cx="1347141" cy="584775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Panel de visuales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F46C0DC-B95F-E207-540F-79A50D77FB66}"/>
              </a:ext>
            </a:extLst>
          </p:cNvPr>
          <p:cNvCxnSpPr/>
          <p:nvPr/>
        </p:nvCxnSpPr>
        <p:spPr>
          <a:xfrm>
            <a:off x="9550101" y="2724150"/>
            <a:ext cx="689274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DACD84C-B764-40EC-62C7-3C45BF1D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3" y="1552576"/>
            <a:ext cx="10256052" cy="52136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4C4FF95-D5A7-25C9-A0D6-43ABFC1CFAD5}"/>
              </a:ext>
            </a:extLst>
          </p:cNvPr>
          <p:cNvSpPr/>
          <p:nvPr/>
        </p:nvSpPr>
        <p:spPr>
          <a:xfrm>
            <a:off x="714753" y="2284312"/>
            <a:ext cx="461994" cy="1144688"/>
          </a:xfrm>
          <a:prstGeom prst="rect">
            <a:avLst/>
          </a:prstGeom>
          <a:noFill/>
          <a:ln>
            <a:solidFill>
              <a:srgbClr val="009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B31BC5-DEFB-C0EE-FE39-FA2D5C43E87B}"/>
              </a:ext>
            </a:extLst>
          </p:cNvPr>
          <p:cNvSpPr txBox="1"/>
          <p:nvPr/>
        </p:nvSpPr>
        <p:spPr>
          <a:xfrm>
            <a:off x="1373112" y="5017901"/>
            <a:ext cx="1534680" cy="338554"/>
          </a:xfrm>
          <a:prstGeom prst="rect">
            <a:avLst/>
          </a:prstGeom>
          <a:solidFill>
            <a:srgbClr val="009EB8"/>
          </a:solidFill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Vista TMDL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E45ACDA-A0CC-668D-7AEE-969227C086ED}"/>
              </a:ext>
            </a:extLst>
          </p:cNvPr>
          <p:cNvCxnSpPr>
            <a:cxnSpLocks/>
          </p:cNvCxnSpPr>
          <p:nvPr/>
        </p:nvCxnSpPr>
        <p:spPr>
          <a:xfrm>
            <a:off x="904875" y="3324225"/>
            <a:ext cx="491496" cy="181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875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829</Words>
  <Application>Microsoft Office PowerPoint</Application>
  <PresentationFormat>Panorámica</PresentationFormat>
  <Paragraphs>130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Segoe Fluent Icons</vt:lpstr>
      <vt:lpstr>Segoe UI</vt:lpstr>
      <vt:lpstr>Tema de Office</vt:lpstr>
      <vt:lpstr>Análisis de datos con Power BI</vt:lpstr>
      <vt:lpstr>¿Qué es Power BI?</vt:lpstr>
      <vt:lpstr>Microsoft Power BI </vt:lpstr>
      <vt:lpstr>Antecedentes al Power BI</vt:lpstr>
      <vt:lpstr>Componentes del ecosistema Power BI</vt:lpstr>
      <vt:lpstr>Componentes del ecosistema Power BI</vt:lpstr>
      <vt:lpstr>Componentes del ecosistema Power BI</vt:lpstr>
      <vt:lpstr>Flujo natural de trabajo en Power BI</vt:lpstr>
      <vt:lpstr>Inteligencia de negocio ……a un precio asequible</vt:lpstr>
      <vt:lpstr>Inteligencia de negocio ……a un precio asequible</vt:lpstr>
      <vt:lpstr>¿Cuáles son las claves del éxito de Power BI?</vt:lpstr>
      <vt:lpstr>Power BI: Inteligencia de negocio para tod@s</vt:lpstr>
      <vt:lpstr>Acceso rápido a múltiples fuentes de datos</vt:lpstr>
      <vt:lpstr>Power BI Desktop</vt:lpstr>
      <vt:lpstr>¿Cómo me descargo Power BI Desktop?</vt:lpstr>
      <vt:lpstr>Interfaz Power BI Desktop(1)</vt:lpstr>
      <vt:lpstr>Interfaz Power BI Desktop(2)</vt:lpstr>
      <vt:lpstr>Interfaz Power BI Desktop(3)</vt:lpstr>
      <vt:lpstr>Interfaz Power BI Desktop(3)</vt:lpstr>
      <vt:lpstr>Interfaz Power BI Desktop(3)</vt:lpstr>
      <vt:lpstr>Interfaz Power BI Desktop(3)</vt:lpstr>
      <vt:lpstr>Interfaz Power BI Desktop(3)</vt:lpstr>
      <vt:lpstr>Interfaz Power BI Desktop(3)</vt:lpstr>
      <vt:lpstr>Interfaz Power BI Desktop(3)</vt:lpstr>
      <vt:lpstr>Interfaz Power BI Desktop(3)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Nagore Landa</dc:creator>
  <cp:lastModifiedBy>Nagore Landa Gundin</cp:lastModifiedBy>
  <cp:revision>34</cp:revision>
  <dcterms:created xsi:type="dcterms:W3CDTF">2026-01-04T11:45:53Z</dcterms:created>
  <dcterms:modified xsi:type="dcterms:W3CDTF">2026-05-18T21:23:48Z</dcterms:modified>
</cp:coreProperties>
</file>